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7" r:id="rId2"/>
    <p:sldId id="258" r:id="rId3"/>
    <p:sldId id="316" r:id="rId4"/>
    <p:sldId id="317" r:id="rId5"/>
    <p:sldId id="260" r:id="rId6"/>
    <p:sldId id="261" r:id="rId7"/>
    <p:sldId id="262" r:id="rId8"/>
    <p:sldId id="304" r:id="rId9"/>
    <p:sldId id="263" r:id="rId10"/>
    <p:sldId id="265" r:id="rId11"/>
    <p:sldId id="266" r:id="rId12"/>
    <p:sldId id="267" r:id="rId13"/>
    <p:sldId id="268" r:id="rId14"/>
    <p:sldId id="269" r:id="rId15"/>
    <p:sldId id="298" r:id="rId16"/>
    <p:sldId id="272" r:id="rId17"/>
    <p:sldId id="299" r:id="rId18"/>
    <p:sldId id="300" r:id="rId19"/>
    <p:sldId id="301" r:id="rId20"/>
    <p:sldId id="270" r:id="rId21"/>
    <p:sldId id="271" r:id="rId22"/>
    <p:sldId id="274" r:id="rId23"/>
    <p:sldId id="275" r:id="rId24"/>
    <p:sldId id="276" r:id="rId25"/>
    <p:sldId id="277" r:id="rId26"/>
    <p:sldId id="283" r:id="rId27"/>
    <p:sldId id="285" r:id="rId28"/>
    <p:sldId id="318" r:id="rId29"/>
    <p:sldId id="287" r:id="rId30"/>
    <p:sldId id="319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302" r:id="rId40"/>
    <p:sldId id="305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DCFC2-4289-4CF5-BF24-1DF8C43D6BA2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32A1E-6345-47FD-B71B-5C741EB08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038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93F0B-21F5-419F-8F78-A3172A4754B2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71810-0F10-4287-A8C8-85E35816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1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BA1EA-32A6-4279-AC55-7144D30E03A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80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71810-0F10-4287-A8C8-85E3581603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48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71810-0F10-4287-A8C8-85E35816032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02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EB7E-8E4B-41A6-896C-E8B75F7C4BFF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8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E35DA-2718-451D-8346-40E4A7EC2986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60AD1-1F4F-4F39-BA9A-D8A8B38B90A7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26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433A-6BA2-442F-94F9-CD6F42A92008}" type="datetime1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26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E58AF-21F7-4591-A7BD-F463993A9FCD}" type="datetime1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5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A192C-9F1A-451A-AD29-6C3B5CE6EC07}" type="datetime1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3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1F7C4-5E07-4DC2-A1F4-10C5CC580D90}" type="datetime1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27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43F3-72DD-4EA3-9B35-D3D62923C4F2}" type="datetime1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5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3536-DD8D-43A6-9344-D07A199F927C}" type="datetime1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6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682DA-E148-4674-A422-9B8443365909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82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6EECA-39F5-453F-8CF9-5D6DE5250669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5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8A8CB-F76A-43A7-AFDD-DB1E95884E6F}" type="datetime1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4591C-7EDA-41F2-9B22-0557A254F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9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4218" y="3484530"/>
            <a:ext cx="10123357" cy="2125028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AR ESSENCE" panose="02000000000000000000" pitchFamily="2" charset="0"/>
              </a:rPr>
              <a:t>CSC4311 SOFTWARE ENGINEERING</a:t>
            </a:r>
            <a:br>
              <a:rPr lang="en-US" sz="5400" b="1" dirty="0">
                <a:latin typeface="AR ESSENCE" panose="02000000000000000000" pitchFamily="2" charset="0"/>
              </a:rPr>
            </a:br>
            <a:r>
              <a:rPr lang="en-US" sz="5400" b="1" dirty="0" smtClean="0">
                <a:latin typeface="AR ESSENCE" panose="02000000000000000000" pitchFamily="2" charset="0"/>
              </a:rPr>
              <a:t>			</a:t>
            </a:r>
            <a:r>
              <a:rPr lang="en-US" sz="3200" b="1" dirty="0" smtClean="0">
                <a:latin typeface="AR ESSENCE" panose="02000000000000000000" pitchFamily="2" charset="0"/>
              </a:rPr>
              <a:t>LECTURE THREE</a:t>
            </a:r>
            <a:r>
              <a:rPr lang="en-US" sz="5400" b="1" dirty="0" smtClean="0">
                <a:latin typeface="AR ESSENCE" panose="02000000000000000000" pitchFamily="2" charset="0"/>
              </a:rPr>
              <a:t/>
            </a:r>
            <a:br>
              <a:rPr lang="en-US" sz="5400" b="1" dirty="0" smtClean="0">
                <a:latin typeface="AR ESSENCE" panose="02000000000000000000" pitchFamily="2" charset="0"/>
              </a:rPr>
            </a:br>
            <a:r>
              <a:rPr lang="en-US" sz="5400" b="1" dirty="0">
                <a:latin typeface="AR ESSENCE" panose="02000000000000000000" pitchFamily="2" charset="0"/>
              </a:rPr>
              <a:t/>
            </a:r>
            <a:br>
              <a:rPr lang="en-US" sz="5400" b="1" dirty="0">
                <a:latin typeface="AR ESSENCE" panose="02000000000000000000" pitchFamily="2" charset="0"/>
              </a:rPr>
            </a:br>
            <a:r>
              <a:rPr lang="en-US" sz="2000" b="1" dirty="0" smtClean="0">
                <a:latin typeface="AR ESSENCE" panose="02000000000000000000" pitchFamily="2" charset="0"/>
              </a:rPr>
              <a:t>					</a:t>
            </a:r>
            <a:r>
              <a:rPr lang="en-US" sz="2000" dirty="0" smtClean="0">
                <a:latin typeface="AR ESSENCE" panose="02000000000000000000" pitchFamily="2" charset="0"/>
              </a:rPr>
              <a:t>LECTURER: </a:t>
            </a:r>
            <a:r>
              <a:rPr lang="en-US" sz="2000" dirty="0" smtClean="0">
                <a:latin typeface="AR ESSENCE" panose="02000000000000000000" pitchFamily="2" charset="0"/>
              </a:rPr>
              <a:t>DR. AMINU </a:t>
            </a:r>
            <a:r>
              <a:rPr lang="en-US" sz="2000" dirty="0" err="1" smtClean="0">
                <a:latin typeface="AR ESSENCE" panose="02000000000000000000" pitchFamily="2" charset="0"/>
              </a:rPr>
              <a:t>AMINU</a:t>
            </a:r>
            <a:r>
              <a:rPr lang="en-US" sz="2000" dirty="0" smtClean="0">
                <a:latin typeface="AR ESSENCE" panose="02000000000000000000" pitchFamily="2" charset="0"/>
              </a:rPr>
              <a:t> MU’AZU</a:t>
            </a:r>
            <a:endParaRPr lang="en-US" sz="5400" dirty="0">
              <a:latin typeface="AR ESSENCE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0760" y="463467"/>
            <a:ext cx="7711440" cy="128492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Umaru Musa Yar’adua University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Katsina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Faculty of Natural &amp; Applied Science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Computer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Science</a:t>
            </a:r>
          </a:p>
        </p:txBody>
      </p:sp>
      <p:pic>
        <p:nvPicPr>
          <p:cNvPr id="4" name="Picture 3" descr="E:\UNIVERSITY LOGO.jpg"/>
          <p:cNvPicPr/>
          <p:nvPr/>
        </p:nvPicPr>
        <p:blipFill>
          <a:blip r:embed="rId3" cstate="print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9" t="18645" r="13275" b="10170"/>
          <a:stretch>
            <a:fillRect/>
          </a:stretch>
        </p:blipFill>
        <p:spPr bwMode="auto">
          <a:xfrm>
            <a:off x="537677" y="329784"/>
            <a:ext cx="1733083" cy="17162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115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174" y="2578935"/>
            <a:ext cx="875425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R JULIAN" panose="02000000000000000000" pitchFamily="2" charset="0"/>
              </a:rPr>
              <a:t>REQUIREMENTS ANALYSIS</a:t>
            </a:r>
            <a:endParaRPr lang="en-US" sz="4000" b="1" dirty="0">
              <a:latin typeface="AR JULIAN" panose="02000000000000000000" pitchFamily="2" charset="0"/>
            </a:endParaRPr>
          </a:p>
        </p:txBody>
      </p:sp>
      <p:pic>
        <p:nvPicPr>
          <p:cNvPr id="5" name="Picture 3" descr="j030125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629" y="480260"/>
            <a:ext cx="2287588" cy="2098675"/>
          </a:xfrm>
          <a:prstGeom prst="rect">
            <a:avLst/>
          </a:prstGeom>
          <a:noFill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80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AR JULIAN" panose="02000000000000000000"/>
              </a:rPr>
              <a:t>Objectives</a:t>
            </a:r>
            <a:endParaRPr lang="en-US" b="1" dirty="0">
              <a:latin typeface="AR JULIAN" panose="0200000000000000000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199" y="1821115"/>
            <a:ext cx="1061111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objective of this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section is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introduce software requirements and to discuss the processes involved in discovering and documenting these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05906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requirements for a system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are: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descriptions of what the system should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services that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system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provides and the constraints on its operation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These requirements reflect the needs of customers for a system that serves a certain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purpose.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Example controlling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device, placing an order, or finding information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process of finding out, analyzing, documenting and checking these services and constraints is called requirements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engineering.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405735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Definition: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Capabilities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and conditions to which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must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conform.</a:t>
            </a:r>
          </a:p>
          <a:p>
            <a:pPr lvl="5" algn="just">
              <a:buFont typeface="Wingdings" panose="05000000000000000000" pitchFamily="2" charset="2"/>
              <a:buChar char="q"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Focusing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on the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not the </a:t>
            </a:r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</a:p>
          <a:p>
            <a:pPr lvl="4" algn="just">
              <a:buFont typeface="Wingdings" panose="05000000000000000000" pitchFamily="2" charset="2"/>
              <a:buChar char="q"/>
            </a:pPr>
            <a:endParaRPr lang="en-US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Logically it is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first stage of software development is to establish precisely what the users of the system want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Requirements specification is the process of writing down the user and system requirements in a requirements document.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13700979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8908" y="0"/>
            <a:ext cx="10515600" cy="1325563"/>
          </a:xfrm>
        </p:spPr>
        <p:txBody>
          <a:bodyPr/>
          <a:lstStyle/>
          <a:p>
            <a:pPr algn="ctr"/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Requirements Analysis Is Hard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5287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Major causes of project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failures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Incomplete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</a:p>
          <a:p>
            <a:pPr lvl="1" algn="just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Changing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</a:p>
          <a:p>
            <a:pPr lvl="1" algn="just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Poor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lvl="1" algn="just"/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Essential solutions, because it contains: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Different classification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of requirements</a:t>
            </a:r>
          </a:p>
          <a:p>
            <a:pPr lvl="1" algn="just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Different Use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609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9137"/>
          </a:xfrm>
        </p:spPr>
        <p:txBody>
          <a:bodyPr/>
          <a:lstStyle/>
          <a:p>
            <a:r>
              <a:rPr lang="en-US" b="1" u="sng" dirty="0" smtClean="0"/>
              <a:t>Note that</a:t>
            </a:r>
            <a:r>
              <a:rPr lang="en-US" dirty="0" smtClean="0"/>
              <a:t>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9138"/>
            <a:ext cx="10515600" cy="5417826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It is easy to write poor requirements specifications for software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it is difficult to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write good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specifications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section we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will examine guidelines for writing specifications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2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Remember </a:t>
            </a:r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Specifications are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not usually written once and then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frozen.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Requirements change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during the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 development</a:t>
            </a:r>
            <a:endParaRPr lang="en-US" sz="32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47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658" y="0"/>
            <a:ext cx="10515600" cy="787791"/>
          </a:xfrm>
        </p:spPr>
        <p:txBody>
          <a:bodyPr/>
          <a:lstStyle/>
          <a:p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Types of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0397"/>
            <a:ext cx="10515600" cy="5683347"/>
          </a:xfrm>
        </p:spPr>
        <p:txBody>
          <a:bodyPr>
            <a:no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Functional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Describe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interactions between the system and its environment independent from the implementation</a:t>
            </a:r>
          </a:p>
          <a:p>
            <a:pPr lvl="1"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“A user must be able to start a new call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  <a:p>
            <a:pPr lvl="5"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Nonfunctional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Aspects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not directly related to functional behavior. 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response time must be less than 1 second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lvl="6" algn="just"/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Accomplish by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client or the environment 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implementation language must be Java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US" dirty="0" smtClean="0"/>
              <a:t>CSC4311 SOFTWARE ENGINEERING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8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57" y="196948"/>
            <a:ext cx="11030243" cy="63163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Features (GUI elements), capabilities, security,….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system reads employee records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and prints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paychecks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lvl="4" algn="just"/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Non Functional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 algn="just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Usability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human factors (an easy-to-use GUI), help, documentation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Text on the display must be visible from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1 meter.”</a:t>
            </a:r>
          </a:p>
          <a:p>
            <a:pPr lvl="5" algn="just"/>
            <a:endParaRPr lang="en-US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 frequency of failure, recoverability, predictability</a:t>
            </a:r>
          </a:p>
          <a:p>
            <a:pPr lvl="2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“When doing search, the radar should have 24 hours MTBF(mean time between failures)”</a:t>
            </a:r>
          </a:p>
          <a:p>
            <a:pPr lvl="1" algn="just"/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14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982" y="348199"/>
            <a:ext cx="10515600" cy="6008151"/>
          </a:xfrm>
        </p:spPr>
        <p:txBody>
          <a:bodyPr>
            <a:normAutofit/>
          </a:bodyPr>
          <a:lstStyle/>
          <a:p>
            <a:pPr lvl="1" algn="just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 response times, throughput, accuracy, availability</a:t>
            </a:r>
          </a:p>
          <a:p>
            <a:pPr lvl="2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“The server response time is &lt;1 sec for 90% of the accesses”</a:t>
            </a:r>
          </a:p>
          <a:p>
            <a:pPr lvl="6" algn="just"/>
            <a:endParaRPr lang="en-US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Supportability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adaptability, maintainability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internationalization, configurability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system should allow frequent and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easy changes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the network configuration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lvl="3" algn="just"/>
            <a:endParaRPr lang="en-US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resource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limitations, languages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tools, hardware</a:t>
            </a:r>
          </a:p>
          <a:p>
            <a:pPr lvl="2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Must use Linux and Java”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04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Unified Modeling Language (UML)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5287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visual language for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specifying, constructing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and documenting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artifacts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systems.</a:t>
            </a:r>
          </a:p>
          <a:p>
            <a:pPr lvl="7" algn="just"/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Standard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diagramming notation for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drawing pictures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related to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software.</a:t>
            </a:r>
          </a:p>
          <a:p>
            <a:pPr lvl="8" algn="just"/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Includes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13 types of diagrams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1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591" y="0"/>
            <a:ext cx="10515600" cy="1325563"/>
          </a:xfrm>
        </p:spPr>
        <p:txBody>
          <a:bodyPr/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Two Categories of UML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591" y="1247366"/>
            <a:ext cx="10515600" cy="3684838"/>
          </a:xfrm>
        </p:spPr>
        <p:txBody>
          <a:bodyPr>
            <a:noAutofit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Structural UML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diagrams: </a:t>
            </a:r>
            <a:r>
              <a:rPr lang="en-US" sz="3600" dirty="0"/>
              <a:t>is used to specify structure of </a:t>
            </a:r>
            <a:r>
              <a:rPr lang="en-US" sz="3600" dirty="0" smtClean="0"/>
              <a:t>the </a:t>
            </a:r>
            <a:r>
              <a:rPr lang="en-US" sz="3600" dirty="0"/>
              <a:t>objects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Object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</a:p>
          <a:p>
            <a:pPr marL="0" indent="0" algn="just">
              <a:buNone/>
            </a:pP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	…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algn="just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Dynamic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UML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diagrams: </a:t>
            </a:r>
            <a:r>
              <a:rPr lang="en-US" sz="3600" dirty="0" smtClean="0"/>
              <a:t>refers </a:t>
            </a:r>
            <a:r>
              <a:rPr lang="en-US" sz="3600" dirty="0"/>
              <a:t>representing the object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case diagram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Sequence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</a:p>
          <a:p>
            <a:pPr marL="0" indent="0" algn="just">
              <a:buNone/>
            </a:pP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	…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7595017" y="5375526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Here, we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will discuss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Use case diagram (Requirement)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402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u="sng" dirty="0"/>
              <a:t>Use case diagram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1325562"/>
            <a:ext cx="10515600" cy="5244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 behavior diagrams which are used to define a set of actions that system should or can perform in collaboration with one or more external users of the system. </a:t>
            </a:r>
          </a:p>
          <a:p>
            <a:pPr lvl="7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 representation of interactions between actors and the system.</a:t>
            </a:r>
          </a:p>
          <a:p>
            <a:pPr lvl="5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It shows:</a:t>
            </a:r>
          </a:p>
          <a:p>
            <a:pPr lvl="2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 between the users and the system</a:t>
            </a:r>
          </a:p>
          <a:p>
            <a:pPr lvl="2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scope of the system.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945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748" y="125975"/>
            <a:ext cx="10515600" cy="1325563"/>
          </a:xfrm>
        </p:spPr>
        <p:txBody>
          <a:bodyPr/>
          <a:lstStyle/>
          <a:p>
            <a:pPr algn="ctr"/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importance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of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most widely used approach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for capturing requirements of a system</a:t>
            </a:r>
          </a:p>
          <a:p>
            <a:pPr lvl="2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Use cases can help manage the complexity of large projects by partitioning the problem into major user features (i.e., use cases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3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Use cases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are easy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way to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understand and provide an excellent way for communicating with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customers.</a:t>
            </a: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32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231"/>
            <a:ext cx="10515600" cy="734695"/>
          </a:xfrm>
        </p:spPr>
        <p:txBody>
          <a:bodyPr/>
          <a:lstStyle/>
          <a:p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Element of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778" y="928468"/>
            <a:ext cx="10515600" cy="554267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Use case diagrams are designed with 4 major elements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Actors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Use Cases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between actors and use cases</a:t>
            </a:r>
          </a:p>
          <a:p>
            <a:pPr lvl="2"/>
            <a:endParaRPr lang="en-US" dirty="0" smtClean="0"/>
          </a:p>
          <a:p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Actor in a use case diagram is any entity that performs a role in one given system. This could be a person, organization or an external system and usually drawn like skeleton shown below.</a:t>
            </a: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74" y="5287588"/>
            <a:ext cx="1828800" cy="142270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1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8136"/>
            <a:ext cx="10515600" cy="89927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Three Kinds of 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" y="1078978"/>
            <a:ext cx="8046720" cy="5097671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Primary actor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uses the system to fulfill goals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., cashier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 To find user goals and drive use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</a:p>
          <a:p>
            <a:pPr lvl="3"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Supporting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provides a service to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system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., Tax agencies, credit card company, store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 To clarify external interfaces and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protocols</a:t>
            </a:r>
          </a:p>
          <a:p>
            <a:pPr lvl="3"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Offstage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has an interest in the behavior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., Customer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 To ensure that all necessary interests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are identified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and satisfied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314" y="642132"/>
            <a:ext cx="2705100" cy="1409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889" y="2418123"/>
            <a:ext cx="1885950" cy="1266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0" y="4415811"/>
            <a:ext cx="3790950" cy="1209675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137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1354"/>
            <a:ext cx="10515600" cy="6316394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use case represents a function or an action within the system. It’s drawn as an oval and named with the function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5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5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system is used to define the scope of the use case and drawn as a rectangle.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 optional element but useful when you’re visualizing large systems.</a:t>
            </a: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742" y="1513888"/>
            <a:ext cx="3361446" cy="15810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649" y="4614204"/>
            <a:ext cx="2138289" cy="1780222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4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677"/>
            <a:ext cx="10515600" cy="6471137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Relationships between Actors and Use cases</a:t>
            </a:r>
          </a:p>
          <a:p>
            <a:pPr lvl="1"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Use cases could be organized using following relationships:</a:t>
            </a:r>
          </a:p>
          <a:p>
            <a:pPr lvl="2" algn="just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</a:p>
          <a:p>
            <a:pPr lvl="2" algn="just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Extend</a:t>
            </a:r>
          </a:p>
          <a:p>
            <a:pPr lvl="2" algn="just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</a:p>
          <a:p>
            <a:pPr lvl="8" algn="just"/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The relation between an actor and a use case.</a:t>
            </a:r>
          </a:p>
          <a:p>
            <a:pPr lvl="8" algn="just"/>
            <a:endParaRPr lang="en-US" sz="3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Includes dependency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A base use case includes a sub use case as component. </a:t>
            </a:r>
            <a:r>
              <a:rPr lang="en-US" dirty="0"/>
              <a:t>(one UC </a:t>
            </a:r>
            <a:r>
              <a:rPr lang="en-US" dirty="0" smtClean="0"/>
              <a:t>must call </a:t>
            </a:r>
            <a:r>
              <a:rPr lang="en-US" dirty="0"/>
              <a:t>another; e.g., </a:t>
            </a:r>
            <a:r>
              <a:rPr lang="en-US" i="1" dirty="0"/>
              <a:t>Login</a:t>
            </a:r>
            <a:r>
              <a:rPr lang="en-US" dirty="0"/>
              <a:t> UC includes User </a:t>
            </a:r>
            <a:r>
              <a:rPr lang="en-US" i="1" dirty="0"/>
              <a:t>Authentication</a:t>
            </a:r>
            <a:r>
              <a:rPr lang="en-US" dirty="0"/>
              <a:t> UC)</a:t>
            </a:r>
            <a:endParaRPr lang="en-US" sz="4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5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Extends dependency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A use case extends the behavior of a base use case.</a:t>
            </a:r>
            <a:r>
              <a:rPr lang="en-US" dirty="0"/>
              <a:t> (one UC </a:t>
            </a:r>
            <a:r>
              <a:rPr lang="en-US" dirty="0" smtClean="0"/>
              <a:t>calls Another </a:t>
            </a:r>
            <a:r>
              <a:rPr lang="en-US" dirty="0"/>
              <a:t>under certain condition; think of if-then decision </a:t>
            </a:r>
            <a:r>
              <a:rPr lang="en-US" dirty="0" smtClean="0"/>
              <a:t>points; e.g., </a:t>
            </a:r>
            <a:r>
              <a:rPr lang="en-US" i="1" dirty="0" smtClean="0"/>
              <a:t>Display Error Message </a:t>
            </a:r>
            <a:r>
              <a:rPr lang="en-US" dirty="0" smtClean="0"/>
              <a:t>is an optional behavior that extends </a:t>
            </a:r>
            <a:r>
              <a:rPr lang="en-US" i="1" dirty="0" smtClean="0"/>
              <a:t>validate PIN</a:t>
            </a:r>
            <a:r>
              <a:rPr lang="en-US" dirty="0" smtClean="0"/>
              <a:t>, triggered only if the PIN in invalid)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047" y="3009575"/>
            <a:ext cx="1993034" cy="5637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181" y="4285276"/>
            <a:ext cx="2208262" cy="6471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083" y="5839471"/>
            <a:ext cx="1993034" cy="82717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5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83087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How to Draw a Use Case Diagram?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541" y="665650"/>
            <a:ext cx="10536702" cy="587326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Identifying Actors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Actors are external entities that interact with your system. It can be a person, another system or an organization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6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Identifying Use Cases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way to do this is to identify what the actors need from the system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6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Draw the relationship between actors and the use cases</a:t>
            </a:r>
          </a:p>
          <a:p>
            <a:pPr lvl="8" algn="just"/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Look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 Common Functionality to use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&lt;&lt;Include&gt;&gt;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Look for common functionality that can be reused across the system.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7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Optional Functions or Additional Functions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some functions that are triggered optionally.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such cases, you can use the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&lt;&lt;extend&gt;&gt;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4923691"/>
            <a:ext cx="3835433" cy="180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29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9410"/>
          </a:xfrm>
        </p:spPr>
        <p:txBody>
          <a:bodyPr>
            <a:normAutofit/>
          </a:bodyPr>
          <a:lstStyle/>
          <a:p>
            <a:r>
              <a:rPr lang="en-US"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Scenario in use case</a:t>
            </a:r>
            <a:endParaRPr lang="en-US" sz="4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9064"/>
            <a:ext cx="9628163" cy="5157632"/>
          </a:xfrm>
        </p:spPr>
        <p:txBody>
          <a:bodyPr>
            <a:no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Scenario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(use case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instance)</a:t>
            </a:r>
          </a:p>
          <a:p>
            <a:pPr marL="0" indent="0" algn="just">
              <a:buNone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 specific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sequence of actions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and interactions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between actors and the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system.</a:t>
            </a:r>
          </a:p>
          <a:p>
            <a:pPr lvl="8" algn="just"/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Scenarios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are descriptions of how a system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88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192" y="-85078"/>
            <a:ext cx="6737684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Running example: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192" y="1283434"/>
            <a:ext cx="7382609" cy="498701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arrives at a checkout with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items 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purchase.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cashier 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POS system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record each purchased item.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system presents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running total and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line-item details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customer enters payment information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the system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validates and records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system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updates inventory.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customer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receives a receipt from the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system.</a:t>
            </a:r>
          </a:p>
          <a:p>
            <a:pPr marL="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 What are the use cases of the above scenario??</a:t>
            </a:r>
            <a:endParaRPr lang="en-US" sz="3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801" y="2797224"/>
            <a:ext cx="4288796" cy="3559126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909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4" y="1"/>
            <a:ext cx="10515600" cy="988574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Running use case example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222" y="844063"/>
            <a:ext cx="7567322" cy="5554492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57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591" y="206025"/>
            <a:ext cx="10515600" cy="96631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Running use case example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138" y="1350498"/>
            <a:ext cx="8504036" cy="41499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49145" y="5627770"/>
            <a:ext cx="3283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MT-Light"/>
              </a:rPr>
              <a:t>Use case diagram for the ATM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072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757"/>
          </a:xfrm>
        </p:spPr>
        <p:txBody>
          <a:bodyPr/>
          <a:lstStyle/>
          <a:p>
            <a:r>
              <a:rPr lang="en-US" dirty="0"/>
              <a:t>Running use case example</a:t>
            </a:r>
          </a:p>
        </p:txBody>
      </p:sp>
      <p:pic>
        <p:nvPicPr>
          <p:cNvPr id="6" name="Picture 5"/>
          <p:cNvPicPr/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826" y="1148882"/>
            <a:ext cx="8469443" cy="48423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82687" y="5804456"/>
            <a:ext cx="3826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 case diagram of adding hotel room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886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23" y="1"/>
            <a:ext cx="10515600" cy="986670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Exercise: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Withdraw Money from ATM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822" y="1346956"/>
            <a:ext cx="9312812" cy="4888952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inserts a card to ATM. The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ATM prompts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enter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password. Customer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enters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 password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ATM validates the customer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and presents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options “check balance”, “withdraw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”, “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transfer”. Customer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indicates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withdraw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and enters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amount to withdraw.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ATM validates 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amount, debits the account, and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charges process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fee if necessary. ATM delivers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money and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receipt. Customer indicates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log off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ATM pops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 the card for customer to take away.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914807" y="1973341"/>
            <a:ext cx="37775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u="sn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02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0274"/>
            <a:ext cx="10515600" cy="834088"/>
          </a:xfrm>
        </p:spPr>
        <p:txBody>
          <a:bodyPr>
            <a:normAutofit/>
          </a:bodyPr>
          <a:lstStyle/>
          <a:p>
            <a:r>
              <a:rPr lang="en-US" sz="4000" b="1" u="sng" dirty="0" smtClean="0"/>
              <a:t>Questions to Answe</a:t>
            </a:r>
            <a:r>
              <a:rPr lang="en-US" sz="4000" u="sng" dirty="0" smtClean="0"/>
              <a:t>r</a:t>
            </a:r>
            <a:endParaRPr lang="en-US" sz="48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8724"/>
            <a:ext cx="10515600" cy="5257626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Who are the actors?</a:t>
            </a: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What are the use cases?</a:t>
            </a:r>
          </a:p>
          <a:p>
            <a:r>
              <a:rPr lang="en-US" sz="3200" dirty="0" smtClean="0"/>
              <a:t>What </a:t>
            </a:r>
            <a:r>
              <a:rPr lang="en-US" sz="3200" dirty="0"/>
              <a:t>is the relationship </a:t>
            </a:r>
            <a:r>
              <a:rPr lang="en-US" sz="3200" dirty="0" smtClean="0"/>
              <a:t>between the use cases?</a:t>
            </a: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What are the functional requirements to include?</a:t>
            </a: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What are the nonfunctional requirements?</a:t>
            </a: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What are the biggest challenges?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Domain knowledge, new features</a:t>
            </a: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Plan to solve the challenges?</a:t>
            </a: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Finally, draw the use case diagram 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43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259" y="2307929"/>
            <a:ext cx="539133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R JULIAN" panose="02000000000000000000" pitchFamily="2" charset="0"/>
              </a:rPr>
              <a:t>SOFTWARE DESIGN </a:t>
            </a:r>
            <a:endParaRPr lang="en-US" sz="4000" b="1" dirty="0">
              <a:latin typeface="AR JULIAN" panose="02000000000000000000" pitchFamily="2" charset="0"/>
            </a:endParaRPr>
          </a:p>
        </p:txBody>
      </p:sp>
      <p:pic>
        <p:nvPicPr>
          <p:cNvPr id="5" name="Picture 3" descr="j030125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4689" y="209254"/>
            <a:ext cx="2287588" cy="2098675"/>
          </a:xfrm>
          <a:prstGeom prst="rect">
            <a:avLst/>
          </a:prstGeom>
          <a:noFill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38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objective of this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to introduce the concepts of software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28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AR JULIAN" panose="02000000000000000000"/>
              </a:rPr>
              <a:t>Objectives</a:t>
            </a:r>
            <a:endParaRPr lang="en-US" b="1" dirty="0">
              <a:latin typeface="AR JULIAN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633439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9" y="0"/>
            <a:ext cx="10515600" cy="834088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US" sz="4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lang="en-US" sz="4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2" y="1093787"/>
            <a:ext cx="11282290" cy="5262563"/>
          </a:xfrm>
        </p:spPr>
        <p:txBody>
          <a:bodyPr>
            <a:no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Design is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concerned with understanding how a system should be organized and designing the overall structure of that system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a creative process where you design a system organization that will satisfy the functional and non-functional requirements of a system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process is making decisions about HOW to implement software solutions to meet requirements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192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8186"/>
            <a:ext cx="10515600" cy="5558777"/>
          </a:xfrm>
        </p:spPr>
        <p:txBody>
          <a:bodyPr/>
          <a:lstStyle/>
          <a:p>
            <a:pPr algn="just">
              <a:spcBef>
                <a:spcPts val="3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design must be a readable, understandable guide for those who generate code and for those who test and subsequently support the software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30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design should provide a complete picture of the software, addressing the data, functional, and behavioral domains from an implementation perspective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Encompasses the set of concepts, principles, and practices that lead to the development of high-quality systems.</a:t>
            </a:r>
          </a:p>
          <a:p>
            <a:pPr lvl="6"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37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299" y="71777"/>
            <a:ext cx="10515600" cy="692721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Arial" panose="020B0604020202020204" pitchFamily="34" charset="0"/>
                <a:cs typeface="Arial" panose="020B0604020202020204" pitchFamily="34" charset="0"/>
              </a:rPr>
              <a:t>Concepts in 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4262"/>
            <a:ext cx="10515600" cy="50527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Modularity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Concurrency</a:t>
            </a:r>
          </a:p>
          <a:p>
            <a:pPr>
              <a:lnSpc>
                <a:spcPct val="100000"/>
              </a:lnSpc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Cohesion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&amp; Coupling</a:t>
            </a:r>
          </a:p>
          <a:p>
            <a:pPr>
              <a:lnSpc>
                <a:spcPct val="100000"/>
              </a:lnSpc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 Hiding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97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5263"/>
            <a:ext cx="10515600" cy="744147"/>
          </a:xfrm>
        </p:spPr>
        <p:txBody>
          <a:bodyPr/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9036"/>
            <a:ext cx="10044659" cy="4707927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 divided into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separately named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and addressable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components, sometimes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called modules, that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are integrated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satisfy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problem requirements.</a:t>
            </a:r>
          </a:p>
          <a:p>
            <a:pPr lvl="4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Divide-and-conquer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57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69" y="245699"/>
            <a:ext cx="10515600" cy="549275"/>
          </a:xfrm>
        </p:spPr>
        <p:txBody>
          <a:bodyPr>
            <a:noAutofit/>
          </a:bodyPr>
          <a:lstStyle/>
          <a:p>
            <a:r>
              <a:rPr lang="en-US"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Advantage </a:t>
            </a:r>
            <a:r>
              <a:rPr lang="en-US" sz="4000" u="sng" dirty="0">
                <a:latin typeface="Arial" panose="020B0604020202020204" pitchFamily="34" charset="0"/>
                <a:cs typeface="Arial" panose="020B0604020202020204" pitchFamily="34" charset="0"/>
              </a:rPr>
              <a:t>of modularization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0662"/>
            <a:ext cx="10515600" cy="451709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Smaller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components are easier to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maintain</a:t>
            </a:r>
          </a:p>
          <a:p>
            <a:pPr lvl="7" algn="just"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Program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divided based on functional aspects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7" algn="just"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Desired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level of abstraction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 brought in the program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7" algn="just"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Concurrent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execution can be made possible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4" algn="just"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Desired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security aspect </a:t>
            </a:r>
          </a:p>
          <a:p>
            <a:pPr algn="just">
              <a:lnSpc>
                <a:spcPct val="150000"/>
              </a:lnSpc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718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911"/>
            <a:ext cx="10515600" cy="599605"/>
          </a:xfrm>
        </p:spPr>
        <p:txBody>
          <a:bodyPr>
            <a:noAutofit/>
          </a:bodyPr>
          <a:lstStyle/>
          <a:p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Concurrency</a:t>
            </a:r>
            <a:endParaRPr lang="en-US" sz="3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33" y="1019331"/>
            <a:ext cx="11394831" cy="5702144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Back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time, all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were meant to be executed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sequentially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Instruction will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 executed one after another implying only one portion of program being activated at any given time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 software has multiple modules, then only one of all the modules can be found active at any time of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design, concurrency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provides capability to the software to execute more than one part of code in parallel to each other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necessary for the programmers and designers to recognize those modules, which can be made parallel execution.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spell check feature in word processor is a module of software, which runs alongside the word processor itself.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63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112" y="0"/>
            <a:ext cx="10515600" cy="1013970"/>
          </a:xfrm>
        </p:spPr>
        <p:txBody>
          <a:bodyPr>
            <a:normAutofit/>
          </a:bodyPr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Cohesion &amp; 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Coupling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9096"/>
            <a:ext cx="10515600" cy="4797867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we know, modules are set of instructions put together in order to achieve some tasks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3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are measures by which the quality of a design of modules and their interaction among them can be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measured</a:t>
            </a:r>
          </a:p>
          <a:p>
            <a:pPr lvl="3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These measures are called coupling and cohesion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543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636" y="203695"/>
            <a:ext cx="10799164" cy="6152655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Cohesion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measure that defines the degree of intra-dependability within elements of a module.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greater the cohesion, the better is the program design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Coupling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measure that defines the level of inter-dependability among modules of a program.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tells at what level the modules interfere and interact with each other.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lower the coupling, the better the program.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80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59" y="338684"/>
            <a:ext cx="8379502" cy="49378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06124" y="5447112"/>
            <a:ext cx="4814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Coupling and cohesion in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 software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54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69" y="0"/>
            <a:ext cx="10515600" cy="846311"/>
          </a:xfrm>
        </p:spPr>
        <p:txBody>
          <a:bodyPr>
            <a:normAutofit/>
          </a:bodyPr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Information 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Hiding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026" y="973281"/>
            <a:ext cx="10084786" cy="4351338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not expose internal information of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 module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unless necessary</a:t>
            </a:r>
          </a:p>
          <a:p>
            <a:pPr lvl="1" algn="just"/>
            <a:r>
              <a:rPr lang="nb-NO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nb-NO" sz="2800" dirty="0">
                <a:latin typeface="Arial" panose="020B0604020202020204" pitchFamily="34" charset="0"/>
                <a:cs typeface="Arial" panose="020B0604020202020204" pitchFamily="34" charset="0"/>
              </a:rPr>
              <a:t>., private fields, getter &amp; </a:t>
            </a:r>
            <a:r>
              <a:rPr lang="nb-NO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setter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037" y="2504049"/>
            <a:ext cx="5818163" cy="3852301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84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Why Information Hiding?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Reduces the possibility of “side effects”</a:t>
            </a:r>
          </a:p>
          <a:p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Emphasizes communication through controlled interfaces</a:t>
            </a:r>
          </a:p>
          <a:p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Leads to encapsulation—an attribute of high quality design</a:t>
            </a:r>
          </a:p>
          <a:p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Results in higher quality software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8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5523" y="2855859"/>
            <a:ext cx="322452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R JULIAN" panose="02000000000000000000" pitchFamily="2" charset="0"/>
              </a:rPr>
              <a:t>CODING</a:t>
            </a:r>
            <a:endParaRPr lang="en-US" sz="4000" dirty="0">
              <a:latin typeface="AR JULIAN" panose="02000000000000000000" pitchFamily="2" charset="0"/>
            </a:endParaRPr>
          </a:p>
        </p:txBody>
      </p:sp>
      <p:pic>
        <p:nvPicPr>
          <p:cNvPr id="5" name="Picture 3" descr="j030125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9009" y="757184"/>
            <a:ext cx="2287588" cy="2098675"/>
          </a:xfrm>
          <a:prstGeom prst="rect">
            <a:avLst/>
          </a:prstGeom>
          <a:noFill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43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Coding techniques</a:t>
            </a:r>
            <a:endParaRPr lang="en-US" sz="4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8997"/>
            <a:ext cx="10515600" cy="4632652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goal of the coding or programming phase is to translate the design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into code.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In a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given programming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That can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be executed by a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</a:p>
          <a:p>
            <a:pPr lvl="1"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performs the computation specified by the design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For implementing our design into a code, we require a good high level language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76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69" y="200234"/>
            <a:ext cx="10515600" cy="744147"/>
          </a:xfrm>
        </p:spPr>
        <p:txBody>
          <a:bodyPr/>
          <a:lstStyle/>
          <a:p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Programming concept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9145"/>
            <a:ext cx="10515600" cy="528720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Some concepts related to coding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are:</a:t>
            </a:r>
          </a:p>
          <a:p>
            <a:pPr lvl="1"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Top-Down and Bottom-Up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5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 a top-down implementation,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implementation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starts from the top of the hierarchy and proceeds to the lower levels.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First the main module is implemented, then its subordinates are implemented, and their subordinates, and so on.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6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implementing the modules at bottom of the hierarchy and proceeds through the higher levels until it reaches the top.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97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0195"/>
            <a:ext cx="10515600" cy="684186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Programming Practice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7424"/>
            <a:ext cx="10515600" cy="524892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programming is a skill that can only be acquired by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practice.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much can be learned from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the: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Experience of others,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Some general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rules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Guidelines can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 laid for the programmer.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Good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programming is a practice independent of the target programming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language. </a:t>
            </a:r>
          </a:p>
          <a:p>
            <a:pPr algn="just"/>
            <a:r>
              <a:rPr lang="en-US" sz="3200" dirty="0"/>
              <a:t>A programming language should have the following features: </a:t>
            </a:r>
          </a:p>
          <a:p>
            <a:pPr lvl="1" algn="just"/>
            <a:r>
              <a:rPr lang="en-US" sz="2800" dirty="0"/>
              <a:t>Coding standards and guidelines </a:t>
            </a:r>
          </a:p>
          <a:p>
            <a:pPr lvl="1" algn="just"/>
            <a:r>
              <a:rPr lang="en-US" sz="2800" dirty="0"/>
              <a:t>Code Review 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0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7252" y="73501"/>
            <a:ext cx="8418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Coding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standards and guidelines 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7252" y="847150"/>
            <a:ext cx="1110271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Good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software development organizations usually develop their own coding standards and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guidelines.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epending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on what best suits their organization and the type of products they develop.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following are some representative coding standards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Contents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of the headers preceding codes for different modules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Naming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conventions for global variables, local variables, and constant identifiers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code should be well-documented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length of any function should not exceed 10 source lines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228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436" y="1214203"/>
            <a:ext cx="10515600" cy="5112413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Is carried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out after the module is successfully compiled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and all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syntax errors have been eliminated.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6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Are extremely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cost-effective strategies for reduction in coding errors and to produce high quality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code.</a:t>
            </a:r>
          </a:p>
          <a:p>
            <a:pPr lvl="7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Normally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three types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of reviews are carried out on the code of a module.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Code walk through. 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Code inspection.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Refactoring.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5588" y="229840"/>
            <a:ext cx="78650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Review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1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4860"/>
            <a:ext cx="10515600" cy="68418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Walk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Through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0970"/>
            <a:ext cx="10515600" cy="5055380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few members of the development team are given the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read and understand code. </a:t>
            </a: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7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They will trace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execution through each statement and function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execution.</a:t>
            </a:r>
          </a:p>
          <a:p>
            <a:pPr lvl="7"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The main objectives of the walk through are to discover the algorithmic and logical errors in the code. </a:t>
            </a:r>
          </a:p>
          <a:p>
            <a:pPr lvl="5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members note down their findings to discuss these in a walk through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meeting.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288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0175"/>
            <a:ext cx="10515600" cy="41436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Inspection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2557"/>
            <a:ext cx="10515600" cy="552635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aim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code inspection is to discover some common types of errors caused due to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omission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improper programming.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Loyalty 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coding standards is also checked during code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inspection.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List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some classical programming errors which can be checked during code inspection: 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uninitialized variables. 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Nonterminating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loops. 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Incompatible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assignments. 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Array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indices out of bounds. 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incorrect logical operators or incorrect precedence among operators. 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Improper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modification of loop variables. </a:t>
            </a:r>
          </a:p>
          <a:p>
            <a:pPr lvl="1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Comparison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equally of floating point variables,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188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734" y="110293"/>
            <a:ext cx="10515600" cy="75913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734" y="869430"/>
            <a:ext cx="10854127" cy="5486919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Definition:</a:t>
            </a:r>
          </a:p>
          <a:p>
            <a:pPr lvl="1" algn="just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process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of changing a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 system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such a way that it does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not alter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external behavior of the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code [design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] yet improves its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internal structure.</a:t>
            </a:r>
          </a:p>
          <a:p>
            <a:pPr algn="just"/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How would one find what to refactor? According to </a:t>
            </a:r>
            <a:r>
              <a:rPr lang="en-CA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Fowler “places </a:t>
            </a: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with a </a:t>
            </a:r>
            <a:r>
              <a:rPr lang="en-CA" sz="3200" b="1" dirty="0">
                <a:latin typeface="Arial" panose="020B0604020202020204" pitchFamily="34" charset="0"/>
                <a:cs typeface="Arial" panose="020B0604020202020204" pitchFamily="34" charset="0"/>
              </a:rPr>
              <a:t>bad smell </a:t>
            </a: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CA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code”. E.g.:</a:t>
            </a:r>
          </a:p>
          <a:p>
            <a:pPr lvl="1"/>
            <a:r>
              <a:rPr lang="en-CA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Duplicated code</a:t>
            </a:r>
          </a:p>
          <a:p>
            <a:pPr lvl="2"/>
            <a:r>
              <a:rPr lang="en-CA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Same </a:t>
            </a: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expression in two methods in the same class?</a:t>
            </a:r>
          </a:p>
          <a:p>
            <a:pPr lvl="2"/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Same code in two related classes?</a:t>
            </a:r>
          </a:p>
          <a:p>
            <a:pPr lvl="2"/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Same code in two </a:t>
            </a:r>
            <a:r>
              <a:rPr lang="en-CA" sz="1400" i="1" dirty="0">
                <a:latin typeface="Arial" panose="020B0604020202020204" pitchFamily="34" charset="0"/>
                <a:cs typeface="Arial" panose="020B0604020202020204" pitchFamily="34" charset="0"/>
              </a:rPr>
              <a:t>unrelated</a:t>
            </a: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 classes?</a:t>
            </a:r>
          </a:p>
          <a:p>
            <a:pPr lvl="1"/>
            <a:r>
              <a:rPr lang="en-CA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method</a:t>
            </a:r>
          </a:p>
          <a:p>
            <a:pPr lvl="2"/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Often a sign </a:t>
            </a:r>
            <a:r>
              <a:rPr lang="en-CA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of t</a:t>
            </a:r>
            <a:r>
              <a:rPr lang="en-CA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rying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to do too many </a:t>
            </a:r>
            <a:r>
              <a:rPr lang="en-CA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things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to make software easier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to integrate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test, and maintain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8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AR JULIAN" panose="02000000000000000000" pitchFamily="2" charset="0"/>
              </a:rPr>
              <a:t>C.A TEST </a:t>
            </a:r>
            <a:endParaRPr lang="en-US" b="1" dirty="0">
              <a:latin typeface="AR JULIAN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AR JULIAN" panose="02000000000000000000" pitchFamily="2" charset="0"/>
              </a:rPr>
              <a:t>DATE &amp; TIME:</a:t>
            </a:r>
          </a:p>
          <a:p>
            <a:endParaRPr lang="en-US" dirty="0">
              <a:latin typeface="AR JULIAN" panose="02000000000000000000" pitchFamily="2" charset="0"/>
            </a:endParaRPr>
          </a:p>
          <a:p>
            <a:pPr lvl="2"/>
            <a:r>
              <a:rPr lang="en-US" dirty="0" smtClean="0">
                <a:latin typeface="AR JULIAN" panose="02000000000000000000" pitchFamily="2" charset="0"/>
              </a:rPr>
              <a:t>MON</a:t>
            </a:r>
            <a:r>
              <a:rPr lang="en-US" dirty="0" smtClean="0">
                <a:latin typeface="AR JULIAN" panose="02000000000000000000" pitchFamily="2" charset="0"/>
              </a:rPr>
              <a:t>DAY 12</a:t>
            </a:r>
            <a:r>
              <a:rPr lang="en-US" baseline="30000" dirty="0" smtClean="0">
                <a:latin typeface="AR JULIAN" panose="02000000000000000000" pitchFamily="2" charset="0"/>
              </a:rPr>
              <a:t>th</a:t>
            </a:r>
            <a:r>
              <a:rPr lang="en-US" dirty="0" smtClean="0">
                <a:latin typeface="AR JULIAN" panose="02000000000000000000" pitchFamily="2" charset="0"/>
              </a:rPr>
              <a:t> MAY, 2025</a:t>
            </a:r>
            <a:endParaRPr lang="en-US" dirty="0" smtClean="0">
              <a:latin typeface="AR JULIAN" panose="02000000000000000000" pitchFamily="2" charset="0"/>
            </a:endParaRPr>
          </a:p>
          <a:p>
            <a:pPr lvl="2"/>
            <a:r>
              <a:rPr lang="en-US" dirty="0" smtClean="0">
                <a:latin typeface="AR JULIAN" panose="02000000000000000000" pitchFamily="2" charset="0"/>
              </a:rPr>
              <a:t>10:00AM </a:t>
            </a:r>
            <a:r>
              <a:rPr lang="en-US" dirty="0" smtClean="0">
                <a:latin typeface="AR JULIAN" panose="02000000000000000000" pitchFamily="2" charset="0"/>
              </a:rPr>
              <a:t>T0 11:00AM</a:t>
            </a:r>
          </a:p>
          <a:p>
            <a:endParaRPr lang="en-US" dirty="0">
              <a:latin typeface="AR JULIAN" panose="02000000000000000000" pitchFamily="2" charset="0"/>
            </a:endParaRPr>
          </a:p>
          <a:p>
            <a:endParaRPr lang="en-US" dirty="0" smtClean="0">
              <a:latin typeface="AR JULIAN" panose="02000000000000000000" pitchFamily="2" charset="0"/>
            </a:endParaRPr>
          </a:p>
          <a:p>
            <a:endParaRPr lang="en-US" dirty="0">
              <a:latin typeface="AR JULIAN" panose="02000000000000000000" pitchFamily="2" charset="0"/>
            </a:endParaRPr>
          </a:p>
          <a:p>
            <a:endParaRPr lang="en-US" dirty="0" smtClean="0">
              <a:latin typeface="AR JULIAN" panose="02000000000000000000" pitchFamily="2" charset="0"/>
            </a:endParaRPr>
          </a:p>
          <a:p>
            <a:pPr marL="3657600" lvl="8" indent="0">
              <a:buNone/>
            </a:pPr>
            <a:r>
              <a:rPr lang="en-US" dirty="0">
                <a:latin typeface="AR JULIAN" panose="02000000000000000000" pitchFamily="2" charset="0"/>
              </a:rPr>
              <a:t>	</a:t>
            </a:r>
            <a:r>
              <a:rPr lang="en-US" dirty="0" smtClean="0">
                <a:latin typeface="Arial Black" panose="020B0A04020102020204" pitchFamily="34" charset="0"/>
              </a:rPr>
              <a:t>BEST OF LUCK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CSC4311 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4591C-7EDA-41F2-9B22-0557A254F38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6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17776</TotalTime>
  <Words>2608</Words>
  <Application>Microsoft Office PowerPoint</Application>
  <PresentationFormat>Widescreen</PresentationFormat>
  <Paragraphs>435</Paragraphs>
  <Slides>49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 ESSENCE</vt:lpstr>
      <vt:lpstr>AR JULIAN</vt:lpstr>
      <vt:lpstr>Arial</vt:lpstr>
      <vt:lpstr>Arial Black</vt:lpstr>
      <vt:lpstr>ArialMT-Light</vt:lpstr>
      <vt:lpstr>Calibri</vt:lpstr>
      <vt:lpstr>Calibri Light</vt:lpstr>
      <vt:lpstr>Wingdings</vt:lpstr>
      <vt:lpstr>Office Theme</vt:lpstr>
      <vt:lpstr>CSC4311 SOFTWARE ENGINEERING    LECTURE THREE       LECTURER: DR. AMINU AMINU MU’AZU</vt:lpstr>
      <vt:lpstr>REQUIREMENTS ANALYSIS</vt:lpstr>
      <vt:lpstr>Objectives</vt:lpstr>
      <vt:lpstr>Requirements</vt:lpstr>
      <vt:lpstr>Requirements</vt:lpstr>
      <vt:lpstr>Requirements Analysis Is Hard</vt:lpstr>
      <vt:lpstr>Note that: </vt:lpstr>
      <vt:lpstr>Types of Requirements</vt:lpstr>
      <vt:lpstr>PowerPoint Presentation</vt:lpstr>
      <vt:lpstr>PowerPoint Presentation</vt:lpstr>
      <vt:lpstr>Unified Modeling Language (UML)</vt:lpstr>
      <vt:lpstr>Two Categories of UML Diagrams</vt:lpstr>
      <vt:lpstr>Use case diagram</vt:lpstr>
      <vt:lpstr>The importance of Use Cases</vt:lpstr>
      <vt:lpstr>Element of Use Case</vt:lpstr>
      <vt:lpstr>Three Kinds of Actors</vt:lpstr>
      <vt:lpstr>PowerPoint Presentation</vt:lpstr>
      <vt:lpstr>PowerPoint Presentation</vt:lpstr>
      <vt:lpstr>How to Draw a Use Case Diagram?</vt:lpstr>
      <vt:lpstr>Scenario in use case</vt:lpstr>
      <vt:lpstr>Running example: Scenario</vt:lpstr>
      <vt:lpstr>Running use case example</vt:lpstr>
      <vt:lpstr>Running use case example</vt:lpstr>
      <vt:lpstr>Running use case example</vt:lpstr>
      <vt:lpstr>Exercise: Withdraw Money from ATM</vt:lpstr>
      <vt:lpstr>Questions to Answer</vt:lpstr>
      <vt:lpstr>SOFTWARE DESIGN </vt:lpstr>
      <vt:lpstr>Objectives</vt:lpstr>
      <vt:lpstr>What is Design</vt:lpstr>
      <vt:lpstr>PowerPoint Presentation</vt:lpstr>
      <vt:lpstr>Concepts in Software Design</vt:lpstr>
      <vt:lpstr>Modularity</vt:lpstr>
      <vt:lpstr>Advantage of modularization </vt:lpstr>
      <vt:lpstr>Concurrency</vt:lpstr>
      <vt:lpstr>Cohesion &amp; Coupling</vt:lpstr>
      <vt:lpstr>PowerPoint Presentation</vt:lpstr>
      <vt:lpstr>PowerPoint Presentation</vt:lpstr>
      <vt:lpstr>Information Hiding</vt:lpstr>
      <vt:lpstr>Why Information Hiding?</vt:lpstr>
      <vt:lpstr>CODING</vt:lpstr>
      <vt:lpstr>Coding techniques</vt:lpstr>
      <vt:lpstr>Programming concept</vt:lpstr>
      <vt:lpstr>Programming Practice </vt:lpstr>
      <vt:lpstr>PowerPoint Presentation</vt:lpstr>
      <vt:lpstr>PowerPoint Presentation</vt:lpstr>
      <vt:lpstr>Code Walk Through </vt:lpstr>
      <vt:lpstr>Code Inspection </vt:lpstr>
      <vt:lpstr>Refactoring</vt:lpstr>
      <vt:lpstr>C.A TEST 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Aminu Aminu Muazu</dc:creator>
  <cp:lastModifiedBy>Microsoft account</cp:lastModifiedBy>
  <cp:revision>67</cp:revision>
  <cp:lastPrinted>2019-07-04T14:01:19Z</cp:lastPrinted>
  <dcterms:created xsi:type="dcterms:W3CDTF">2019-06-30T14:52:07Z</dcterms:created>
  <dcterms:modified xsi:type="dcterms:W3CDTF">2025-05-04T21:54:17Z</dcterms:modified>
</cp:coreProperties>
</file>