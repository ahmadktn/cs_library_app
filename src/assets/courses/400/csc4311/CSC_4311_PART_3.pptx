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89" r:id="rId2"/>
  </p:sldMasterIdLst>
  <p:notesMasterIdLst>
    <p:notesMasterId r:id="rId24"/>
  </p:notesMasterIdLst>
  <p:handoutMasterIdLst>
    <p:handoutMasterId r:id="rId25"/>
  </p:handoutMasterIdLst>
  <p:sldIdLst>
    <p:sldId id="351" r:id="rId3"/>
    <p:sldId id="330" r:id="rId4"/>
    <p:sldId id="331" r:id="rId5"/>
    <p:sldId id="332" r:id="rId6"/>
    <p:sldId id="333" r:id="rId7"/>
    <p:sldId id="334" r:id="rId8"/>
    <p:sldId id="335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48" r:id="rId21"/>
    <p:sldId id="349" r:id="rId22"/>
    <p:sldId id="350" r:id="rId23"/>
  </p:sldIdLst>
  <p:sldSz cx="9144000" cy="6858000" type="screen4x3"/>
  <p:notesSz cx="7010400" cy="92964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612">
          <p15:clr>
            <a:srgbClr val="A4A3A4"/>
          </p15:clr>
        </p15:guide>
        <p15:guide id="3" orient="horz" pos="4156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3748">
          <p15:clr>
            <a:srgbClr val="A4A3A4"/>
          </p15:clr>
        </p15:guide>
        <p15:guide id="6" orient="horz" pos="1706">
          <p15:clr>
            <a:srgbClr val="A4A3A4"/>
          </p15:clr>
        </p15:guide>
        <p15:guide id="7" orient="horz" pos="3521">
          <p15:clr>
            <a:srgbClr val="A4A3A4"/>
          </p15:clr>
        </p15:guide>
        <p15:guide id="8" orient="horz" pos="799">
          <p15:clr>
            <a:srgbClr val="A4A3A4"/>
          </p15:clr>
        </p15:guide>
        <p15:guide id="9" orient="horz" pos="1480">
          <p15:clr>
            <a:srgbClr val="A4A3A4"/>
          </p15:clr>
        </p15:guide>
        <p15:guide id="10" orient="horz" pos="2840">
          <p15:clr>
            <a:srgbClr val="A4A3A4"/>
          </p15:clr>
        </p15:guide>
        <p15:guide id="11" orient="horz" pos="2931">
          <p15:clr>
            <a:srgbClr val="A4A3A4"/>
          </p15:clr>
        </p15:guide>
        <p15:guide id="12" orient="horz" pos="1253">
          <p15:clr>
            <a:srgbClr val="A4A3A4"/>
          </p15:clr>
        </p15:guide>
        <p15:guide id="13" orient="horz" pos="1026">
          <p15:clr>
            <a:srgbClr val="A4A3A4"/>
          </p15:clr>
        </p15:guide>
        <p15:guide id="14" orient="horz" pos="2387">
          <p15:clr>
            <a:srgbClr val="A4A3A4"/>
          </p15:clr>
        </p15:guide>
        <p15:guide id="15" orient="horz" pos="3067">
          <p15:clr>
            <a:srgbClr val="A4A3A4"/>
          </p15:clr>
        </p15:guide>
        <p15:guide id="16" orient="horz" pos="3974">
          <p15:clr>
            <a:srgbClr val="A4A3A4"/>
          </p15:clr>
        </p15:guide>
        <p15:guide id="17" pos="1519">
          <p15:clr>
            <a:srgbClr val="A4A3A4"/>
          </p15:clr>
        </p15:guide>
        <p15:guide id="18" pos="2426">
          <p15:clr>
            <a:srgbClr val="A4A3A4"/>
          </p15:clr>
        </p15:guide>
        <p15:guide id="19" pos="3334">
          <p15:clr>
            <a:srgbClr val="A4A3A4"/>
          </p15:clr>
        </p15:guide>
        <p15:guide id="20" pos="4014">
          <p15:clr>
            <a:srgbClr val="A4A3A4"/>
          </p15:clr>
        </p15:guide>
        <p15:guide id="21" pos="1746">
          <p15:clr>
            <a:srgbClr val="A4A3A4"/>
          </p15:clr>
        </p15:guide>
        <p15:guide id="22" pos="340">
          <p15:clr>
            <a:srgbClr val="A4A3A4"/>
          </p15:clr>
        </p15:guide>
        <p15:guide id="23" pos="839">
          <p15:clr>
            <a:srgbClr val="A4A3A4"/>
          </p15:clr>
        </p15:guide>
        <p15:guide id="24" pos="1066">
          <p15:clr>
            <a:srgbClr val="A4A3A4"/>
          </p15:clr>
        </p15:guide>
        <p15:guide id="25" pos="4422">
          <p15:clr>
            <a:srgbClr val="A4A3A4"/>
          </p15:clr>
        </p15:guide>
        <p15:guide id="26" pos="3152">
          <p15:clr>
            <a:srgbClr val="A4A3A4"/>
          </p15:clr>
        </p15:guide>
        <p15:guide id="27" pos="2200">
          <p15:clr>
            <a:srgbClr val="A4A3A4"/>
          </p15:clr>
        </p15:guide>
        <p15:guide id="28" pos="3107">
          <p15:clr>
            <a:srgbClr val="A4A3A4"/>
          </p15:clr>
        </p15:guide>
        <p15:guide id="29" pos="3833">
          <p15:clr>
            <a:srgbClr val="A4A3A4"/>
          </p15:clr>
        </p15:guide>
        <p15:guide id="30" pos="4468">
          <p15:clr>
            <a:srgbClr val="A4A3A4"/>
          </p15:clr>
        </p15:guide>
        <p15:guide id="31" pos="4694">
          <p15:clr>
            <a:srgbClr val="A4A3A4"/>
          </p15:clr>
        </p15:guide>
        <p15:guide id="32" pos="4921">
          <p15:clr>
            <a:srgbClr val="A4A3A4"/>
          </p15:clr>
        </p15:guide>
        <p15:guide id="33" pos="5148">
          <p15:clr>
            <a:srgbClr val="A4A3A4"/>
          </p15:clr>
        </p15:guide>
        <p15:guide id="34" pos="5375">
          <p15:clr>
            <a:srgbClr val="A4A3A4"/>
          </p15:clr>
        </p15:guide>
        <p15:guide id="35" pos="5556">
          <p15:clr>
            <a:srgbClr val="A4A3A4"/>
          </p15:clr>
        </p15:guide>
        <p15:guide id="36" pos="3560">
          <p15:clr>
            <a:srgbClr val="A4A3A4"/>
          </p15:clr>
        </p15:guide>
        <p15:guide id="37" pos="4241">
          <p15:clr>
            <a:srgbClr val="A4A3A4"/>
          </p15:clr>
        </p15:guide>
        <p15:guide id="38" pos="2880">
          <p15:clr>
            <a:srgbClr val="A4A3A4"/>
          </p15:clr>
        </p15:guide>
        <p15:guide id="39" pos="2653">
          <p15:clr>
            <a:srgbClr val="A4A3A4"/>
          </p15:clr>
        </p15:guide>
        <p15:guide id="40" pos="2789">
          <p15:clr>
            <a:srgbClr val="A4A3A4"/>
          </p15:clr>
        </p15:guide>
        <p15:guide id="41" orient="horz" pos="4020">
          <p15:clr>
            <a:srgbClr val="A4A3A4"/>
          </p15:clr>
        </p15:guide>
        <p15:guide id="42" pos="4558">
          <p15:clr>
            <a:srgbClr val="A4A3A4"/>
          </p15:clr>
        </p15:guide>
        <p15:guide id="43" pos="1429">
          <p15:clr>
            <a:srgbClr val="A4A3A4"/>
          </p15:clr>
        </p15:guide>
        <p15:guide id="44" pos="4332">
          <p15:clr>
            <a:srgbClr val="A4A3A4"/>
          </p15:clr>
        </p15:guide>
        <p15:guide id="45" orient="horz" pos="3113">
          <p15:clr>
            <a:srgbClr val="000000"/>
          </p15:clr>
        </p15:guide>
        <p15:guide id="46" orient="horz" pos="1752">
          <p15:clr>
            <a:srgbClr val="000000"/>
          </p15:clr>
        </p15:guide>
        <p15:guide id="47" orient="horz" pos="2614">
          <p15:clr>
            <a:srgbClr val="000000"/>
          </p15:clr>
        </p15:guide>
        <p15:guide id="48" orient="horz" pos="1162">
          <p15:clr>
            <a:srgbClr val="000000"/>
          </p15:clr>
        </p15:guide>
        <p15:guide id="49" orient="horz" pos="3838">
          <p15:clr>
            <a:srgbClr val="000000"/>
          </p15:clr>
        </p15:guide>
        <p15:guide id="50" orient="horz" pos="1933">
          <p15:clr>
            <a:srgbClr val="000000"/>
          </p15:clr>
        </p15:guide>
        <p15:guide id="51" orient="horz" pos="1344">
          <p15:clr>
            <a:srgbClr val="000000"/>
          </p15:clr>
        </p15:guide>
        <p15:guide id="52" pos="1973">
          <p15:clr>
            <a:srgbClr val="000000"/>
          </p15:clr>
        </p15:guide>
        <p15:guide id="53" pos="3606">
          <p15:clr>
            <a:srgbClr val="000000"/>
          </p15:clr>
        </p15:guide>
        <p15:guide id="54" pos="5329">
          <p15:clr>
            <a:srgbClr val="000000"/>
          </p15:clr>
        </p15:guide>
        <p15:guide id="55" pos="3969">
          <p15:clr>
            <a:srgbClr val="000000"/>
          </p15:clr>
        </p15:guide>
        <p15:guide id="56" pos="1292">
          <p15:clr>
            <a:srgbClr val="000000"/>
          </p15:clr>
        </p15:guide>
        <p15:guide id="57" pos="249">
          <p15:clr>
            <a:srgbClr val="000000"/>
          </p15:clr>
        </p15:guide>
        <p15:guide id="58" pos="385">
          <p15:clr>
            <a:srgbClr val="000000"/>
          </p15:clr>
        </p15:guide>
        <p15:guide id="59" pos="2699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000000"/>
          </p15:clr>
        </p15:guide>
        <p15:guide id="2" pos="2208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04" y="44"/>
      </p:cViewPr>
      <p:guideLst>
        <p:guide orient="horz" pos="2160"/>
        <p:guide pos="612"/>
        <p:guide orient="horz" pos="4156"/>
        <p:guide orient="horz" pos="3294"/>
        <p:guide orient="horz" pos="3748"/>
        <p:guide orient="horz" pos="1706"/>
        <p:guide orient="horz" pos="3521"/>
        <p:guide orient="horz" pos="799"/>
        <p:guide orient="horz" pos="1480"/>
        <p:guide orient="horz" pos="2840"/>
        <p:guide orient="horz" pos="2931"/>
        <p:guide orient="horz" pos="1253"/>
        <p:guide orient="horz" pos="1026"/>
        <p:guide orient="horz" pos="2387"/>
        <p:guide orient="horz" pos="3067"/>
        <p:guide orient="horz" pos="3974"/>
        <p:guide pos="1519"/>
        <p:guide pos="2426"/>
        <p:guide pos="3334"/>
        <p:guide pos="4014"/>
        <p:guide pos="1746"/>
        <p:guide pos="340"/>
        <p:guide pos="839"/>
        <p:guide pos="1066"/>
        <p:guide pos="4422"/>
        <p:guide pos="3152"/>
        <p:guide pos="2200"/>
        <p:guide pos="3107"/>
        <p:guide pos="3833"/>
        <p:guide pos="4468"/>
        <p:guide pos="4694"/>
        <p:guide pos="4921"/>
        <p:guide pos="5148"/>
        <p:guide pos="5375"/>
        <p:guide pos="5556"/>
        <p:guide pos="3560"/>
        <p:guide pos="4241"/>
        <p:guide pos="2880"/>
        <p:guide pos="2653"/>
        <p:guide pos="2789"/>
        <p:guide orient="horz" pos="4020"/>
        <p:guide pos="4558"/>
        <p:guide pos="1429"/>
        <p:guide pos="4332"/>
        <p:guide orient="horz" pos="3113"/>
        <p:guide orient="horz" pos="1752"/>
        <p:guide orient="horz" pos="2614"/>
        <p:guide orient="horz" pos="1162"/>
        <p:guide orient="horz" pos="3838"/>
        <p:guide orient="horz" pos="1933"/>
        <p:guide orient="horz" pos="1344"/>
        <p:guide pos="1973"/>
        <p:guide pos="3606"/>
        <p:guide pos="5329"/>
        <p:guide pos="3969"/>
        <p:guide pos="1292"/>
        <p:guide pos="249"/>
        <p:guide pos="385"/>
        <p:guide pos="269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656" y="92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40D01-21E4-4592-A327-126A31258E17}" type="datetimeFigureOut">
              <a:rPr lang="en-GB" smtClean="0"/>
              <a:t>13/03/2024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55E60E-1CCE-4AD6-86F1-3344E546AC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426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0" tIns="47300" rIns="94600" bIns="473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7" y="1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0" tIns="47300" rIns="94600" bIns="473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1" y="4415792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0" tIns="47300" rIns="94600" bIns="473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0" tIns="47300" rIns="94600" bIns="473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0" tIns="47300" rIns="94600" bIns="473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803749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701041" y="4415792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0" tIns="47300" rIns="94600" bIns="473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" name="Google Shape;64;p1:notes"/>
          <p:cNvSpPr txBox="1">
            <a:spLocks noGrp="1"/>
          </p:cNvSpPr>
          <p:nvPr>
            <p:ph type="ftr" idx="11"/>
          </p:nvPr>
        </p:nvSpPr>
        <p:spPr>
          <a:xfrm>
            <a:off x="1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0" tIns="47300" rIns="94600" bIns="473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227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: text only">
  <p:cSld name="Slide 2: text 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395288" y="1844678"/>
            <a:ext cx="8425184" cy="475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9250" algn="l" rtl="0">
              <a:spcBef>
                <a:spcPts val="38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Arial"/>
              <a:buChar char="–"/>
              <a:defRPr sz="19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6550" algn="l" rtl="0">
              <a:spcBef>
                <a:spcPts val="34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ctrTitle"/>
          </p:nvPr>
        </p:nvSpPr>
        <p:spPr>
          <a:xfrm>
            <a:off x="395536" y="548680"/>
            <a:ext cx="6768752" cy="115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2600"/>
              <a:buFont typeface="Calibri"/>
              <a:buNone/>
              <a:defRPr sz="2600" b="0" i="0" u="none" strike="noStrike" cap="none">
                <a:solidFill>
                  <a:srgbClr val="B5121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: text using bullet points">
  <p:cSld name="Slide 3: text using bullet poin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body" idx="1"/>
          </p:nvPr>
        </p:nvSpPr>
        <p:spPr>
          <a:xfrm>
            <a:off x="395288" y="1844678"/>
            <a:ext cx="8425184" cy="475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9250" algn="l" rtl="0">
              <a:spcBef>
                <a:spcPts val="38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Arial"/>
              <a:buChar char="–"/>
              <a:defRPr sz="19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6550" algn="l" rtl="0">
              <a:spcBef>
                <a:spcPts val="34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ctrTitle"/>
          </p:nvPr>
        </p:nvSpPr>
        <p:spPr>
          <a:xfrm>
            <a:off x="395536" y="548680"/>
            <a:ext cx="6768752" cy="115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2600"/>
              <a:buFont typeface="Calibri"/>
              <a:buNone/>
              <a:defRPr sz="2600" b="0" i="0" u="none" strike="noStrike" cap="none">
                <a:solidFill>
                  <a:srgbClr val="B5121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: smaller text using bullet points">
  <p:cSld name="Slide 4: smaller text using bullet poin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>
            <a:spLocks noGrp="1"/>
          </p:cNvSpPr>
          <p:nvPr>
            <p:ph type="body" idx="1"/>
          </p:nvPr>
        </p:nvSpPr>
        <p:spPr>
          <a:xfrm>
            <a:off x="395288" y="1844678"/>
            <a:ext cx="8425184" cy="475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9250" algn="l" rtl="0">
              <a:spcBef>
                <a:spcPts val="38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Arial"/>
              <a:buChar char="–"/>
              <a:defRPr sz="19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6550" algn="l" rtl="0">
              <a:spcBef>
                <a:spcPts val="34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ctrTitle"/>
          </p:nvPr>
        </p:nvSpPr>
        <p:spPr>
          <a:xfrm>
            <a:off x="395536" y="548680"/>
            <a:ext cx="6768752" cy="115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2600"/>
              <a:buFont typeface="Calibri"/>
              <a:buNone/>
              <a:defRPr sz="2600" b="0" i="0" u="none" strike="noStrike" cap="none">
                <a:solidFill>
                  <a:srgbClr val="B5121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: text with bullet points &amp; 1 image">
  <p:cSld name="Slide 5: text with bullet points &amp; 1 imag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/>
        </p:nvSpPr>
        <p:spPr>
          <a:xfrm>
            <a:off x="3234022" y="366022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6"/>
          <p:cNvSpPr txBox="1">
            <a:spLocks noGrp="1"/>
          </p:cNvSpPr>
          <p:nvPr>
            <p:ph type="ctrTitle"/>
          </p:nvPr>
        </p:nvSpPr>
        <p:spPr>
          <a:xfrm>
            <a:off x="395536" y="548680"/>
            <a:ext cx="6768752" cy="115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2600"/>
              <a:buFont typeface="Calibri"/>
              <a:buNone/>
              <a:defRPr sz="2600" b="0" i="0" u="none" strike="noStrike" cap="none">
                <a:solidFill>
                  <a:srgbClr val="B5121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395288" y="1844678"/>
            <a:ext cx="5976912" cy="475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9250" algn="l" rtl="0">
              <a:spcBef>
                <a:spcPts val="38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Arial"/>
              <a:buChar char="–"/>
              <a:defRPr sz="19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6550" algn="l" rtl="0">
              <a:spcBef>
                <a:spcPts val="34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: text with bullet points &amp; 2 images">
  <p:cSld name="Slide 6: text with bullet points &amp; 2 imag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395288" y="1844678"/>
            <a:ext cx="5976912" cy="475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9250" algn="l" rtl="0">
              <a:spcBef>
                <a:spcPts val="38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Arial"/>
              <a:buChar char="–"/>
              <a:defRPr sz="19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6550" algn="l" rtl="0">
              <a:spcBef>
                <a:spcPts val="34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ctrTitle"/>
          </p:nvPr>
        </p:nvSpPr>
        <p:spPr>
          <a:xfrm>
            <a:off x="395536" y="548680"/>
            <a:ext cx="6768752" cy="115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2600"/>
              <a:buFont typeface="Calibri"/>
              <a:buNone/>
              <a:defRPr sz="2600" b="0" i="0" u="none" strike="noStrike" cap="none">
                <a:solidFill>
                  <a:srgbClr val="B5121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: image only">
  <p:cSld name="Slide 7: imag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ctrTitle"/>
          </p:nvPr>
        </p:nvSpPr>
        <p:spPr>
          <a:xfrm>
            <a:off x="395536" y="548680"/>
            <a:ext cx="6768752" cy="115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2600"/>
              <a:buFont typeface="Calibri"/>
              <a:buNone/>
              <a:defRPr sz="2600" b="0" i="0" u="none" strike="noStrike" cap="none">
                <a:solidFill>
                  <a:srgbClr val="B5121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: blank slide">
  <p:cSld name="Slide 8: blank slid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>
            <a:spLocks noGrp="1"/>
          </p:cNvSpPr>
          <p:nvPr>
            <p:ph type="ctrTitle"/>
          </p:nvPr>
        </p:nvSpPr>
        <p:spPr>
          <a:xfrm>
            <a:off x="395536" y="548680"/>
            <a:ext cx="6768752" cy="115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2600"/>
              <a:buFont typeface="Calibri"/>
              <a:buNone/>
              <a:defRPr sz="2600" b="0" i="0" u="none" strike="noStrike" cap="none">
                <a:solidFill>
                  <a:srgbClr val="B5121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: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548680"/>
            <a:ext cx="6768752" cy="1152128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395288" y="1844675"/>
            <a:ext cx="8425184" cy="47529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rgbClr val="666666"/>
                </a:solidFill>
              </a:defRPr>
            </a:lvl1pPr>
            <a:lvl2pPr>
              <a:defRPr sz="2200">
                <a:solidFill>
                  <a:srgbClr val="666666"/>
                </a:solidFill>
              </a:defRPr>
            </a:lvl2pPr>
            <a:lvl3pPr>
              <a:defRPr sz="2000">
                <a:solidFill>
                  <a:srgbClr val="666666"/>
                </a:solidFill>
              </a:defRPr>
            </a:lvl3pPr>
            <a:lvl4pPr>
              <a:defRPr sz="1800">
                <a:solidFill>
                  <a:srgbClr val="666666"/>
                </a:solidFill>
              </a:defRPr>
            </a:lvl4pPr>
            <a:lvl5pPr>
              <a:defRPr sz="1600">
                <a:solidFill>
                  <a:srgbClr val="666666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794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3: text using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95536" y="548680"/>
            <a:ext cx="6768752" cy="1152128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395288" y="1844675"/>
            <a:ext cx="8425184" cy="47529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rgbClr val="666666"/>
                </a:solidFill>
              </a:defRPr>
            </a:lvl1pPr>
            <a:lvl2pPr>
              <a:defRPr sz="2200">
                <a:solidFill>
                  <a:srgbClr val="666666"/>
                </a:solidFill>
              </a:defRPr>
            </a:lvl2pPr>
            <a:lvl3pPr>
              <a:defRPr sz="2000">
                <a:solidFill>
                  <a:srgbClr val="666666"/>
                </a:solidFill>
              </a:defRPr>
            </a:lvl3pPr>
            <a:lvl4pPr>
              <a:defRPr sz="1800">
                <a:solidFill>
                  <a:srgbClr val="666666"/>
                </a:solidFill>
              </a:defRPr>
            </a:lvl4pPr>
            <a:lvl5pPr>
              <a:defRPr sz="1600">
                <a:solidFill>
                  <a:srgbClr val="666666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158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4: smaller text using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95536" y="548680"/>
            <a:ext cx="6768752" cy="1152128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395288" y="1844675"/>
            <a:ext cx="8425184" cy="47529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rgbClr val="666666"/>
                </a:solidFill>
              </a:defRPr>
            </a:lvl1pPr>
            <a:lvl2pPr>
              <a:defRPr sz="2200">
                <a:solidFill>
                  <a:srgbClr val="666666"/>
                </a:solidFill>
              </a:defRPr>
            </a:lvl2pPr>
            <a:lvl3pPr>
              <a:defRPr sz="2000">
                <a:solidFill>
                  <a:srgbClr val="666666"/>
                </a:solidFill>
              </a:defRPr>
            </a:lvl3pPr>
            <a:lvl4pPr>
              <a:defRPr sz="1800">
                <a:solidFill>
                  <a:srgbClr val="666666"/>
                </a:solidFill>
              </a:defRPr>
            </a:lvl4pPr>
            <a:lvl5pPr>
              <a:defRPr sz="1600">
                <a:solidFill>
                  <a:srgbClr val="666666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29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5: text with bullet points &amp;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95536" y="548680"/>
            <a:ext cx="6768752" cy="1152128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395289" y="1844675"/>
            <a:ext cx="5400847" cy="47529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rgbClr val="666666"/>
                </a:solidFill>
              </a:defRPr>
            </a:lvl1pPr>
            <a:lvl2pPr>
              <a:defRPr sz="2200">
                <a:solidFill>
                  <a:srgbClr val="666666"/>
                </a:solidFill>
              </a:defRPr>
            </a:lvl2pPr>
            <a:lvl3pPr>
              <a:defRPr sz="2000">
                <a:solidFill>
                  <a:srgbClr val="666666"/>
                </a:solidFill>
              </a:defRPr>
            </a:lvl3pPr>
            <a:lvl4pPr>
              <a:defRPr sz="1800">
                <a:solidFill>
                  <a:srgbClr val="666666"/>
                </a:solidFill>
              </a:defRPr>
            </a:lvl4pPr>
            <a:lvl5pPr>
              <a:defRPr sz="1600">
                <a:solidFill>
                  <a:srgbClr val="666666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3234022" y="366022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238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6: text with bullet points &amp;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95536" y="548680"/>
            <a:ext cx="6768752" cy="1152128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395289" y="1844675"/>
            <a:ext cx="5400847" cy="47529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rgbClr val="666666"/>
                </a:solidFill>
              </a:defRPr>
            </a:lvl1pPr>
            <a:lvl2pPr>
              <a:defRPr sz="2200">
                <a:solidFill>
                  <a:srgbClr val="666666"/>
                </a:solidFill>
              </a:defRPr>
            </a:lvl2pPr>
            <a:lvl3pPr>
              <a:defRPr sz="2000">
                <a:solidFill>
                  <a:srgbClr val="666666"/>
                </a:solidFill>
              </a:defRPr>
            </a:lvl3pPr>
            <a:lvl4pPr>
              <a:defRPr sz="1800">
                <a:solidFill>
                  <a:srgbClr val="666666"/>
                </a:solidFill>
              </a:defRPr>
            </a:lvl4pPr>
            <a:lvl5pPr>
              <a:defRPr sz="1600">
                <a:solidFill>
                  <a:srgbClr val="666666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069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7: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395536" y="548680"/>
            <a:ext cx="6768752" cy="1152128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0685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8: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395536" y="548680"/>
            <a:ext cx="6768752" cy="1152128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1726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: presentation title" type="title">
  <p:cSld name="Slide 1: presentation 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67544" y="1556792"/>
            <a:ext cx="8208912" cy="1010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7222"/>
              </a:lnSpc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B5121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67544" y="2852936"/>
            <a:ext cx="8208912" cy="72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B18889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B188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B1888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B188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B1888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B188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B1888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B188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B1888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B188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B1888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B188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B1888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B188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B1888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B188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2093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865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subTitle" idx="1"/>
          </p:nvPr>
        </p:nvSpPr>
        <p:spPr>
          <a:xfrm>
            <a:off x="467544" y="2852936"/>
            <a:ext cx="8208912" cy="72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</a:pPr>
            <a:r>
              <a:rPr lang="en-US" dirty="0" smtClean="0"/>
              <a:t>First Semester 2023/2024 Academic Session</a:t>
            </a:r>
            <a:endParaRPr dirty="0"/>
          </a:p>
        </p:txBody>
      </p:sp>
      <p:sp>
        <p:nvSpPr>
          <p:cNvPr id="67" name="Google Shape;67;p20"/>
          <p:cNvSpPr txBox="1"/>
          <p:nvPr/>
        </p:nvSpPr>
        <p:spPr>
          <a:xfrm>
            <a:off x="578953" y="5445224"/>
            <a:ext cx="7471917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Armaya’u Zango Umar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B.Sc. Computer Sci. (AUK), M.Sc. Computer Sci. (UCLAN -UK) Ph.D. Computer Sci. (LANCASTER - UK)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0"/>
          <p:cNvSpPr txBox="1">
            <a:spLocks noGrp="1"/>
          </p:cNvSpPr>
          <p:nvPr>
            <p:ph type="ctrTitle"/>
          </p:nvPr>
        </p:nvSpPr>
        <p:spPr>
          <a:xfrm>
            <a:off x="467544" y="1556792"/>
            <a:ext cx="8208912" cy="1010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2400"/>
              <a:buFont typeface="Calibri"/>
              <a:buNone/>
            </a:pPr>
            <a:r>
              <a:rPr lang="en-US" sz="2400" dirty="0" smtClean="0"/>
              <a:t>CSC4311: SOFTWARE ENGINEERING</a:t>
            </a:r>
            <a:endParaRPr sz="2400" dirty="0"/>
          </a:p>
        </p:txBody>
      </p:sp>
      <p:sp>
        <p:nvSpPr>
          <p:cNvPr id="2" name="Rectangle 1"/>
          <p:cNvSpPr/>
          <p:nvPr/>
        </p:nvSpPr>
        <p:spPr>
          <a:xfrm>
            <a:off x="4454820" y="327511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 </a:t>
            </a:r>
          </a:p>
        </p:txBody>
      </p:sp>
      <p:sp>
        <p:nvSpPr>
          <p:cNvPr id="3" name="Rectangle 2"/>
          <p:cNvSpPr/>
          <p:nvPr/>
        </p:nvSpPr>
        <p:spPr>
          <a:xfrm>
            <a:off x="4454820" y="327511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 </a:t>
            </a:r>
          </a:p>
        </p:txBody>
      </p:sp>
      <p:sp>
        <p:nvSpPr>
          <p:cNvPr id="7" name="Google Shape;68;p20"/>
          <p:cNvSpPr txBox="1">
            <a:spLocks/>
          </p:cNvSpPr>
          <p:nvPr/>
        </p:nvSpPr>
        <p:spPr>
          <a:xfrm>
            <a:off x="350364" y="3353345"/>
            <a:ext cx="8208912" cy="1010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7222"/>
              </a:lnSpc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B5121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45833"/>
              </a:lnSpc>
              <a:buSzPts val="2400"/>
            </a:pPr>
            <a:r>
              <a:rPr lang="en-US" sz="2400" dirty="0" smtClean="0"/>
              <a:t>Software Architecture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1266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1052736"/>
            <a:ext cx="6768752" cy="504056"/>
          </a:xfrm>
        </p:spPr>
        <p:txBody>
          <a:bodyPr/>
          <a:lstStyle/>
          <a:p>
            <a:r>
              <a:rPr lang="en-US" sz="2400" dirty="0"/>
              <a:t>Software Architecture’s Elements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7504" y="1628800"/>
            <a:ext cx="8425184" cy="4752975"/>
          </a:xfrm>
        </p:spPr>
        <p:txBody>
          <a:bodyPr/>
          <a:lstStyle/>
          <a:p>
            <a:r>
              <a:rPr lang="en-US" dirty="0"/>
              <a:t>A software system’s architecture should be a composition and interplay of different elements </a:t>
            </a:r>
          </a:p>
          <a:p>
            <a:pPr lvl="1"/>
            <a:r>
              <a:rPr lang="en-US" dirty="0"/>
              <a:t> Processing </a:t>
            </a:r>
          </a:p>
          <a:p>
            <a:pPr lvl="1"/>
            <a:r>
              <a:rPr lang="en-US" dirty="0"/>
              <a:t>Data, also referred as information or state </a:t>
            </a:r>
          </a:p>
          <a:p>
            <a:pPr lvl="1"/>
            <a:r>
              <a:rPr lang="en-US" dirty="0"/>
              <a:t>Interaction </a:t>
            </a:r>
          </a:p>
          <a:p>
            <a:r>
              <a:rPr lang="en-US" dirty="0"/>
              <a:t>Elements that encapsulate processing and data in system’s architecture as referred to as software components</a:t>
            </a:r>
          </a:p>
        </p:txBody>
      </p:sp>
    </p:spTree>
    <p:extLst>
      <p:ext uri="{BB962C8B-B14F-4D97-AF65-F5344CB8AC3E}">
        <p14:creationId xmlns:p14="http://schemas.microsoft.com/office/powerpoint/2010/main" val="242328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1052736"/>
            <a:ext cx="6768752" cy="504056"/>
          </a:xfrm>
        </p:spPr>
        <p:txBody>
          <a:bodyPr/>
          <a:lstStyle/>
          <a:p>
            <a:r>
              <a:rPr lang="en-US" sz="2400" dirty="0"/>
              <a:t>Components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7622" y="1700808"/>
            <a:ext cx="8425184" cy="4752975"/>
          </a:xfrm>
        </p:spPr>
        <p:txBody>
          <a:bodyPr/>
          <a:lstStyle/>
          <a:p>
            <a:r>
              <a:rPr lang="en-US" dirty="0"/>
              <a:t>A software component is an architectural entity that</a:t>
            </a:r>
          </a:p>
          <a:p>
            <a:pPr lvl="1"/>
            <a:r>
              <a:rPr lang="en-US" dirty="0"/>
              <a:t> encapsulates a subset of the system’s functionality and/or data</a:t>
            </a:r>
          </a:p>
          <a:p>
            <a:pPr lvl="1"/>
            <a:r>
              <a:rPr lang="en-US" dirty="0"/>
              <a:t> restricts access to that subset via an explicitly defined interface</a:t>
            </a:r>
          </a:p>
          <a:p>
            <a:pPr lvl="1"/>
            <a:r>
              <a:rPr lang="en-US" dirty="0"/>
              <a:t> has explicitly defined dependencies on its required execution context </a:t>
            </a:r>
          </a:p>
          <a:p>
            <a:pPr lvl="1"/>
            <a:r>
              <a:rPr lang="en-US" dirty="0"/>
              <a:t>Components typically provide application-specific services</a:t>
            </a:r>
          </a:p>
          <a:p>
            <a:r>
              <a:rPr lang="en-US" dirty="0"/>
              <a:t>A component can be as simple as a single operation or as complex as an entire system.</a:t>
            </a:r>
          </a:p>
          <a:p>
            <a:r>
              <a:rPr lang="en-US" dirty="0"/>
              <a:t>Software components are, thus, embodiments of the software engineering principle of </a:t>
            </a:r>
            <a:r>
              <a:rPr lang="en-US" i="1" dirty="0"/>
              <a:t>encapsulation, abstraction, and modularity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62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1052736"/>
            <a:ext cx="6768752" cy="504056"/>
          </a:xfrm>
        </p:spPr>
        <p:txBody>
          <a:bodyPr/>
          <a:lstStyle/>
          <a:p>
            <a:r>
              <a:rPr lang="en-US" sz="2400" dirty="0"/>
              <a:t>Examples of Components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51520" y="1700808"/>
            <a:ext cx="8425184" cy="4752975"/>
          </a:xfrm>
        </p:spPr>
        <p:txBody>
          <a:bodyPr/>
          <a:lstStyle/>
          <a:p>
            <a:r>
              <a:rPr lang="en-US" dirty="0"/>
              <a:t>Application-specific components </a:t>
            </a:r>
          </a:p>
          <a:p>
            <a:pPr lvl="1"/>
            <a:r>
              <a:rPr lang="en-US" dirty="0"/>
              <a:t> Examples: Cargo, warehouse, vehicle </a:t>
            </a:r>
          </a:p>
          <a:p>
            <a:r>
              <a:rPr lang="en-US" dirty="0"/>
              <a:t>Limited reuse components </a:t>
            </a:r>
          </a:p>
          <a:p>
            <a:pPr lvl="1"/>
            <a:r>
              <a:rPr lang="en-US" dirty="0"/>
              <a:t> Examples: Web servers, clocks, connections </a:t>
            </a:r>
          </a:p>
          <a:p>
            <a:r>
              <a:rPr lang="en-US" dirty="0"/>
              <a:t>Reusable components </a:t>
            </a:r>
          </a:p>
          <a:p>
            <a:pPr lvl="1"/>
            <a:r>
              <a:rPr lang="en-US" dirty="0"/>
              <a:t> Examples: GUI components, class and math libraries </a:t>
            </a:r>
          </a:p>
        </p:txBody>
      </p:sp>
    </p:spTree>
    <p:extLst>
      <p:ext uri="{BB962C8B-B14F-4D97-AF65-F5344CB8AC3E}">
        <p14:creationId xmlns:p14="http://schemas.microsoft.com/office/powerpoint/2010/main" val="4212450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1052736"/>
            <a:ext cx="6768752" cy="504056"/>
          </a:xfrm>
        </p:spPr>
        <p:txBody>
          <a:bodyPr/>
          <a:lstStyle/>
          <a:p>
            <a:r>
              <a:rPr lang="en-US" sz="2400" dirty="0"/>
              <a:t>Connectors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7504" y="1700808"/>
            <a:ext cx="8425184" cy="4752975"/>
          </a:xfrm>
        </p:spPr>
        <p:txBody>
          <a:bodyPr/>
          <a:lstStyle/>
          <a:p>
            <a:r>
              <a:rPr lang="en-US" dirty="0"/>
              <a:t>In complex systems, interaction may become more important and challenging than the functionality of the individual components </a:t>
            </a:r>
          </a:p>
          <a:p>
            <a:r>
              <a:rPr lang="en-US" dirty="0"/>
              <a:t>A software connector is an architectural building block tasked with effecting and regulating interactions among components</a:t>
            </a:r>
          </a:p>
          <a:p>
            <a:r>
              <a:rPr lang="en-US" dirty="0"/>
              <a:t> In many software systems connectors are usually simple procedure calls or shared data access </a:t>
            </a:r>
          </a:p>
          <a:p>
            <a:r>
              <a:rPr lang="en-US" dirty="0"/>
              <a:t> Connectors typically provide application-independent interaction facilities</a:t>
            </a:r>
          </a:p>
          <a:p>
            <a:pPr lvl="1"/>
            <a:r>
              <a:rPr lang="en-US" dirty="0"/>
              <a:t>Can be described independent of the components</a:t>
            </a:r>
          </a:p>
        </p:txBody>
      </p:sp>
    </p:spTree>
    <p:extLst>
      <p:ext uri="{BB962C8B-B14F-4D97-AF65-F5344CB8AC3E}">
        <p14:creationId xmlns:p14="http://schemas.microsoft.com/office/powerpoint/2010/main" val="308924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1052736"/>
            <a:ext cx="6768752" cy="504056"/>
          </a:xfrm>
        </p:spPr>
        <p:txBody>
          <a:bodyPr/>
          <a:lstStyle/>
          <a:p>
            <a:r>
              <a:rPr lang="en-US" sz="2400" dirty="0"/>
              <a:t>Examples of Connectors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51520" y="1700808"/>
            <a:ext cx="8425184" cy="4752975"/>
          </a:xfrm>
        </p:spPr>
        <p:txBody>
          <a:bodyPr/>
          <a:lstStyle/>
          <a:p>
            <a:r>
              <a:rPr lang="en-US" dirty="0"/>
              <a:t>Procedure call connectors </a:t>
            </a:r>
          </a:p>
          <a:p>
            <a:r>
              <a:rPr lang="en-US" dirty="0"/>
              <a:t>Shared memory connectors </a:t>
            </a:r>
          </a:p>
          <a:p>
            <a:r>
              <a:rPr lang="en-US" dirty="0"/>
              <a:t>Message passing connectors </a:t>
            </a:r>
          </a:p>
          <a:p>
            <a:r>
              <a:rPr lang="en-US" dirty="0"/>
              <a:t> Distribution connectors </a:t>
            </a:r>
          </a:p>
          <a:p>
            <a:r>
              <a:rPr lang="en-US" dirty="0"/>
              <a:t>Wrapper/adaptor connectors</a:t>
            </a:r>
          </a:p>
        </p:txBody>
      </p:sp>
    </p:spTree>
    <p:extLst>
      <p:ext uri="{BB962C8B-B14F-4D97-AF65-F5344CB8AC3E}">
        <p14:creationId xmlns:p14="http://schemas.microsoft.com/office/powerpoint/2010/main" val="1679046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1052736"/>
            <a:ext cx="6768752" cy="504056"/>
          </a:xfrm>
        </p:spPr>
        <p:txBody>
          <a:bodyPr/>
          <a:lstStyle/>
          <a:p>
            <a:r>
              <a:rPr lang="en-US" sz="2400" dirty="0"/>
              <a:t>Configurations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51520" y="1700808"/>
            <a:ext cx="8425184" cy="4752975"/>
          </a:xfrm>
        </p:spPr>
        <p:txBody>
          <a:bodyPr/>
          <a:lstStyle/>
          <a:p>
            <a:r>
              <a:rPr lang="en-US" dirty="0"/>
              <a:t>Components and connectors are composed in a specific way in a given system’s architecture to accomplish that system’s objective</a:t>
            </a:r>
          </a:p>
          <a:p>
            <a:r>
              <a:rPr lang="en-US" b="1" dirty="0"/>
              <a:t>Definition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An architectural configuration, or topology, is a set of specific associations between the components and connectors of a software system’s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1268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1052736"/>
            <a:ext cx="6768752" cy="504056"/>
          </a:xfrm>
        </p:spPr>
        <p:txBody>
          <a:bodyPr/>
          <a:lstStyle/>
          <a:p>
            <a:r>
              <a:rPr lang="en-US" sz="2400" dirty="0"/>
              <a:t>Architectural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51520" y="1700808"/>
            <a:ext cx="8425184" cy="4752975"/>
          </a:xfrm>
        </p:spPr>
        <p:txBody>
          <a:bodyPr/>
          <a:lstStyle/>
          <a:p>
            <a:r>
              <a:rPr lang="en-US" dirty="0"/>
              <a:t>Certain design choices regularly result in solutions with superior properties </a:t>
            </a:r>
          </a:p>
          <a:p>
            <a:pPr lvl="1"/>
            <a:r>
              <a:rPr lang="en-US" dirty="0"/>
              <a:t> Compared to other possible alternatives, solutions such as this are more elegant, effective, efficient, dependable, evolvable, scalable, and so on </a:t>
            </a:r>
          </a:p>
          <a:p>
            <a:r>
              <a:rPr lang="en-US" b="1" dirty="0"/>
              <a:t>Definition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An architectural style is a named collection of architectural design decisions that</a:t>
            </a:r>
          </a:p>
          <a:p>
            <a:pPr lvl="2"/>
            <a:r>
              <a:rPr lang="en-US" dirty="0"/>
              <a:t> are applicable in a given development context </a:t>
            </a:r>
          </a:p>
          <a:p>
            <a:pPr lvl="2"/>
            <a:r>
              <a:rPr lang="en-US" dirty="0"/>
              <a:t>constrain architectural design decisions that are specific to a particular system within that context </a:t>
            </a:r>
          </a:p>
          <a:p>
            <a:pPr lvl="2"/>
            <a:r>
              <a:rPr lang="en-US" dirty="0"/>
              <a:t> elicit beneficial qualities in each resulting system</a:t>
            </a:r>
          </a:p>
        </p:txBody>
      </p:sp>
    </p:spTree>
    <p:extLst>
      <p:ext uri="{BB962C8B-B14F-4D97-AF65-F5344CB8AC3E}">
        <p14:creationId xmlns:p14="http://schemas.microsoft.com/office/powerpoint/2010/main" val="326807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268760"/>
            <a:ext cx="8748464" cy="360040"/>
          </a:xfrm>
        </p:spPr>
        <p:txBody>
          <a:bodyPr/>
          <a:lstStyle/>
          <a:p>
            <a:pPr>
              <a:lnSpc>
                <a:spcPts val="2000"/>
              </a:lnSpc>
            </a:pPr>
            <a:r>
              <a:rPr lang="en-US" sz="2400" dirty="0"/>
              <a:t>Examples of Architectural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7504" y="1628800"/>
            <a:ext cx="8856984" cy="4896544"/>
          </a:xfrm>
        </p:spPr>
        <p:txBody>
          <a:bodyPr/>
          <a:lstStyle/>
          <a:p>
            <a:r>
              <a:rPr lang="en-US" dirty="0"/>
              <a:t>Traditional, language influenced styles </a:t>
            </a:r>
          </a:p>
          <a:p>
            <a:pPr lvl="1"/>
            <a:r>
              <a:rPr lang="en-US" dirty="0"/>
              <a:t> Main program and subroutines  (call and return)</a:t>
            </a:r>
          </a:p>
          <a:p>
            <a:pPr lvl="1"/>
            <a:r>
              <a:rPr lang="en-US" dirty="0"/>
              <a:t> Object-oriented </a:t>
            </a:r>
          </a:p>
          <a:p>
            <a:r>
              <a:rPr lang="en-US" dirty="0"/>
              <a:t>Layered </a:t>
            </a:r>
          </a:p>
          <a:p>
            <a:pPr lvl="1"/>
            <a:r>
              <a:rPr lang="en-US" dirty="0"/>
              <a:t>Client-server</a:t>
            </a:r>
          </a:p>
          <a:p>
            <a:r>
              <a:rPr lang="en-US" dirty="0"/>
              <a:t>Data-flow styles </a:t>
            </a:r>
          </a:p>
          <a:p>
            <a:pPr lvl="1"/>
            <a:r>
              <a:rPr lang="en-US" dirty="0"/>
              <a:t>Batch sequential </a:t>
            </a:r>
          </a:p>
          <a:p>
            <a:pPr lvl="1"/>
            <a:r>
              <a:rPr lang="en-US" dirty="0"/>
              <a:t> Pipe and filter </a:t>
            </a:r>
          </a:p>
          <a:p>
            <a:r>
              <a:rPr lang="en-US" dirty="0"/>
              <a:t>Implicit invocation </a:t>
            </a:r>
          </a:p>
          <a:p>
            <a:pPr lvl="1"/>
            <a:r>
              <a:rPr lang="en-US" dirty="0"/>
              <a:t>Event-based </a:t>
            </a:r>
          </a:p>
          <a:p>
            <a:pPr lvl="1"/>
            <a:r>
              <a:rPr lang="en-US" dirty="0"/>
              <a:t>Publish-subscribe </a:t>
            </a:r>
          </a:p>
          <a:p>
            <a:r>
              <a:rPr lang="en-US" dirty="0"/>
              <a:t>Peer-to-peer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18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1124744"/>
            <a:ext cx="8280920" cy="576064"/>
          </a:xfrm>
        </p:spPr>
        <p:txBody>
          <a:bodyPr/>
          <a:lstStyle/>
          <a:p>
            <a:r>
              <a:rPr lang="en-US" sz="2400" dirty="0"/>
              <a:t>Traditional: Main Program + Subroutine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79512" y="1628800"/>
            <a:ext cx="8425184" cy="4752975"/>
          </a:xfrm>
        </p:spPr>
        <p:txBody>
          <a:bodyPr/>
          <a:lstStyle/>
          <a:p>
            <a:r>
              <a:rPr lang="en-US" dirty="0"/>
              <a:t>Classic style since 60s - pre-OO. </a:t>
            </a:r>
          </a:p>
          <a:p>
            <a:r>
              <a:rPr lang="en-US" dirty="0"/>
              <a:t>Hierarchical decomposition into subroutines (Components) each solving a well defined task/function. </a:t>
            </a:r>
          </a:p>
          <a:p>
            <a:r>
              <a:rPr lang="en-US" dirty="0"/>
              <a:t> Data is passed around as parameters. </a:t>
            </a:r>
          </a:p>
          <a:p>
            <a:r>
              <a:rPr lang="en-US" dirty="0"/>
              <a:t> The main driver provides a control loop for sequencing through subroutines.</a:t>
            </a:r>
          </a:p>
        </p:txBody>
      </p:sp>
    </p:spTree>
    <p:extLst>
      <p:ext uri="{BB962C8B-B14F-4D97-AF65-F5344CB8AC3E}">
        <p14:creationId xmlns:p14="http://schemas.microsoft.com/office/powerpoint/2010/main" val="346605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1052736"/>
            <a:ext cx="8280920" cy="576064"/>
          </a:xfrm>
        </p:spPr>
        <p:txBody>
          <a:bodyPr/>
          <a:lstStyle/>
          <a:p>
            <a:r>
              <a:rPr lang="en-US" sz="2400" dirty="0"/>
              <a:t>Traditional: Object-Oriented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51520" y="1628800"/>
            <a:ext cx="8425184" cy="4752975"/>
          </a:xfrm>
        </p:spPr>
        <p:txBody>
          <a:bodyPr/>
          <a:lstStyle/>
          <a:p>
            <a:r>
              <a:rPr lang="en-US" dirty="0"/>
              <a:t>Widely used architectural style</a:t>
            </a:r>
          </a:p>
          <a:p>
            <a:r>
              <a:rPr lang="en-US" dirty="0"/>
              <a:t>Components: Objects or abstract data types </a:t>
            </a:r>
          </a:p>
          <a:p>
            <a:r>
              <a:rPr lang="en-US" dirty="0"/>
              <a:t> Connections:   Messages or function/procedure invocations </a:t>
            </a:r>
          </a:p>
          <a:p>
            <a:r>
              <a:rPr lang="en-US" dirty="0"/>
              <a:t>Can break problems into interacting agents (distributed across multiple machines /networks). </a:t>
            </a:r>
          </a:p>
        </p:txBody>
      </p:sp>
    </p:spTree>
    <p:extLst>
      <p:ext uri="{BB962C8B-B14F-4D97-AF65-F5344CB8AC3E}">
        <p14:creationId xmlns:p14="http://schemas.microsoft.com/office/powerpoint/2010/main" val="139100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124744"/>
            <a:ext cx="6768752" cy="432048"/>
          </a:xfrm>
        </p:spPr>
        <p:txBody>
          <a:bodyPr/>
          <a:lstStyle/>
          <a:p>
            <a:r>
              <a:rPr lang="en-US" sz="2400" dirty="0"/>
              <a:t>Layered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23528" y="1700808"/>
            <a:ext cx="8425184" cy="4752975"/>
          </a:xfrm>
        </p:spPr>
        <p:txBody>
          <a:bodyPr/>
          <a:lstStyle/>
          <a:p>
            <a:r>
              <a:rPr lang="en-US" dirty="0"/>
              <a:t>“A layered system is </a:t>
            </a:r>
            <a:r>
              <a:rPr lang="en-US" dirty="0" err="1"/>
              <a:t>organised</a:t>
            </a:r>
            <a:r>
              <a:rPr lang="en-US" dirty="0"/>
              <a:t> hierarchically, each layer providing service to the layer above it and serving as a client to the layer below.” (</a:t>
            </a:r>
            <a:r>
              <a:rPr lang="en-US" dirty="0" err="1"/>
              <a:t>Garlan</a:t>
            </a:r>
            <a:r>
              <a:rPr lang="en-US" dirty="0"/>
              <a:t> and Shaw)</a:t>
            </a:r>
          </a:p>
          <a:p>
            <a:r>
              <a:rPr lang="en-US" dirty="0"/>
              <a:t>In a pure layered system: Layers are hidden to all except adjacent layers. </a:t>
            </a:r>
          </a:p>
          <a:p>
            <a:r>
              <a:rPr lang="en-US" dirty="0"/>
              <a:t>Clie</a:t>
            </a:r>
            <a:r>
              <a:rPr lang="en-US" b="1" dirty="0"/>
              <a:t>nt-Server Style</a:t>
            </a:r>
            <a:r>
              <a:rPr lang="en-US" dirty="0"/>
              <a:t>	</a:t>
            </a:r>
          </a:p>
          <a:p>
            <a:pPr lvl="1"/>
            <a:r>
              <a:rPr lang="en-US" dirty="0"/>
              <a:t>Components are clients and servers</a:t>
            </a:r>
          </a:p>
          <a:p>
            <a:pPr lvl="1"/>
            <a:r>
              <a:rPr lang="en-US" dirty="0"/>
              <a:t>Servers do not know the number or identities of clients </a:t>
            </a:r>
          </a:p>
          <a:p>
            <a:pPr lvl="1"/>
            <a:r>
              <a:rPr lang="en-US" dirty="0"/>
              <a:t>Clients know the server’s identity </a:t>
            </a:r>
          </a:p>
          <a:p>
            <a:pPr lvl="1"/>
            <a:r>
              <a:rPr lang="en-US" dirty="0"/>
              <a:t>Connectors may be RPC-based network interaction protocols</a:t>
            </a:r>
          </a:p>
        </p:txBody>
      </p:sp>
    </p:spTree>
    <p:extLst>
      <p:ext uri="{BB962C8B-B14F-4D97-AF65-F5344CB8AC3E}">
        <p14:creationId xmlns:p14="http://schemas.microsoft.com/office/powerpoint/2010/main" val="179802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1124744"/>
            <a:ext cx="6768752" cy="576064"/>
          </a:xfrm>
        </p:spPr>
        <p:txBody>
          <a:bodyPr/>
          <a:lstStyle/>
          <a:p>
            <a:r>
              <a:rPr lang="en-US" sz="2400" dirty="0"/>
              <a:t>Data-flow styles 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51520" y="1700808"/>
            <a:ext cx="8425184" cy="4752975"/>
          </a:xfrm>
        </p:spPr>
        <p:txBody>
          <a:bodyPr/>
          <a:lstStyle/>
          <a:p>
            <a:r>
              <a:rPr lang="en-US" dirty="0"/>
              <a:t>A data flow system is one in which:</a:t>
            </a:r>
          </a:p>
          <a:p>
            <a:pPr lvl="1"/>
            <a:r>
              <a:rPr lang="en-US" dirty="0"/>
              <a:t>The availability of data controls the computation </a:t>
            </a:r>
          </a:p>
          <a:p>
            <a:pPr lvl="1"/>
            <a:r>
              <a:rPr lang="en-US" dirty="0"/>
              <a:t>The structure of the design is determined by the orderly motion of data from component to component </a:t>
            </a:r>
          </a:p>
          <a:p>
            <a:pPr lvl="1"/>
            <a:r>
              <a:rPr lang="en-US" dirty="0"/>
              <a:t>The pattern of data flow is explicit </a:t>
            </a:r>
          </a:p>
          <a:p>
            <a:pPr lvl="1"/>
            <a:r>
              <a:rPr lang="en-US" dirty="0"/>
              <a:t>This is the only form of communication between components</a:t>
            </a:r>
          </a:p>
        </p:txBody>
      </p:sp>
    </p:spTree>
    <p:extLst>
      <p:ext uri="{BB962C8B-B14F-4D97-AF65-F5344CB8AC3E}">
        <p14:creationId xmlns:p14="http://schemas.microsoft.com/office/powerpoint/2010/main" val="267433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1124744"/>
            <a:ext cx="6768752" cy="576064"/>
          </a:xfrm>
        </p:spPr>
        <p:txBody>
          <a:bodyPr/>
          <a:lstStyle/>
          <a:p>
            <a:r>
              <a:rPr lang="en-US" sz="2400" dirty="0"/>
              <a:t>Patterns of Data Flow in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95288" y="1844675"/>
            <a:ext cx="4248720" cy="4752975"/>
          </a:xfrm>
        </p:spPr>
        <p:txBody>
          <a:bodyPr/>
          <a:lstStyle/>
          <a:p>
            <a:r>
              <a:rPr lang="en-US" dirty="0"/>
              <a:t>Data can flow in arbitrary patterns </a:t>
            </a:r>
          </a:p>
          <a:p>
            <a:r>
              <a:rPr lang="en-US" dirty="0"/>
              <a:t>Primarily we are interested in linear data flow patterns </a:t>
            </a:r>
          </a:p>
          <a:p>
            <a:r>
              <a:rPr lang="en-US" dirty="0"/>
              <a:t>or in simple, constrained cyclical patterns.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21952" t="19524" r="53419" b="22619"/>
          <a:stretch/>
        </p:blipFill>
        <p:spPr bwMode="auto">
          <a:xfrm>
            <a:off x="5117606" y="1340768"/>
            <a:ext cx="4026394" cy="53160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8896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124744"/>
            <a:ext cx="6768752" cy="576064"/>
          </a:xfrm>
        </p:spPr>
        <p:txBody>
          <a:bodyPr/>
          <a:lstStyle/>
          <a:p>
            <a:r>
              <a:rPr lang="en-US" sz="2400" dirty="0"/>
              <a:t>Types of data flow: Batch sequential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79512" y="1628800"/>
            <a:ext cx="8425184" cy="4752975"/>
          </a:xfrm>
        </p:spPr>
        <p:txBody>
          <a:bodyPr/>
          <a:lstStyle/>
          <a:p>
            <a:r>
              <a:rPr lang="en-US" dirty="0"/>
              <a:t>Components (processing steps) are independent programs</a:t>
            </a:r>
          </a:p>
          <a:p>
            <a:r>
              <a:rPr lang="en-US" dirty="0"/>
              <a:t>Each step runs to completion before the next step begins </a:t>
            </a:r>
          </a:p>
          <a:p>
            <a:r>
              <a:rPr lang="en-US" dirty="0"/>
              <a:t>Historically applied to business data processing</a:t>
            </a:r>
          </a:p>
          <a:p>
            <a:r>
              <a:rPr lang="en-US" dirty="0"/>
              <a:t>Discrete transactions of predetermined type and occurring at periodic intervals</a:t>
            </a:r>
          </a:p>
          <a:p>
            <a:r>
              <a:rPr lang="en-US" dirty="0"/>
              <a:t>Creation of periodic reports based on data periodic data updates 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Utility services billing systems</a:t>
            </a:r>
          </a:p>
          <a:p>
            <a:pPr lvl="1"/>
            <a:r>
              <a:rPr lang="en-US" dirty="0"/>
              <a:t>Payroll computation</a:t>
            </a:r>
          </a:p>
          <a:p>
            <a:pPr lvl="1"/>
            <a:r>
              <a:rPr lang="en-US" dirty="0"/>
              <a:t>Student result processing system</a:t>
            </a:r>
          </a:p>
        </p:txBody>
      </p:sp>
    </p:spTree>
    <p:extLst>
      <p:ext uri="{BB962C8B-B14F-4D97-AF65-F5344CB8AC3E}">
        <p14:creationId xmlns:p14="http://schemas.microsoft.com/office/powerpoint/2010/main" val="196667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124744"/>
            <a:ext cx="6768752" cy="576064"/>
          </a:xfrm>
        </p:spPr>
        <p:txBody>
          <a:bodyPr/>
          <a:lstStyle/>
          <a:p>
            <a:r>
              <a:rPr lang="en-US" sz="2400" dirty="0"/>
              <a:t>Types of data flow: Pipes and Filters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79512" y="1628800"/>
            <a:ext cx="8425184" cy="4752975"/>
          </a:xfrm>
        </p:spPr>
        <p:txBody>
          <a:bodyPr/>
          <a:lstStyle/>
          <a:p>
            <a:r>
              <a:rPr lang="en-US" dirty="0"/>
              <a:t>Compared to the batch-sequential style, data in the pipe &amp; filter style is processed incrementally	</a:t>
            </a:r>
          </a:p>
          <a:p>
            <a:r>
              <a:rPr lang="en-US" dirty="0"/>
              <a:t>Read streams of data on input producing streams of data on output</a:t>
            </a:r>
          </a:p>
          <a:p>
            <a:r>
              <a:rPr lang="en-US" dirty="0"/>
              <a:t>Local incremental transformation to input stream (e.g., filter, enrich, change representation, etc.)</a:t>
            </a:r>
          </a:p>
          <a:p>
            <a:r>
              <a:rPr lang="en-US" dirty="0"/>
              <a:t>Data is processed as it arrives, not gathered  and then processed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 err="1"/>
              <a:t>lex</a:t>
            </a:r>
            <a:r>
              <a:rPr lang="en-US" dirty="0"/>
              <a:t>/</a:t>
            </a:r>
            <a:r>
              <a:rPr lang="en-US" dirty="0" err="1"/>
              <a:t>yacc</a:t>
            </a:r>
            <a:r>
              <a:rPr lang="en-US" dirty="0"/>
              <a:t>-based compiler (scan, parse, generate code, ..) </a:t>
            </a:r>
          </a:p>
          <a:p>
            <a:pPr lvl="1"/>
            <a:r>
              <a:rPr lang="en-US" dirty="0"/>
              <a:t> Unix pipes </a:t>
            </a:r>
          </a:p>
          <a:p>
            <a:pPr lvl="1"/>
            <a:r>
              <a:rPr lang="en-US" dirty="0"/>
              <a:t> Image processing </a:t>
            </a:r>
          </a:p>
          <a:p>
            <a:pPr lvl="1"/>
            <a:r>
              <a:rPr lang="en-US" dirty="0"/>
              <a:t> Signal processing </a:t>
            </a:r>
          </a:p>
          <a:p>
            <a:pPr lvl="1"/>
            <a:r>
              <a:rPr lang="en-US" dirty="0"/>
              <a:t> Voice and video streaming</a:t>
            </a:r>
          </a:p>
        </p:txBody>
      </p:sp>
    </p:spTree>
    <p:extLst>
      <p:ext uri="{BB962C8B-B14F-4D97-AF65-F5344CB8AC3E}">
        <p14:creationId xmlns:p14="http://schemas.microsoft.com/office/powerpoint/2010/main" val="118805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1124744"/>
            <a:ext cx="6768752" cy="576064"/>
          </a:xfrm>
        </p:spPr>
        <p:txBody>
          <a:bodyPr/>
          <a:lstStyle/>
          <a:p>
            <a:r>
              <a:rPr lang="en-US" sz="2400" dirty="0"/>
              <a:t>Implicit invocation: Event-based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23528" y="1700808"/>
            <a:ext cx="8425184" cy="4752975"/>
          </a:xfrm>
        </p:spPr>
        <p:txBody>
          <a:bodyPr/>
          <a:lstStyle/>
          <a:p>
            <a:r>
              <a:rPr lang="en-US" dirty="0"/>
              <a:t>Rather than invoking a procedure directly or sending a message a component announces, or broadcasts, one or more events. </a:t>
            </a:r>
          </a:p>
          <a:p>
            <a:r>
              <a:rPr lang="en-US" dirty="0"/>
              <a:t>Basically, components communicate using a generalized Observer Design Pattern style of communication. </a:t>
            </a:r>
          </a:p>
          <a:p>
            <a:r>
              <a:rPr lang="en-US" dirty="0"/>
              <a:t> But this is a different architectural style from Object-Oriented </a:t>
            </a:r>
          </a:p>
          <a:p>
            <a:pPr lvl="1"/>
            <a:r>
              <a:rPr lang="en-US" dirty="0"/>
              <a:t>Communications are broadcast-based and components are not necessarily objects</a:t>
            </a:r>
          </a:p>
        </p:txBody>
      </p:sp>
    </p:spTree>
    <p:extLst>
      <p:ext uri="{BB962C8B-B14F-4D97-AF65-F5344CB8AC3E}">
        <p14:creationId xmlns:p14="http://schemas.microsoft.com/office/powerpoint/2010/main" val="85049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1052736"/>
            <a:ext cx="6768752" cy="576064"/>
          </a:xfrm>
        </p:spPr>
        <p:txBody>
          <a:bodyPr/>
          <a:lstStyle/>
          <a:p>
            <a:r>
              <a:rPr lang="en-US" sz="2400" dirty="0"/>
              <a:t>…Implicit invocation: Event-based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51520" y="1700808"/>
            <a:ext cx="8425184" cy="4752975"/>
          </a:xfrm>
        </p:spPr>
        <p:txBody>
          <a:bodyPr/>
          <a:lstStyle/>
          <a:p>
            <a:r>
              <a:rPr lang="en-US" dirty="0"/>
              <a:t>A common style for integrating tools in a shared environment, e.g.,</a:t>
            </a:r>
          </a:p>
          <a:p>
            <a:pPr lvl="1"/>
            <a:r>
              <a:rPr lang="en-US" dirty="0"/>
              <a:t>Tools communicate by broadcasting interesting events </a:t>
            </a:r>
          </a:p>
          <a:p>
            <a:pPr lvl="1"/>
            <a:r>
              <a:rPr lang="en-US" dirty="0"/>
              <a:t>Other tools register patterns that indicate which events should be routed to them and which method/procedure should be invoked when an event matches that pattern.</a:t>
            </a:r>
          </a:p>
          <a:p>
            <a:pPr lvl="1"/>
            <a:r>
              <a:rPr lang="en-US" dirty="0"/>
              <a:t>Pattern matcher responsible for invoking appropriate methods when each event is announced</a:t>
            </a:r>
          </a:p>
          <a:p>
            <a:r>
              <a:rPr lang="en-US" dirty="0"/>
              <a:t>Strong support for reuse - plug in new components by registering it for events </a:t>
            </a:r>
          </a:p>
          <a:p>
            <a:r>
              <a:rPr lang="en-US" dirty="0"/>
              <a:t>Support maintenance - add and replace components with minimum affect on other components in the system</a:t>
            </a:r>
          </a:p>
        </p:txBody>
      </p:sp>
    </p:spTree>
    <p:extLst>
      <p:ext uri="{BB962C8B-B14F-4D97-AF65-F5344CB8AC3E}">
        <p14:creationId xmlns:p14="http://schemas.microsoft.com/office/powerpoint/2010/main" val="330265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1052736"/>
            <a:ext cx="6768752" cy="576064"/>
          </a:xfrm>
        </p:spPr>
        <p:txBody>
          <a:bodyPr/>
          <a:lstStyle/>
          <a:p>
            <a:r>
              <a:rPr lang="en-US" sz="2400" dirty="0"/>
              <a:t>Implicit invocation: Publish-Subscribe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7504" y="1628800"/>
            <a:ext cx="8425184" cy="4752975"/>
          </a:xfrm>
        </p:spPr>
        <p:txBody>
          <a:bodyPr/>
          <a:lstStyle/>
          <a:p>
            <a:r>
              <a:rPr lang="en-US" sz="2300" dirty="0"/>
              <a:t>Subscribers register/deregister to receive specific messages or specific content. Publishers broadcast messages to subscribers either synchronously or asynchronously. </a:t>
            </a:r>
          </a:p>
          <a:p>
            <a:r>
              <a:rPr lang="en-US" sz="2300" dirty="0"/>
              <a:t>Components: Publishers, subscribers, proxies for managing distribution </a:t>
            </a:r>
          </a:p>
          <a:p>
            <a:r>
              <a:rPr lang="en-US" sz="2300" dirty="0"/>
              <a:t>Connectors: Typically a network protocol is required. Content-based subscription requires sophisticated connectors.</a:t>
            </a:r>
          </a:p>
          <a:p>
            <a:r>
              <a:rPr lang="en-US" sz="2300" dirty="0"/>
              <a:t>Data Elements: Subscriptions, notifications, published information </a:t>
            </a:r>
          </a:p>
          <a:p>
            <a:r>
              <a:rPr lang="en-US" sz="2300" dirty="0"/>
              <a:t>Topology: Subscribers connect to publishers either directly or may receive notifications via a network protocol from intermediaries </a:t>
            </a:r>
          </a:p>
          <a:p>
            <a:r>
              <a:rPr lang="en-US" sz="2300" dirty="0"/>
              <a:t> Qualities yielded Highly efficient one-way dissemination of information with very low coupling of components</a:t>
            </a:r>
          </a:p>
        </p:txBody>
      </p:sp>
    </p:spTree>
    <p:extLst>
      <p:ext uri="{BB962C8B-B14F-4D97-AF65-F5344CB8AC3E}">
        <p14:creationId xmlns:p14="http://schemas.microsoft.com/office/powerpoint/2010/main" val="323950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980728"/>
            <a:ext cx="6768752" cy="720080"/>
          </a:xfrm>
        </p:spPr>
        <p:txBody>
          <a:bodyPr/>
          <a:lstStyle/>
          <a:p>
            <a:r>
              <a:rPr lang="en-US" sz="2400" dirty="0"/>
              <a:t>Peer-to-Peer Style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51520" y="1700808"/>
            <a:ext cx="8425184" cy="4752975"/>
          </a:xfrm>
        </p:spPr>
        <p:txBody>
          <a:bodyPr/>
          <a:lstStyle/>
          <a:p>
            <a:r>
              <a:rPr lang="en-US" sz="2300" dirty="0"/>
              <a:t>State and behavior are distributed among peers which can act as either clients or servers. </a:t>
            </a:r>
          </a:p>
          <a:p>
            <a:r>
              <a:rPr lang="en-US" sz="2300" dirty="0"/>
              <a:t>Peers: independent components, having their own state and control thread. </a:t>
            </a:r>
          </a:p>
          <a:p>
            <a:r>
              <a:rPr lang="en-US" sz="2300" dirty="0"/>
              <a:t>Connectors: Network protocols, often custom. </a:t>
            </a:r>
          </a:p>
          <a:p>
            <a:r>
              <a:rPr lang="en-US" sz="2300" dirty="0"/>
              <a:t>Data Elements: Network messages</a:t>
            </a:r>
          </a:p>
          <a:p>
            <a:r>
              <a:rPr lang="en-US" sz="2300" dirty="0"/>
              <a:t>Topology: Network (may have redundant connections between peers); can vary arbitrarily and dynamically</a:t>
            </a:r>
          </a:p>
          <a:p>
            <a:r>
              <a:rPr lang="en-US" sz="2300" dirty="0"/>
              <a:t> Supports decentralized computing with flow of control and resources distributed among peers. </a:t>
            </a:r>
          </a:p>
          <a:p>
            <a:r>
              <a:rPr lang="en-US" sz="2300" dirty="0"/>
              <a:t>Highly robust in the face of failure of any given node. Scalable in terms of access to resources and computing power. But caution on the protocol</a:t>
            </a:r>
          </a:p>
        </p:txBody>
      </p:sp>
    </p:spTree>
    <p:extLst>
      <p:ext uri="{BB962C8B-B14F-4D97-AF65-F5344CB8AC3E}">
        <p14:creationId xmlns:p14="http://schemas.microsoft.com/office/powerpoint/2010/main" val="322524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196752"/>
            <a:ext cx="8748464" cy="360040"/>
          </a:xfrm>
        </p:spPr>
        <p:txBody>
          <a:bodyPr/>
          <a:lstStyle/>
          <a:p>
            <a:pPr>
              <a:lnSpc>
                <a:spcPts val="2000"/>
              </a:lnSpc>
            </a:pPr>
            <a:r>
              <a:rPr lang="en-US" sz="2400" dirty="0"/>
              <a:t>Heterogeneous Styles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7504" y="1628800"/>
            <a:ext cx="9036496" cy="4896544"/>
          </a:xfrm>
        </p:spPr>
        <p:txBody>
          <a:bodyPr/>
          <a:lstStyle/>
          <a:p>
            <a:r>
              <a:rPr lang="en-US" sz="2200" dirty="0"/>
              <a:t>When we introduce a style, we will typically first examine its “pure” form</a:t>
            </a:r>
          </a:p>
          <a:p>
            <a:r>
              <a:rPr lang="en-US" sz="2200" dirty="0"/>
              <a:t>Pure architectural styles are rarely found in practice</a:t>
            </a:r>
          </a:p>
          <a:p>
            <a:r>
              <a:rPr lang="en-US" sz="2200" dirty="0"/>
              <a:t>Systems in practice </a:t>
            </a:r>
          </a:p>
          <a:p>
            <a:pPr lvl="1"/>
            <a:r>
              <a:rPr lang="en-US" dirty="0"/>
              <a:t> Often deviate from the academic definitions of these systems</a:t>
            </a:r>
          </a:p>
          <a:p>
            <a:pPr lvl="1"/>
            <a:r>
              <a:rPr lang="en-US" dirty="0"/>
              <a:t>Typically feature many architectural styles simultaneously</a:t>
            </a:r>
          </a:p>
          <a:p>
            <a:r>
              <a:rPr lang="en-US" sz="2200" dirty="0"/>
              <a:t>As an architect, you must understand the “pure” styles to understand the strength and weaknesses of the style as well as the consequences of deviating from the style</a:t>
            </a:r>
          </a:p>
          <a:p>
            <a:r>
              <a:rPr lang="en-US" sz="2200" dirty="0"/>
              <a:t>More complex styles can be created through a composition of simpler styles</a:t>
            </a:r>
          </a:p>
          <a:p>
            <a:pPr lvl="1"/>
            <a:r>
              <a:rPr lang="en-US" dirty="0"/>
              <a:t>E.g. Implicit invocation + Layering + other constraints</a:t>
            </a:r>
          </a:p>
          <a:p>
            <a:r>
              <a:rPr lang="en-US" sz="2200" dirty="0"/>
              <a:t> Heterogeneous style: Distributed objects</a:t>
            </a:r>
          </a:p>
          <a:p>
            <a:pPr lvl="1"/>
            <a:r>
              <a:rPr lang="en-US" dirty="0"/>
              <a:t> OO + </a:t>
            </a:r>
            <a:r>
              <a:rPr lang="en-US"/>
              <a:t>client-server </a:t>
            </a:r>
            <a:r>
              <a:rPr lang="en-US" smtClean="0"/>
              <a:t> </a:t>
            </a:r>
            <a:r>
              <a:rPr lang="en-US" dirty="0"/>
              <a:t>style </a:t>
            </a:r>
          </a:p>
        </p:txBody>
      </p:sp>
    </p:spTree>
    <p:extLst>
      <p:ext uri="{BB962C8B-B14F-4D97-AF65-F5344CB8AC3E}">
        <p14:creationId xmlns:p14="http://schemas.microsoft.com/office/powerpoint/2010/main" val="291751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Slide 2: Text Only">
  <a:themeElements>
    <a:clrScheme name="Custom 4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52B1E"/>
      </a:hlink>
      <a:folHlink>
        <a:srgbClr val="D52B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Slide 2: Text Only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52B1E"/>
      </a:hlink>
      <a:folHlink>
        <a:srgbClr val="D52B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1203</Words>
  <Application>Microsoft Office PowerPoint</Application>
  <PresentationFormat>On-screen Show (4:3)</PresentationFormat>
  <Paragraphs>152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Arial</vt:lpstr>
      <vt:lpstr>1_Slide 2: Text Only</vt:lpstr>
      <vt:lpstr>2_Slide 2: Text Only</vt:lpstr>
      <vt:lpstr>CSC4311: SOFTWARE ENGINEERING</vt:lpstr>
      <vt:lpstr>Software Architecture’s Elements </vt:lpstr>
      <vt:lpstr>Components </vt:lpstr>
      <vt:lpstr>Examples of Components</vt:lpstr>
      <vt:lpstr>Connectors</vt:lpstr>
      <vt:lpstr>Examples of Connectors</vt:lpstr>
      <vt:lpstr>Configurations</vt:lpstr>
      <vt:lpstr>Architectural Styles</vt:lpstr>
      <vt:lpstr>Examples of Architectural Styles</vt:lpstr>
      <vt:lpstr>Traditional: Main Program + Subroutine Architecture</vt:lpstr>
      <vt:lpstr>Traditional: Object-Oriented</vt:lpstr>
      <vt:lpstr>Layered System</vt:lpstr>
      <vt:lpstr>Data-flow styles  </vt:lpstr>
      <vt:lpstr>Patterns of Data Flow in Systems</vt:lpstr>
      <vt:lpstr>Types of data flow: Batch sequential</vt:lpstr>
      <vt:lpstr>Types of data flow: Pipes and Filters</vt:lpstr>
      <vt:lpstr>Implicit invocation: Event-based</vt:lpstr>
      <vt:lpstr>…Implicit invocation: Event-based</vt:lpstr>
      <vt:lpstr>Implicit invocation: Publish-Subscribe </vt:lpstr>
      <vt:lpstr>Peer-to-Peer Style </vt:lpstr>
      <vt:lpstr>Heterogeneous Styles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CSC4311: SOFTWARE ENGINEERING</dc:title>
  <dc:creator>Armayau</dc:creator>
  <cp:lastModifiedBy>Armayau</cp:lastModifiedBy>
  <cp:revision>16</cp:revision>
  <dcterms:modified xsi:type="dcterms:W3CDTF">2024-03-13T09:18:54Z</dcterms:modified>
</cp:coreProperties>
</file>