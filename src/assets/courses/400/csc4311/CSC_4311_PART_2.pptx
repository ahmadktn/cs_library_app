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3" r:id="rId2"/>
    <p:sldMasterId id="2147483660" r:id="rId3"/>
  </p:sldMasterIdLst>
  <p:notesMasterIdLst>
    <p:notesMasterId r:id="rId38"/>
  </p:notesMasterIdLst>
  <p:handoutMasterIdLst>
    <p:handoutMasterId r:id="rId39"/>
  </p:handoutMasterIdLst>
  <p:sldIdLst>
    <p:sldId id="256" r:id="rId4"/>
    <p:sldId id="269" r:id="rId5"/>
    <p:sldId id="270" r:id="rId6"/>
    <p:sldId id="271" r:id="rId7"/>
    <p:sldId id="272" r:id="rId8"/>
    <p:sldId id="273" r:id="rId9"/>
    <p:sldId id="274" r:id="rId10"/>
    <p:sldId id="275" r:id="rId11"/>
    <p:sldId id="276" r:id="rId12"/>
    <p:sldId id="277" r:id="rId13"/>
    <p:sldId id="278" r:id="rId14"/>
    <p:sldId id="306" r:id="rId15"/>
    <p:sldId id="280" r:id="rId16"/>
    <p:sldId id="281" r:id="rId17"/>
    <p:sldId id="282" r:id="rId18"/>
    <p:sldId id="307" r:id="rId19"/>
    <p:sldId id="284" r:id="rId20"/>
    <p:sldId id="285" r:id="rId21"/>
    <p:sldId id="286" r:id="rId22"/>
    <p:sldId id="287" r:id="rId23"/>
    <p:sldId id="292" r:id="rId24"/>
    <p:sldId id="293" r:id="rId25"/>
    <p:sldId id="308" r:id="rId26"/>
    <p:sldId id="298" r:id="rId27"/>
    <p:sldId id="303" r:id="rId28"/>
    <p:sldId id="305" r:id="rId29"/>
    <p:sldId id="258" r:id="rId30"/>
    <p:sldId id="259" r:id="rId31"/>
    <p:sldId id="260" r:id="rId32"/>
    <p:sldId id="262" r:id="rId33"/>
    <p:sldId id="263" r:id="rId34"/>
    <p:sldId id="264" r:id="rId35"/>
    <p:sldId id="266" r:id="rId36"/>
    <p:sldId id="267" r:id="rId37"/>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p15:clr>
            <a:srgbClr val="A4A3A4"/>
          </p15:clr>
        </p15:guide>
        <p15:guide id="2" pos="612">
          <p15:clr>
            <a:srgbClr val="A4A3A4"/>
          </p15:clr>
        </p15:guide>
        <p15:guide id="3" orient="horz" pos="4156">
          <p15:clr>
            <a:srgbClr val="A4A3A4"/>
          </p15:clr>
        </p15:guide>
        <p15:guide id="4" orient="horz" pos="3294">
          <p15:clr>
            <a:srgbClr val="A4A3A4"/>
          </p15:clr>
        </p15:guide>
        <p15:guide id="5" orient="horz" pos="3748">
          <p15:clr>
            <a:srgbClr val="A4A3A4"/>
          </p15:clr>
        </p15:guide>
        <p15:guide id="6" orient="horz" pos="1706">
          <p15:clr>
            <a:srgbClr val="A4A3A4"/>
          </p15:clr>
        </p15:guide>
        <p15:guide id="7" orient="horz" pos="3521">
          <p15:clr>
            <a:srgbClr val="A4A3A4"/>
          </p15:clr>
        </p15:guide>
        <p15:guide id="8" orient="horz" pos="799">
          <p15:clr>
            <a:srgbClr val="A4A3A4"/>
          </p15:clr>
        </p15:guide>
        <p15:guide id="9" orient="horz" pos="1480">
          <p15:clr>
            <a:srgbClr val="A4A3A4"/>
          </p15:clr>
        </p15:guide>
        <p15:guide id="10" orient="horz" pos="2840">
          <p15:clr>
            <a:srgbClr val="A4A3A4"/>
          </p15:clr>
        </p15:guide>
        <p15:guide id="11" orient="horz" pos="2931">
          <p15:clr>
            <a:srgbClr val="A4A3A4"/>
          </p15:clr>
        </p15:guide>
        <p15:guide id="12" orient="horz" pos="1253">
          <p15:clr>
            <a:srgbClr val="A4A3A4"/>
          </p15:clr>
        </p15:guide>
        <p15:guide id="13" orient="horz" pos="1026">
          <p15:clr>
            <a:srgbClr val="A4A3A4"/>
          </p15:clr>
        </p15:guide>
        <p15:guide id="14" orient="horz" pos="2387">
          <p15:clr>
            <a:srgbClr val="A4A3A4"/>
          </p15:clr>
        </p15:guide>
        <p15:guide id="15" orient="horz" pos="3067">
          <p15:clr>
            <a:srgbClr val="A4A3A4"/>
          </p15:clr>
        </p15:guide>
        <p15:guide id="16" orient="horz" pos="3974">
          <p15:clr>
            <a:srgbClr val="A4A3A4"/>
          </p15:clr>
        </p15:guide>
        <p15:guide id="17" pos="1519">
          <p15:clr>
            <a:srgbClr val="A4A3A4"/>
          </p15:clr>
        </p15:guide>
        <p15:guide id="18" pos="2426">
          <p15:clr>
            <a:srgbClr val="A4A3A4"/>
          </p15:clr>
        </p15:guide>
        <p15:guide id="19" pos="3334">
          <p15:clr>
            <a:srgbClr val="A4A3A4"/>
          </p15:clr>
        </p15:guide>
        <p15:guide id="20" pos="4014">
          <p15:clr>
            <a:srgbClr val="A4A3A4"/>
          </p15:clr>
        </p15:guide>
        <p15:guide id="21" pos="1746">
          <p15:clr>
            <a:srgbClr val="A4A3A4"/>
          </p15:clr>
        </p15:guide>
        <p15:guide id="22" pos="340">
          <p15:clr>
            <a:srgbClr val="A4A3A4"/>
          </p15:clr>
        </p15:guide>
        <p15:guide id="23" pos="839">
          <p15:clr>
            <a:srgbClr val="A4A3A4"/>
          </p15:clr>
        </p15:guide>
        <p15:guide id="24" pos="1066">
          <p15:clr>
            <a:srgbClr val="A4A3A4"/>
          </p15:clr>
        </p15:guide>
        <p15:guide id="25" pos="4422">
          <p15:clr>
            <a:srgbClr val="A4A3A4"/>
          </p15:clr>
        </p15:guide>
        <p15:guide id="26" pos="3152">
          <p15:clr>
            <a:srgbClr val="A4A3A4"/>
          </p15:clr>
        </p15:guide>
        <p15:guide id="27" pos="2200">
          <p15:clr>
            <a:srgbClr val="A4A3A4"/>
          </p15:clr>
        </p15:guide>
        <p15:guide id="28" pos="3107">
          <p15:clr>
            <a:srgbClr val="A4A3A4"/>
          </p15:clr>
        </p15:guide>
        <p15:guide id="29" pos="3833">
          <p15:clr>
            <a:srgbClr val="A4A3A4"/>
          </p15:clr>
        </p15:guide>
        <p15:guide id="30" pos="4468">
          <p15:clr>
            <a:srgbClr val="A4A3A4"/>
          </p15:clr>
        </p15:guide>
        <p15:guide id="31" pos="4694">
          <p15:clr>
            <a:srgbClr val="A4A3A4"/>
          </p15:clr>
        </p15:guide>
        <p15:guide id="32" pos="4921">
          <p15:clr>
            <a:srgbClr val="A4A3A4"/>
          </p15:clr>
        </p15:guide>
        <p15:guide id="33" pos="5148">
          <p15:clr>
            <a:srgbClr val="A4A3A4"/>
          </p15:clr>
        </p15:guide>
        <p15:guide id="34" pos="5375">
          <p15:clr>
            <a:srgbClr val="A4A3A4"/>
          </p15:clr>
        </p15:guide>
        <p15:guide id="35" pos="5556">
          <p15:clr>
            <a:srgbClr val="A4A3A4"/>
          </p15:clr>
        </p15:guide>
        <p15:guide id="36" pos="3560">
          <p15:clr>
            <a:srgbClr val="A4A3A4"/>
          </p15:clr>
        </p15:guide>
        <p15:guide id="37" pos="4241">
          <p15:clr>
            <a:srgbClr val="A4A3A4"/>
          </p15:clr>
        </p15:guide>
        <p15:guide id="38" pos="2880">
          <p15:clr>
            <a:srgbClr val="A4A3A4"/>
          </p15:clr>
        </p15:guide>
        <p15:guide id="39" pos="2653">
          <p15:clr>
            <a:srgbClr val="A4A3A4"/>
          </p15:clr>
        </p15:guide>
        <p15:guide id="40" pos="2789">
          <p15:clr>
            <a:srgbClr val="A4A3A4"/>
          </p15:clr>
        </p15:guide>
        <p15:guide id="41" orient="horz" pos="4020">
          <p15:clr>
            <a:srgbClr val="A4A3A4"/>
          </p15:clr>
        </p15:guide>
        <p15:guide id="42" pos="4558">
          <p15:clr>
            <a:srgbClr val="A4A3A4"/>
          </p15:clr>
        </p15:guide>
        <p15:guide id="43" pos="1429">
          <p15:clr>
            <a:srgbClr val="A4A3A4"/>
          </p15:clr>
        </p15:guide>
        <p15:guide id="44" pos="4332">
          <p15:clr>
            <a:srgbClr val="A4A3A4"/>
          </p15:clr>
        </p15:guide>
        <p15:guide id="45" orient="horz" pos="3113">
          <p15:clr>
            <a:srgbClr val="A4A3A4"/>
          </p15:clr>
        </p15:guide>
        <p15:guide id="46" orient="horz" pos="1752">
          <p15:clr>
            <a:srgbClr val="A4A3A4"/>
          </p15:clr>
        </p15:guide>
        <p15:guide id="47" orient="horz" pos="2614">
          <p15:clr>
            <a:srgbClr val="A4A3A4"/>
          </p15:clr>
        </p15:guide>
        <p15:guide id="48" orient="horz" pos="1162">
          <p15:clr>
            <a:srgbClr val="A4A3A4"/>
          </p15:clr>
        </p15:guide>
        <p15:guide id="49" orient="horz" pos="3838">
          <p15:clr>
            <a:srgbClr val="A4A3A4"/>
          </p15:clr>
        </p15:guide>
        <p15:guide id="50" orient="horz" pos="1933">
          <p15:clr>
            <a:srgbClr val="A4A3A4"/>
          </p15:clr>
        </p15:guide>
        <p15:guide id="51" orient="horz" pos="1344">
          <p15:clr>
            <a:srgbClr val="A4A3A4"/>
          </p15:clr>
        </p15:guide>
        <p15:guide id="52" pos="1973">
          <p15:clr>
            <a:srgbClr val="A4A3A4"/>
          </p15:clr>
        </p15:guide>
        <p15:guide id="53" pos="3606">
          <p15:clr>
            <a:srgbClr val="A4A3A4"/>
          </p15:clr>
        </p15:guide>
        <p15:guide id="54" pos="5329">
          <p15:clr>
            <a:srgbClr val="A4A3A4"/>
          </p15:clr>
        </p15:guide>
        <p15:guide id="55" pos="3969">
          <p15:clr>
            <a:srgbClr val="A4A3A4"/>
          </p15:clr>
        </p15:guide>
        <p15:guide id="56" pos="1292">
          <p15:clr>
            <a:srgbClr val="A4A3A4"/>
          </p15:clr>
        </p15:guide>
        <p15:guide id="57" pos="249">
          <p15:clr>
            <a:srgbClr val="A4A3A4"/>
          </p15:clr>
        </p15:guide>
        <p15:guide id="58" pos="385">
          <p15:clr>
            <a:srgbClr val="A4A3A4"/>
          </p15:clr>
        </p15:guide>
        <p15:guide id="59" pos="2699">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660"/>
  </p:normalViewPr>
  <p:slideViewPr>
    <p:cSldViewPr snapToGrid="0">
      <p:cViewPr varScale="1">
        <p:scale>
          <a:sx n="67" d="100"/>
          <a:sy n="67" d="100"/>
        </p:scale>
        <p:origin x="1392" y="72"/>
      </p:cViewPr>
      <p:guideLst>
        <p:guide orient="horz" pos="2160"/>
        <p:guide pos="612"/>
        <p:guide orient="horz" pos="4156"/>
        <p:guide orient="horz" pos="3294"/>
        <p:guide orient="horz" pos="3748"/>
        <p:guide orient="horz" pos="1706"/>
        <p:guide orient="horz" pos="3521"/>
        <p:guide orient="horz" pos="799"/>
        <p:guide orient="horz" pos="1480"/>
        <p:guide orient="horz" pos="2840"/>
        <p:guide orient="horz" pos="2931"/>
        <p:guide orient="horz" pos="1253"/>
        <p:guide orient="horz" pos="1026"/>
        <p:guide orient="horz" pos="2387"/>
        <p:guide orient="horz" pos="3067"/>
        <p:guide orient="horz" pos="3974"/>
        <p:guide pos="1519"/>
        <p:guide pos="2426"/>
        <p:guide pos="3334"/>
        <p:guide pos="4014"/>
        <p:guide pos="1746"/>
        <p:guide pos="340"/>
        <p:guide pos="839"/>
        <p:guide pos="1066"/>
        <p:guide pos="4422"/>
        <p:guide pos="3152"/>
        <p:guide pos="2200"/>
        <p:guide pos="3107"/>
        <p:guide pos="3833"/>
        <p:guide pos="4468"/>
        <p:guide pos="4694"/>
        <p:guide pos="4921"/>
        <p:guide pos="5148"/>
        <p:guide pos="5375"/>
        <p:guide pos="5556"/>
        <p:guide pos="3560"/>
        <p:guide pos="4241"/>
        <p:guide pos="2880"/>
        <p:guide pos="2653"/>
        <p:guide pos="2789"/>
        <p:guide orient="horz" pos="4020"/>
        <p:guide pos="4558"/>
        <p:guide pos="1429"/>
        <p:guide pos="4332"/>
        <p:guide orient="horz" pos="3113"/>
        <p:guide orient="horz" pos="1752"/>
        <p:guide orient="horz" pos="2614"/>
        <p:guide orient="horz" pos="1162"/>
        <p:guide orient="horz" pos="3838"/>
        <p:guide orient="horz" pos="1933"/>
        <p:guide orient="horz" pos="1344"/>
        <p:guide pos="1973"/>
        <p:guide pos="3606"/>
        <p:guide pos="5329"/>
        <p:guide pos="3969"/>
        <p:guide pos="1292"/>
        <p:guide pos="249"/>
        <p:guide pos="385"/>
        <p:guide pos="2699"/>
      </p:guideLst>
    </p:cSldViewPr>
  </p:slideViewPr>
  <p:notesTextViewPr>
    <p:cViewPr>
      <p:scale>
        <a:sx n="1" d="1"/>
        <a:sy n="1" d="1"/>
      </p:scale>
      <p:origin x="0" y="0"/>
    </p:cViewPr>
  </p:notesTextViewPr>
  <p:notesViewPr>
    <p:cSldViewPr snapToGrid="0">
      <p:cViewPr varScale="1">
        <p:scale>
          <a:sx n="52" d="100"/>
          <a:sy n="52" d="100"/>
        </p:scale>
        <p:origin x="2656" y="92"/>
      </p:cViewPr>
      <p:guideLst>
        <p:guide orient="horz" pos="2928"/>
        <p:guide pos="220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9C840D01-21E4-4592-A327-126A31258E17}" type="datetimeFigureOut">
              <a:rPr lang="en-GB" smtClean="0"/>
              <a:t>30/04/2024</a:t>
            </a:fld>
            <a:endParaRPr lang="en-GB" dirty="0"/>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8655E60E-1CCE-4AD6-86F1-3344E546AC28}" type="slidenum">
              <a:rPr lang="en-GB" smtClean="0"/>
              <a:t>‹#›</a:t>
            </a:fld>
            <a:endParaRPr lang="en-GB"/>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1"/>
            <a:ext cx="3037840" cy="464820"/>
          </a:xfrm>
          <a:prstGeom prst="rect">
            <a:avLst/>
          </a:prstGeom>
          <a:noFill/>
          <a:ln>
            <a:noFill/>
          </a:ln>
        </p:spPr>
        <p:txBody>
          <a:bodyPr spcFirstLastPara="1" wrap="square" lIns="94600" tIns="47300" rIns="94600" bIns="473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970937" y="1"/>
            <a:ext cx="3037840" cy="464820"/>
          </a:xfrm>
          <a:prstGeom prst="rect">
            <a:avLst/>
          </a:prstGeom>
          <a:noFill/>
          <a:ln>
            <a:noFill/>
          </a:ln>
        </p:spPr>
        <p:txBody>
          <a:bodyPr spcFirstLastPara="1" wrap="square" lIns="94600" tIns="47300" rIns="94600" bIns="473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6" name="Google Shape;6;n"/>
          <p:cNvSpPr txBox="1">
            <a:spLocks noGrp="1"/>
          </p:cNvSpPr>
          <p:nvPr>
            <p:ph type="body" idx="1"/>
          </p:nvPr>
        </p:nvSpPr>
        <p:spPr>
          <a:xfrm>
            <a:off x="701041" y="4415792"/>
            <a:ext cx="5608320" cy="4183380"/>
          </a:xfrm>
          <a:prstGeom prst="rect">
            <a:avLst/>
          </a:prstGeom>
          <a:noFill/>
          <a:ln>
            <a:noFill/>
          </a:ln>
        </p:spPr>
        <p:txBody>
          <a:bodyPr spcFirstLastPara="1" wrap="square" lIns="94600" tIns="47300" rIns="94600" bIns="473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1" y="8829967"/>
            <a:ext cx="3037840" cy="464820"/>
          </a:xfrm>
          <a:prstGeom prst="rect">
            <a:avLst/>
          </a:prstGeom>
          <a:noFill/>
          <a:ln>
            <a:noFill/>
          </a:ln>
        </p:spPr>
        <p:txBody>
          <a:bodyPr spcFirstLastPara="1" wrap="square" lIns="94600" tIns="47300" rIns="94600" bIns="473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970937" y="8829967"/>
            <a:ext cx="3037840" cy="464820"/>
          </a:xfrm>
          <a:prstGeom prst="rect">
            <a:avLst/>
          </a:prstGeom>
          <a:noFill/>
          <a:ln>
            <a:noFill/>
          </a:ln>
        </p:spPr>
        <p:txBody>
          <a:bodyPr spcFirstLastPara="1" wrap="square" lIns="94600" tIns="47300" rIns="94600" bIns="473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 name="Google Shape;63;p1:notes"/>
          <p:cNvSpPr txBox="1">
            <a:spLocks noGrp="1"/>
          </p:cNvSpPr>
          <p:nvPr>
            <p:ph type="body" idx="1"/>
          </p:nvPr>
        </p:nvSpPr>
        <p:spPr>
          <a:xfrm>
            <a:off x="701041" y="4415792"/>
            <a:ext cx="5608320" cy="4183380"/>
          </a:xfrm>
          <a:prstGeom prst="rect">
            <a:avLst/>
          </a:prstGeom>
          <a:noFill/>
          <a:ln>
            <a:noFill/>
          </a:ln>
        </p:spPr>
        <p:txBody>
          <a:bodyPr spcFirstLastPara="1" wrap="square" lIns="94600" tIns="47300" rIns="94600" bIns="47300" anchor="t" anchorCtr="0">
            <a:noAutofit/>
          </a:bodyPr>
          <a:lstStyle/>
          <a:p>
            <a:pPr marL="0" lvl="0" indent="0" algn="l" rtl="0">
              <a:lnSpc>
                <a:spcPct val="80000"/>
              </a:lnSpc>
              <a:spcBef>
                <a:spcPts val="0"/>
              </a:spcBef>
              <a:spcAft>
                <a:spcPts val="0"/>
              </a:spcAft>
              <a:buNone/>
            </a:pPr>
            <a:endParaRPr dirty="0"/>
          </a:p>
        </p:txBody>
      </p:sp>
      <p:sp>
        <p:nvSpPr>
          <p:cNvPr id="64" name="Google Shape;64;p1:notes"/>
          <p:cNvSpPr txBox="1">
            <a:spLocks noGrp="1"/>
          </p:cNvSpPr>
          <p:nvPr>
            <p:ph type="ftr" idx="11"/>
          </p:nvPr>
        </p:nvSpPr>
        <p:spPr>
          <a:xfrm>
            <a:off x="1" y="8829967"/>
            <a:ext cx="3037840" cy="464820"/>
          </a:xfrm>
          <a:prstGeom prst="rect">
            <a:avLst/>
          </a:prstGeom>
          <a:noFill/>
          <a:ln>
            <a:noFill/>
          </a:ln>
        </p:spPr>
        <p:txBody>
          <a:bodyPr spcFirstLastPara="1" wrap="square" lIns="94600" tIns="47300" rIns="94600" bIns="47300" anchor="b" anchorCtr="0">
            <a:noAutofit/>
          </a:bodyPr>
          <a:lstStyle/>
          <a:p>
            <a:pPr marL="0" lvl="0" indent="0" algn="l" rtl="0">
              <a:spcBef>
                <a:spcPts val="0"/>
              </a:spcBef>
              <a:spcAft>
                <a:spcPts val="0"/>
              </a:spcAft>
              <a:buNone/>
            </a:pPr>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00" name="Google Shape;100;p7: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66" name="Google Shape;66;p2: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73" name="Google Shape;73;p3: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4: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82" name="Google Shape;82;p4: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01" name="Google Shape;101;p5: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8976" y="4593750"/>
            <a:ext cx="5511800" cy="4351973"/>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18" name="Google Shape;118;p6:notes"/>
          <p:cNvSpPr>
            <a:spLocks noGrp="1" noRot="1" noChangeAspect="1"/>
          </p:cNvSpPr>
          <p:nvPr>
            <p:ph type="sldImg" idx="2"/>
          </p:nvPr>
        </p:nvSpPr>
        <p:spPr>
          <a:xfrm>
            <a:off x="1028700" y="725488"/>
            <a:ext cx="4833938" cy="36258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18" name="Google Shape;118;p8: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31" name="Google Shape;131;p10: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69" name="Google Shape;169;p12: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75" name="Google Shape;175;p13: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4: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81" name="Google Shape;181;p14: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71" name="Google Shape;71;p2: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13" name="Google Shape;113;p5: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87" name="Google Shape;187;p10: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213" name="Google Shape;213;p11: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6: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276" name="Google Shape;276;p16: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3: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343" name="Google Shape;343;p23: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77" name="Google Shape;77;p3: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4: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83" name="Google Shape;83;p4: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5: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89" name="Google Shape;89;p5: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01" name="Google Shape;101;p7: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07" name="Google Shape;107;p8: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9: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13" name="Google Shape;113;p9: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11: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25" name="Google Shape;125;p11: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2:notes"/>
          <p:cNvSpPr txBox="1">
            <a:spLocks noGrp="1"/>
          </p:cNvSpPr>
          <p:nvPr>
            <p:ph type="body" idx="1"/>
          </p:nvPr>
        </p:nvSpPr>
        <p:spPr>
          <a:xfrm>
            <a:off x="701041" y="4415792"/>
            <a:ext cx="5608320" cy="4183380"/>
          </a:xfrm>
          <a:prstGeom prst="rect">
            <a:avLst/>
          </a:prstGeom>
        </p:spPr>
        <p:txBody>
          <a:bodyPr spcFirstLastPara="1" wrap="square" lIns="94600" tIns="47300" rIns="94600" bIns="47300" anchor="t" anchorCtr="0">
            <a:noAutofit/>
          </a:bodyPr>
          <a:lstStyle/>
          <a:p>
            <a:pPr marL="0" lvl="0" indent="0" algn="l" rtl="0">
              <a:spcBef>
                <a:spcPts val="0"/>
              </a:spcBef>
              <a:spcAft>
                <a:spcPts val="0"/>
              </a:spcAft>
              <a:buNone/>
            </a:pPr>
            <a:endParaRPr/>
          </a:p>
        </p:txBody>
      </p:sp>
      <p:sp>
        <p:nvSpPr>
          <p:cNvPr id="131" name="Google Shape;131;p12:notes"/>
          <p:cNvSpPr>
            <a:spLocks noGrp="1" noRot="1" noChangeAspect="1"/>
          </p:cNvSpPr>
          <p:nvPr>
            <p:ph type="sldImg" idx="2"/>
          </p:nvPr>
        </p:nvSpPr>
        <p:spPr>
          <a:xfrm>
            <a:off x="1181100" y="696913"/>
            <a:ext cx="4649788"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presentation 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467544" y="1556792"/>
            <a:ext cx="8208912" cy="1010543"/>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subTitle" idx="1"/>
          </p:nvPr>
        </p:nvSpPr>
        <p:spPr>
          <a:xfrm>
            <a:off x="467544" y="2852936"/>
            <a:ext cx="8208912" cy="7200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666666"/>
              </a:buClr>
              <a:buSzPts val="1600"/>
              <a:buFont typeface="Arial" panose="020B0604020202020204"/>
              <a:buNone/>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R="0" lvl="1" algn="ctr" rtl="0">
              <a:spcBef>
                <a:spcPts val="560"/>
              </a:spcBef>
              <a:spcAft>
                <a:spcPts val="0"/>
              </a:spcAft>
              <a:buClr>
                <a:srgbClr val="B18889"/>
              </a:buClr>
              <a:buSzPts val="2800"/>
              <a:buFont typeface="Arial" panose="020B0604020202020204"/>
              <a:buNone/>
              <a:defRPr sz="28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2pPr>
            <a:lvl3pPr marR="0" lvl="2" algn="ctr" rtl="0">
              <a:spcBef>
                <a:spcPts val="480"/>
              </a:spcBef>
              <a:spcAft>
                <a:spcPts val="0"/>
              </a:spcAft>
              <a:buClr>
                <a:srgbClr val="B18889"/>
              </a:buClr>
              <a:buSzPts val="2400"/>
              <a:buFont typeface="Arial" panose="020B0604020202020204"/>
              <a:buNone/>
              <a:defRPr sz="24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3pPr>
            <a:lvl4pPr marR="0" lvl="3"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4pPr>
            <a:lvl5pPr marR="0" lvl="4"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5pPr>
            <a:lvl6pPr marR="0" lvl="5"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6pPr>
            <a:lvl7pPr marR="0" lvl="6"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7pPr>
            <a:lvl8pPr marR="0" lvl="7"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8pPr>
            <a:lvl9pPr marR="0" lvl="8"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9: discussion">
  <p:cSld name="Slide 9: discussion">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467544" y="1556792"/>
            <a:ext cx="8208912" cy="1010543"/>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
          <p:cNvSpPr txBox="1">
            <a:spLocks noGrp="1"/>
          </p:cNvSpPr>
          <p:nvPr>
            <p:ph type="subTitle" idx="1"/>
          </p:nvPr>
        </p:nvSpPr>
        <p:spPr>
          <a:xfrm>
            <a:off x="467544" y="2852936"/>
            <a:ext cx="8208912" cy="72008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666666"/>
              </a:buClr>
              <a:buSzPts val="1600"/>
              <a:buFont typeface="Arial" panose="020B0604020202020204"/>
              <a:buNone/>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R="0" lvl="1" algn="ctr" rtl="0">
              <a:spcBef>
                <a:spcPts val="560"/>
              </a:spcBef>
              <a:spcAft>
                <a:spcPts val="0"/>
              </a:spcAft>
              <a:buClr>
                <a:srgbClr val="B18889"/>
              </a:buClr>
              <a:buSzPts val="2800"/>
              <a:buFont typeface="Arial" panose="020B0604020202020204"/>
              <a:buNone/>
              <a:defRPr sz="28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2pPr>
            <a:lvl3pPr marR="0" lvl="2" algn="ctr" rtl="0">
              <a:spcBef>
                <a:spcPts val="480"/>
              </a:spcBef>
              <a:spcAft>
                <a:spcPts val="0"/>
              </a:spcAft>
              <a:buClr>
                <a:srgbClr val="B18889"/>
              </a:buClr>
              <a:buSzPts val="2400"/>
              <a:buFont typeface="Arial" panose="020B0604020202020204"/>
              <a:buNone/>
              <a:defRPr sz="24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3pPr>
            <a:lvl4pPr marR="0" lvl="3"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4pPr>
            <a:lvl5pPr marR="0" lvl="4"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5pPr>
            <a:lvl6pPr marR="0" lvl="5"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6pPr>
            <a:lvl7pPr marR="0" lvl="6"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7pPr>
            <a:lvl8pPr marR="0" lvl="7"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8pPr>
            <a:lvl9pPr marR="0" lvl="8" algn="ctr" rtl="0">
              <a:spcBef>
                <a:spcPts val="400"/>
              </a:spcBef>
              <a:spcAft>
                <a:spcPts val="0"/>
              </a:spcAft>
              <a:buClr>
                <a:srgbClr val="B18889"/>
              </a:buClr>
              <a:buSzPts val="2000"/>
              <a:buFont typeface="Arial" panose="020B0604020202020204"/>
              <a:buNone/>
              <a:defRPr sz="2000" b="0" i="0" u="none" strike="noStrike" cap="none">
                <a:solidFill>
                  <a:srgbClr val="B18889"/>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3: text using bullet points">
  <p:cSld name="Slide 3: text using bullet points">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666666"/>
              </a:buClr>
              <a:buSzPts val="2400"/>
              <a:buFont typeface="Arial" panose="020B0604020202020204"/>
              <a:buChar char="•"/>
              <a:def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68300" algn="l" rtl="0">
              <a:spcBef>
                <a:spcPts val="440"/>
              </a:spcBef>
              <a:spcAft>
                <a:spcPts val="0"/>
              </a:spcAft>
              <a:buClr>
                <a:srgbClr val="666666"/>
              </a:buClr>
              <a:buSzPts val="2200"/>
              <a:buFont typeface="Arial" panose="020B0604020202020204"/>
              <a:buChar char="–"/>
              <a:def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7: image only">
  <p:cSld name="Slide 7: image only">
    <p:spTree>
      <p:nvGrpSpPr>
        <p:cNvPr id="1" name="Shape 14"/>
        <p:cNvGrpSpPr/>
        <p:nvPr/>
      </p:nvGrpSpPr>
      <p:grpSpPr>
        <a:xfrm>
          <a:off x="0" y="0"/>
          <a:ext cx="0" cy="0"/>
          <a:chOff x="0" y="0"/>
          <a:chExt cx="0" cy="0"/>
        </a:xfrm>
      </p:grpSpPr>
      <p:sp>
        <p:nvSpPr>
          <p:cNvPr id="15" name="Google Shape;15;p3"/>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lide 3: text using bullet points">
  <p:cSld name="Slide 3: text using bullet points">
    <p:spTree>
      <p:nvGrpSpPr>
        <p:cNvPr id="1" name="Shape 19"/>
        <p:cNvGrpSpPr/>
        <p:nvPr/>
      </p:nvGrpSpPr>
      <p:grpSpPr>
        <a:xfrm>
          <a:off x="0" y="0"/>
          <a:ext cx="0" cy="0"/>
          <a:chOff x="0" y="0"/>
          <a:chExt cx="0" cy="0"/>
        </a:xfrm>
      </p:grpSpPr>
      <p:sp>
        <p:nvSpPr>
          <p:cNvPr id="20" name="Google Shape;20;p5"/>
          <p:cNvSpPr txBox="1">
            <a:spLocks noGrp="1"/>
          </p:cNvSpPr>
          <p:nvPr>
            <p:ph type="ctrTitle"/>
          </p:nvPr>
        </p:nvSpPr>
        <p:spPr>
          <a:xfrm>
            <a:off x="395288" y="986117"/>
            <a:ext cx="6768752" cy="750549"/>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21" name="Google Shape;21;p5"/>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666666"/>
              </a:buClr>
              <a:buSzPts val="2400"/>
              <a:buFont typeface="Arial" panose="020B0604020202020204"/>
              <a:buChar char="•"/>
              <a:def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68300" algn="l" rtl="0">
              <a:spcBef>
                <a:spcPts val="440"/>
              </a:spcBef>
              <a:spcAft>
                <a:spcPts val="0"/>
              </a:spcAft>
              <a:buClr>
                <a:srgbClr val="666666"/>
              </a:buClr>
              <a:buSzPts val="2200"/>
              <a:buFont typeface="Arial" panose="020B0604020202020204"/>
              <a:buChar char="–"/>
              <a:def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2: text only">
  <p:cSld name="Slide 2: text only">
    <p:spTree>
      <p:nvGrpSpPr>
        <p:cNvPr id="1" name="Shape 26"/>
        <p:cNvGrpSpPr/>
        <p:nvPr/>
      </p:nvGrpSpPr>
      <p:grpSpPr>
        <a:xfrm>
          <a:off x="0" y="0"/>
          <a:ext cx="0" cy="0"/>
          <a:chOff x="0" y="0"/>
          <a:chExt cx="0" cy="0"/>
        </a:xfrm>
      </p:grpSpPr>
      <p:sp>
        <p:nvSpPr>
          <p:cNvPr id="27" name="Google Shape;27;p7"/>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8" name="Google Shape;28;p7"/>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666666"/>
              </a:buClr>
              <a:buSzPts val="2400"/>
              <a:buFont typeface="Arial" panose="020B0604020202020204"/>
              <a:buChar char="•"/>
              <a:def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68300" algn="l" rtl="0">
              <a:spcBef>
                <a:spcPts val="440"/>
              </a:spcBef>
              <a:spcAft>
                <a:spcPts val="0"/>
              </a:spcAft>
              <a:buClr>
                <a:srgbClr val="666666"/>
              </a:buClr>
              <a:buSzPts val="2200"/>
              <a:buFont typeface="Arial" panose="020B0604020202020204"/>
              <a:buChar char="–"/>
              <a:def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4: smaller text using bullet points">
  <p:cSld name="Slide 4: smaller text using bullet points">
    <p:spTree>
      <p:nvGrpSpPr>
        <p:cNvPr id="1" name="Shape 29"/>
        <p:cNvGrpSpPr/>
        <p:nvPr/>
      </p:nvGrpSpPr>
      <p:grpSpPr>
        <a:xfrm>
          <a:off x="0" y="0"/>
          <a:ext cx="0" cy="0"/>
          <a:chOff x="0" y="0"/>
          <a:chExt cx="0" cy="0"/>
        </a:xfrm>
      </p:grpSpPr>
      <p:sp>
        <p:nvSpPr>
          <p:cNvPr id="30" name="Google Shape;30;p8"/>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8"/>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666666"/>
              </a:buClr>
              <a:buSzPts val="2400"/>
              <a:buFont typeface="Arial" panose="020B0604020202020204"/>
              <a:buChar char="•"/>
              <a:def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68300" algn="l" rtl="0">
              <a:spcBef>
                <a:spcPts val="440"/>
              </a:spcBef>
              <a:spcAft>
                <a:spcPts val="0"/>
              </a:spcAft>
              <a:buClr>
                <a:srgbClr val="666666"/>
              </a:buClr>
              <a:buSzPts val="2200"/>
              <a:buFont typeface="Arial" panose="020B0604020202020204"/>
              <a:buChar char="–"/>
              <a:def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6: text with bullet points &amp; 2 images">
  <p:cSld name="Slide 6: text with bullet points &amp; 2 images">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9"/>
          <p:cNvSpPr txBox="1">
            <a:spLocks noGrp="1"/>
          </p:cNvSpPr>
          <p:nvPr>
            <p:ph type="body" idx="1"/>
          </p:nvPr>
        </p:nvSpPr>
        <p:spPr>
          <a:xfrm>
            <a:off x="395289" y="1844675"/>
            <a:ext cx="5400847" cy="4752975"/>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666666"/>
              </a:buClr>
              <a:buSzPts val="2400"/>
              <a:buFont typeface="Arial" panose="020B0604020202020204"/>
              <a:buChar char="•"/>
              <a:def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68300" algn="l" rtl="0">
              <a:spcBef>
                <a:spcPts val="440"/>
              </a:spcBef>
              <a:spcAft>
                <a:spcPts val="0"/>
              </a:spcAft>
              <a:buClr>
                <a:srgbClr val="666666"/>
              </a:buClr>
              <a:buSzPts val="2200"/>
              <a:buFont typeface="Arial" panose="020B0604020202020204"/>
              <a:buChar char="–"/>
              <a:def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lide 7: image only">
  <p:cSld name="Slide 7: image only">
    <p:spTree>
      <p:nvGrpSpPr>
        <p:cNvPr id="1" name="Shape 35"/>
        <p:cNvGrpSpPr/>
        <p:nvPr/>
      </p:nvGrpSpPr>
      <p:grpSpPr>
        <a:xfrm>
          <a:off x="0" y="0"/>
          <a:ext cx="0" cy="0"/>
          <a:chOff x="0" y="0"/>
          <a:chExt cx="0" cy="0"/>
        </a:xfrm>
      </p:grpSpPr>
      <p:sp>
        <p:nvSpPr>
          <p:cNvPr id="36" name="Google Shape;36;p10"/>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lide 8: blank slide">
  <p:cSld name="Slide 8: blank slide">
    <p:spTree>
      <p:nvGrpSpPr>
        <p:cNvPr id="1" name="Shape 37"/>
        <p:cNvGrpSpPr/>
        <p:nvPr/>
      </p:nvGrpSpPr>
      <p:grpSpPr>
        <a:xfrm>
          <a:off x="0" y="0"/>
          <a:ext cx="0" cy="0"/>
          <a:chOff x="0" y="0"/>
          <a:chExt cx="0" cy="0"/>
        </a:xfrm>
      </p:grpSpPr>
      <p:sp>
        <p:nvSpPr>
          <p:cNvPr id="38" name="Google Shape;38;p11"/>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2: text only">
  <p:cSld name="Slide 2: text only">
    <p:spTree>
      <p:nvGrpSpPr>
        <p:cNvPr id="1" name="Shape 41"/>
        <p:cNvGrpSpPr/>
        <p:nvPr/>
      </p:nvGrpSpPr>
      <p:grpSpPr>
        <a:xfrm>
          <a:off x="0" y="0"/>
          <a:ext cx="0" cy="0"/>
          <a:chOff x="0" y="0"/>
          <a:chExt cx="0" cy="0"/>
        </a:xfrm>
      </p:grpSpPr>
      <p:sp>
        <p:nvSpPr>
          <p:cNvPr id="42" name="Google Shape;42;p13"/>
          <p:cNvSpPr txBox="1">
            <a:spLocks noGrp="1"/>
          </p:cNvSpPr>
          <p:nvPr>
            <p:ph type="body" idx="1"/>
          </p:nvPr>
        </p:nvSpPr>
        <p:spPr>
          <a:xfrm>
            <a:off x="395288" y="1844678"/>
            <a:ext cx="8425184" cy="475297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400"/>
              </a:spcBef>
              <a:spcAft>
                <a:spcPts val="0"/>
              </a:spcAft>
              <a:buClr>
                <a:srgbClr val="666666"/>
              </a:buClr>
              <a:buSzPts val="2000"/>
              <a:buFont typeface="Arial" panose="020B0604020202020204"/>
              <a:buNone/>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49250" algn="l" rtl="0">
              <a:spcBef>
                <a:spcPts val="380"/>
              </a:spcBef>
              <a:spcAft>
                <a:spcPts val="0"/>
              </a:spcAft>
              <a:buClr>
                <a:srgbClr val="666666"/>
              </a:buClr>
              <a:buSzPts val="1900"/>
              <a:buFont typeface="Arial" panose="020B0604020202020204"/>
              <a:buChar char="–"/>
              <a:defRPr sz="19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36550" algn="l" rtl="0">
              <a:spcBef>
                <a:spcPts val="340"/>
              </a:spcBef>
              <a:spcAft>
                <a:spcPts val="0"/>
              </a:spcAft>
              <a:buClr>
                <a:srgbClr val="666666"/>
              </a:buClr>
              <a:buSzPts val="1700"/>
              <a:buFont typeface="Arial" panose="020B0604020202020204"/>
              <a:buChar char="–"/>
              <a:defRPr sz="17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3" name="Google Shape;43;p13"/>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3: text using bullet points">
  <p:cSld name="Slide 3: text using bullet points">
    <p:spTree>
      <p:nvGrpSpPr>
        <p:cNvPr id="1" name="Shape 44"/>
        <p:cNvGrpSpPr/>
        <p:nvPr/>
      </p:nvGrpSpPr>
      <p:grpSpPr>
        <a:xfrm>
          <a:off x="0" y="0"/>
          <a:ext cx="0" cy="0"/>
          <a:chOff x="0" y="0"/>
          <a:chExt cx="0" cy="0"/>
        </a:xfrm>
      </p:grpSpPr>
      <p:sp>
        <p:nvSpPr>
          <p:cNvPr id="45" name="Google Shape;45;p14"/>
          <p:cNvSpPr txBox="1">
            <a:spLocks noGrp="1"/>
          </p:cNvSpPr>
          <p:nvPr>
            <p:ph type="body" idx="1"/>
          </p:nvPr>
        </p:nvSpPr>
        <p:spPr>
          <a:xfrm>
            <a:off x="395288" y="1844678"/>
            <a:ext cx="8425184" cy="4752975"/>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49250" algn="l" rtl="0">
              <a:spcBef>
                <a:spcPts val="380"/>
              </a:spcBef>
              <a:spcAft>
                <a:spcPts val="0"/>
              </a:spcAft>
              <a:buClr>
                <a:srgbClr val="666666"/>
              </a:buClr>
              <a:buSzPts val="1900"/>
              <a:buFont typeface="Arial" panose="020B0604020202020204"/>
              <a:buChar char="–"/>
              <a:defRPr sz="19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36550" algn="l" rtl="0">
              <a:spcBef>
                <a:spcPts val="340"/>
              </a:spcBef>
              <a:spcAft>
                <a:spcPts val="0"/>
              </a:spcAft>
              <a:buClr>
                <a:srgbClr val="666666"/>
              </a:buClr>
              <a:buSzPts val="1700"/>
              <a:buFont typeface="Arial" panose="020B0604020202020204"/>
              <a:buChar char="–"/>
              <a:defRPr sz="17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6" name="Google Shape;46;p14"/>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4: smaller text using bullet points">
  <p:cSld name="Slide 4: smaller text using bullet points">
    <p:spTree>
      <p:nvGrpSpPr>
        <p:cNvPr id="1" name="Shape 47"/>
        <p:cNvGrpSpPr/>
        <p:nvPr/>
      </p:nvGrpSpPr>
      <p:grpSpPr>
        <a:xfrm>
          <a:off x="0" y="0"/>
          <a:ext cx="0" cy="0"/>
          <a:chOff x="0" y="0"/>
          <a:chExt cx="0" cy="0"/>
        </a:xfrm>
      </p:grpSpPr>
      <p:sp>
        <p:nvSpPr>
          <p:cNvPr id="48" name="Google Shape;48;p15"/>
          <p:cNvSpPr txBox="1">
            <a:spLocks noGrp="1"/>
          </p:cNvSpPr>
          <p:nvPr>
            <p:ph type="body" idx="1"/>
          </p:nvPr>
        </p:nvSpPr>
        <p:spPr>
          <a:xfrm>
            <a:off x="395288" y="1844678"/>
            <a:ext cx="8425184" cy="4752975"/>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49250" algn="l" rtl="0">
              <a:spcBef>
                <a:spcPts val="380"/>
              </a:spcBef>
              <a:spcAft>
                <a:spcPts val="0"/>
              </a:spcAft>
              <a:buClr>
                <a:srgbClr val="666666"/>
              </a:buClr>
              <a:buSzPts val="1900"/>
              <a:buFont typeface="Arial" panose="020B0604020202020204"/>
              <a:buChar char="–"/>
              <a:defRPr sz="19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36550" algn="l" rtl="0">
              <a:spcBef>
                <a:spcPts val="340"/>
              </a:spcBef>
              <a:spcAft>
                <a:spcPts val="0"/>
              </a:spcAft>
              <a:buClr>
                <a:srgbClr val="666666"/>
              </a:buClr>
              <a:buSzPts val="1700"/>
              <a:buFont typeface="Arial" panose="020B0604020202020204"/>
              <a:buChar char="–"/>
              <a:defRPr sz="17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9" name="Google Shape;49;p15"/>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5: text with bullet points &amp; 1 image">
  <p:cSld name="Slide 5: text with bullet points &amp; 1 image">
    <p:spTree>
      <p:nvGrpSpPr>
        <p:cNvPr id="1" name="Shape 50"/>
        <p:cNvGrpSpPr/>
        <p:nvPr/>
      </p:nvGrpSpPr>
      <p:grpSpPr>
        <a:xfrm>
          <a:off x="0" y="0"/>
          <a:ext cx="0" cy="0"/>
          <a:chOff x="0" y="0"/>
          <a:chExt cx="0" cy="0"/>
        </a:xfrm>
      </p:grpSpPr>
      <p:sp>
        <p:nvSpPr>
          <p:cNvPr id="51" name="Google Shape;51;p16"/>
          <p:cNvSpPr txBox="1"/>
          <p:nvPr/>
        </p:nvSpPr>
        <p:spPr>
          <a:xfrm>
            <a:off x="3234022" y="3660229"/>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2" name="Google Shape;52;p16"/>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 name="Google Shape;53;p16"/>
          <p:cNvSpPr txBox="1">
            <a:spLocks noGrp="1"/>
          </p:cNvSpPr>
          <p:nvPr>
            <p:ph type="body" idx="1"/>
          </p:nvPr>
        </p:nvSpPr>
        <p:spPr>
          <a:xfrm>
            <a:off x="395288" y="1844678"/>
            <a:ext cx="5976912" cy="4752975"/>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49250" algn="l" rtl="0">
              <a:spcBef>
                <a:spcPts val="380"/>
              </a:spcBef>
              <a:spcAft>
                <a:spcPts val="0"/>
              </a:spcAft>
              <a:buClr>
                <a:srgbClr val="666666"/>
              </a:buClr>
              <a:buSzPts val="1900"/>
              <a:buFont typeface="Arial" panose="020B0604020202020204"/>
              <a:buChar char="–"/>
              <a:defRPr sz="19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36550" algn="l" rtl="0">
              <a:spcBef>
                <a:spcPts val="340"/>
              </a:spcBef>
              <a:spcAft>
                <a:spcPts val="0"/>
              </a:spcAft>
              <a:buClr>
                <a:srgbClr val="666666"/>
              </a:buClr>
              <a:buSzPts val="1700"/>
              <a:buFont typeface="Arial" panose="020B0604020202020204"/>
              <a:buChar char="–"/>
              <a:defRPr sz="17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6: text with bullet points &amp; 2 images">
  <p:cSld name="Slide 6: text with bullet points &amp; 2 images">
    <p:spTree>
      <p:nvGrpSpPr>
        <p:cNvPr id="1" name="Shape 54"/>
        <p:cNvGrpSpPr/>
        <p:nvPr/>
      </p:nvGrpSpPr>
      <p:grpSpPr>
        <a:xfrm>
          <a:off x="0" y="0"/>
          <a:ext cx="0" cy="0"/>
          <a:chOff x="0" y="0"/>
          <a:chExt cx="0" cy="0"/>
        </a:xfrm>
      </p:grpSpPr>
      <p:sp>
        <p:nvSpPr>
          <p:cNvPr id="55" name="Google Shape;55;p17"/>
          <p:cNvSpPr txBox="1">
            <a:spLocks noGrp="1"/>
          </p:cNvSpPr>
          <p:nvPr>
            <p:ph type="body" idx="1"/>
          </p:nvPr>
        </p:nvSpPr>
        <p:spPr>
          <a:xfrm>
            <a:off x="395288" y="1844678"/>
            <a:ext cx="5976912" cy="4752975"/>
          </a:xfrm>
          <a:prstGeom prst="rect">
            <a:avLst/>
          </a:prstGeom>
          <a:noFill/>
          <a:ln>
            <a:noFill/>
          </a:ln>
        </p:spPr>
        <p:txBody>
          <a:bodyPr spcFirstLastPara="1" wrap="square" lIns="91425" tIns="45700" rIns="91425" bIns="45700" anchor="t" anchorCtr="0">
            <a:noAutofit/>
          </a:bodyPr>
          <a:lstStyle>
            <a:lvl1pPr marL="457200" marR="0" lvl="0" indent="-355600" algn="l" rtl="0">
              <a:spcBef>
                <a:spcPts val="400"/>
              </a:spcBef>
              <a:spcAft>
                <a:spcPts val="0"/>
              </a:spcAft>
              <a:buClr>
                <a:srgbClr val="666666"/>
              </a:buClr>
              <a:buSzPts val="2000"/>
              <a:buFont typeface="Arial" panose="020B0604020202020204"/>
              <a:buChar char="•"/>
              <a:defRPr sz="20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1pPr>
            <a:lvl2pPr marL="914400" marR="0" lvl="1" indent="-349250" algn="l" rtl="0">
              <a:spcBef>
                <a:spcPts val="380"/>
              </a:spcBef>
              <a:spcAft>
                <a:spcPts val="0"/>
              </a:spcAft>
              <a:buClr>
                <a:srgbClr val="666666"/>
              </a:buClr>
              <a:buSzPts val="1900"/>
              <a:buFont typeface="Arial" panose="020B0604020202020204"/>
              <a:buChar char="–"/>
              <a:defRPr sz="19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2pPr>
            <a:lvl3pPr marL="1371600" marR="0" lvl="2" indent="-342900" algn="l" rtl="0">
              <a:spcBef>
                <a:spcPts val="360"/>
              </a:spcBef>
              <a:spcAft>
                <a:spcPts val="0"/>
              </a:spcAft>
              <a:buClr>
                <a:srgbClr val="666666"/>
              </a:buClr>
              <a:buSzPts val="1800"/>
              <a:buFont typeface="Arial" panose="020B0604020202020204"/>
              <a:buChar char="•"/>
              <a:defRPr sz="18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3pPr>
            <a:lvl4pPr marL="1828800" marR="0" lvl="3" indent="-336550" algn="l" rtl="0">
              <a:spcBef>
                <a:spcPts val="340"/>
              </a:spcBef>
              <a:spcAft>
                <a:spcPts val="0"/>
              </a:spcAft>
              <a:buClr>
                <a:srgbClr val="666666"/>
              </a:buClr>
              <a:buSzPts val="1700"/>
              <a:buFont typeface="Arial" panose="020B0604020202020204"/>
              <a:buChar char="–"/>
              <a:defRPr sz="17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4pPr>
            <a:lvl5pPr marL="2286000" marR="0" lvl="4" indent="-330200" algn="l" rtl="0">
              <a:spcBef>
                <a:spcPts val="320"/>
              </a:spcBef>
              <a:spcAft>
                <a:spcPts val="0"/>
              </a:spcAft>
              <a:buClr>
                <a:srgbClr val="666666"/>
              </a:buClr>
              <a:buSzPts val="1600"/>
              <a:buFont typeface="Arial" panose="020B0604020202020204"/>
              <a:buChar char="»"/>
              <a:defRPr sz="1600" b="0" i="0" u="none" strike="noStrike" cap="none">
                <a:solidFill>
                  <a:srgbClr val="666666"/>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6" name="Google Shape;56;p17"/>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lide 7: image only">
  <p:cSld name="Slide 7: image only">
    <p:spTree>
      <p:nvGrpSpPr>
        <p:cNvPr id="1" name="Shape 57"/>
        <p:cNvGrpSpPr/>
        <p:nvPr/>
      </p:nvGrpSpPr>
      <p:grpSpPr>
        <a:xfrm>
          <a:off x="0" y="0"/>
          <a:ext cx="0" cy="0"/>
          <a:chOff x="0" y="0"/>
          <a:chExt cx="0" cy="0"/>
        </a:xfrm>
      </p:grpSpPr>
      <p:sp>
        <p:nvSpPr>
          <p:cNvPr id="58" name="Google Shape;58;p18"/>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lide 8: blank slide">
  <p:cSld name="Slide 8: blank slide">
    <p:spTree>
      <p:nvGrpSpPr>
        <p:cNvPr id="1" name="Shape 59"/>
        <p:cNvGrpSpPr/>
        <p:nvPr/>
      </p:nvGrpSpPr>
      <p:grpSpPr>
        <a:xfrm>
          <a:off x="0" y="0"/>
          <a:ext cx="0" cy="0"/>
          <a:chOff x="0" y="0"/>
          <a:chExt cx="0" cy="0"/>
        </a:xfrm>
      </p:grpSpPr>
      <p:sp>
        <p:nvSpPr>
          <p:cNvPr id="60" name="Google Shape;60;p19"/>
          <p:cNvSpPr txBox="1">
            <a:spLocks noGrp="1"/>
          </p:cNvSpPr>
          <p:nvPr>
            <p:ph type="ctrTitle"/>
          </p:nvPr>
        </p:nvSpPr>
        <p:spPr>
          <a:xfrm>
            <a:off x="395536" y="548680"/>
            <a:ext cx="6768752" cy="1152128"/>
          </a:xfrm>
          <a:prstGeom prst="rect">
            <a:avLst/>
          </a:prstGeom>
          <a:noFill/>
          <a:ln>
            <a:noFill/>
          </a:ln>
        </p:spPr>
        <p:txBody>
          <a:bodyPr spcFirstLastPara="1" wrap="square" lIns="91425" tIns="45700" rIns="91425" bIns="45700" anchor="t" anchorCtr="0">
            <a:noAutofit/>
          </a:bodyPr>
          <a:lstStyle>
            <a:lvl1pPr marR="0" lvl="0" algn="l" rtl="0">
              <a:lnSpc>
                <a:spcPct val="80000"/>
              </a:lnSpc>
              <a:spcBef>
                <a:spcPts val="0"/>
              </a:spcBef>
              <a:spcAft>
                <a:spcPts val="0"/>
              </a:spcAft>
              <a:buClr>
                <a:srgbClr val="B5121B"/>
              </a:buClr>
              <a:buSzPts val="2600"/>
              <a:buFont typeface="Calibri" panose="020F0502020204030204"/>
              <a:buNone/>
              <a:defRPr sz="2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hyperlink" Target="https://www.theverge.com/2022/6/7/23156361/european-union-usb-c-wired-charging-iphone-lightning-ewast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0"/>
          <p:cNvSpPr txBox="1">
            <a:spLocks noGrp="1"/>
          </p:cNvSpPr>
          <p:nvPr>
            <p:ph type="subTitle" idx="1"/>
          </p:nvPr>
        </p:nvSpPr>
        <p:spPr>
          <a:xfrm>
            <a:off x="467544" y="2852936"/>
            <a:ext cx="8208912" cy="72008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666666"/>
              </a:buClr>
              <a:buSzPts val="1600"/>
              <a:buNone/>
            </a:pPr>
            <a:r>
              <a:rPr lang="en-US" dirty="0"/>
              <a:t>First Semester 2023/2024 Academic Session</a:t>
            </a:r>
            <a:endParaRPr dirty="0"/>
          </a:p>
        </p:txBody>
      </p:sp>
      <p:sp>
        <p:nvSpPr>
          <p:cNvPr id="67" name="Google Shape;67;p20"/>
          <p:cNvSpPr txBox="1"/>
          <p:nvPr/>
        </p:nvSpPr>
        <p:spPr>
          <a:xfrm>
            <a:off x="578953" y="5445224"/>
            <a:ext cx="7471917" cy="89255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Calibri" panose="020F0502020204030204"/>
                <a:ea typeface="Calibri" panose="020F0502020204030204"/>
                <a:cs typeface="Calibri" panose="020F0502020204030204"/>
                <a:sym typeface="Calibri" panose="020F0502020204030204"/>
              </a:rPr>
              <a:t>Dr. Armaya’u Zango Umar</a:t>
            </a:r>
          </a:p>
          <a:p>
            <a:pPr marL="0" marR="0" lvl="0" indent="0" algn="ctr" rtl="0">
              <a:spcBef>
                <a:spcPts val="0"/>
              </a:spcBef>
              <a:spcAft>
                <a:spcPts val="0"/>
              </a:spcAft>
              <a:buNone/>
            </a:pPr>
            <a:r>
              <a:rPr lang="en-US" sz="1400" b="1" i="1" u="none" strike="noStrike" cap="none">
                <a:solidFill>
                  <a:srgbClr val="FFFFFF"/>
                </a:solidFill>
                <a:latin typeface="Calibri" panose="020F0502020204030204"/>
                <a:ea typeface="Calibri" panose="020F0502020204030204"/>
                <a:cs typeface="Calibri" panose="020F0502020204030204"/>
                <a:sym typeface="Calibri" panose="020F0502020204030204"/>
              </a:rPr>
              <a:t>B.Sc. Computer Sci. (AUK), M.Sc. Computer Sci. (UCLAN -UK) Ph.D. Computer Sci. (LANCASTER - UK)</a:t>
            </a:r>
            <a:endParaRPr sz="14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400" b="0" i="0" u="none" strike="noStrike" cap="none">
              <a:solidFill>
                <a:srgbClr val="FFFFFF"/>
              </a:solidFill>
              <a:latin typeface="Calibri" panose="020F0502020204030204"/>
              <a:ea typeface="Calibri" panose="020F0502020204030204"/>
              <a:cs typeface="Calibri" panose="020F0502020204030204"/>
              <a:sym typeface="Calibri" panose="020F0502020204030204"/>
            </a:endParaRPr>
          </a:p>
        </p:txBody>
      </p:sp>
      <p:sp>
        <p:nvSpPr>
          <p:cNvPr id="68" name="Google Shape;68;p20"/>
          <p:cNvSpPr txBox="1">
            <a:spLocks noGrp="1"/>
          </p:cNvSpPr>
          <p:nvPr>
            <p:ph type="ctrTitle"/>
          </p:nvPr>
        </p:nvSpPr>
        <p:spPr>
          <a:xfrm>
            <a:off x="467544" y="1556792"/>
            <a:ext cx="8208912" cy="1010543"/>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CSC4311: SOFTWARE ENGINEERING</a:t>
            </a:r>
            <a:endParaRPr sz="2400" dirty="0"/>
          </a:p>
        </p:txBody>
      </p:sp>
      <p:sp>
        <p:nvSpPr>
          <p:cNvPr id="2" name="Rectangle 1"/>
          <p:cNvSpPr/>
          <p:nvPr/>
        </p:nvSpPr>
        <p:spPr>
          <a:xfrm>
            <a:off x="4454820" y="3275112"/>
            <a:ext cx="234360" cy="307777"/>
          </a:xfrm>
          <a:prstGeom prst="rect">
            <a:avLst/>
          </a:prstGeom>
        </p:spPr>
        <p:txBody>
          <a:bodyPr wrap="none">
            <a:spAutoFit/>
          </a:bodyPr>
          <a:lstStyle/>
          <a:p>
            <a:r>
              <a:rPr lang="en-GB" dirty="0"/>
              <a:t> </a:t>
            </a:r>
          </a:p>
        </p:txBody>
      </p:sp>
      <p:sp>
        <p:nvSpPr>
          <p:cNvPr id="3" name="Rectangle 2"/>
          <p:cNvSpPr/>
          <p:nvPr/>
        </p:nvSpPr>
        <p:spPr>
          <a:xfrm>
            <a:off x="4454820" y="3275112"/>
            <a:ext cx="234360" cy="307777"/>
          </a:xfrm>
          <a:prstGeom prst="rect">
            <a:avLst/>
          </a:prstGeom>
        </p:spPr>
        <p:txBody>
          <a:bodyPr wrap="none">
            <a:spAutoFit/>
          </a:bodyPr>
          <a:lstStyle/>
          <a:p>
            <a:r>
              <a:rPr lang="en-GB" dirty="0"/>
              <a:t> </a:t>
            </a:r>
          </a:p>
        </p:txBody>
      </p:sp>
      <p:sp>
        <p:nvSpPr>
          <p:cNvPr id="7" name="Google Shape;68;p20"/>
          <p:cNvSpPr txBox="1"/>
          <p:nvPr/>
        </p:nvSpPr>
        <p:spPr>
          <a:xfrm>
            <a:off x="350364" y="3353345"/>
            <a:ext cx="8208912" cy="10105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nSpc>
                <a:spcPct val="146000"/>
              </a:lnSpc>
              <a:buSzPts val="2400"/>
            </a:pPr>
            <a:r>
              <a:rPr lang="en-US" sz="2400" dirty="0"/>
              <a:t>Principles of OOSD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7"/>
          <p:cNvSpPr txBox="1">
            <a:spLocks noGrp="1"/>
          </p:cNvSpPr>
          <p:nvPr>
            <p:ph type="ctrTitle"/>
          </p:nvPr>
        </p:nvSpPr>
        <p:spPr>
          <a:xfrm>
            <a:off x="539552" y="980728"/>
            <a:ext cx="6768752" cy="720080"/>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GB" sz="2400" dirty="0"/>
              <a:t>Inheritance </a:t>
            </a:r>
            <a:endParaRPr sz="2400" dirty="0"/>
          </a:p>
        </p:txBody>
      </p:sp>
      <p:sp>
        <p:nvSpPr>
          <p:cNvPr id="58" name="Google Shape;58;p17"/>
          <p:cNvSpPr txBox="1">
            <a:spLocks noGrp="1"/>
          </p:cNvSpPr>
          <p:nvPr>
            <p:ph type="body" idx="1"/>
          </p:nvPr>
        </p:nvSpPr>
        <p:spPr>
          <a:xfrm>
            <a:off x="179512" y="1671309"/>
            <a:ext cx="8425184" cy="677571"/>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GB">
                <a:latin typeface="Times New Roman" panose="02020603050405020304"/>
                <a:ea typeface="Times New Roman" panose="02020603050405020304"/>
                <a:cs typeface="Times New Roman" panose="02020603050405020304"/>
                <a:sym typeface="Times New Roman" panose="02020603050405020304"/>
              </a:rPr>
              <a:t>A class can inherit from other class</a:t>
            </a:r>
          </a:p>
          <a:p>
            <a:pPr marL="342900" lvl="0" indent="-342900" algn="l" rtl="0">
              <a:spcBef>
                <a:spcPts val="480"/>
              </a:spcBef>
              <a:spcAft>
                <a:spcPts val="0"/>
              </a:spcAft>
              <a:buClr>
                <a:srgbClr val="666666"/>
              </a:buClr>
              <a:buSzPts val="2400"/>
              <a:buChar char="•"/>
            </a:pPr>
            <a:r>
              <a:rPr lang="en-GB">
                <a:latin typeface="Times New Roman" panose="02020603050405020304"/>
                <a:ea typeface="Times New Roman" panose="02020603050405020304"/>
                <a:cs typeface="Times New Roman" panose="02020603050405020304"/>
                <a:sym typeface="Times New Roman" panose="02020603050405020304"/>
              </a:rPr>
              <a:t>Classes are organized in hierarchical structure </a:t>
            </a:r>
            <a:endParaRPr>
              <a:latin typeface="Times New Roman" panose="02020603050405020304"/>
              <a:ea typeface="Times New Roman" panose="02020603050405020304"/>
              <a:cs typeface="Times New Roman" panose="02020603050405020304"/>
              <a:sym typeface="Times New Roman" panose="02020603050405020304"/>
            </a:endParaRPr>
          </a:p>
          <a:p>
            <a:pPr marL="342900" lvl="0" indent="-190500" algn="l" rtl="0">
              <a:spcBef>
                <a:spcPts val="480"/>
              </a:spcBef>
              <a:spcAft>
                <a:spcPts val="0"/>
              </a:spcAft>
              <a:buClr>
                <a:srgbClr val="666666"/>
              </a:buClr>
              <a:buSzPts val="24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59" name="Google Shape;59;p17"/>
          <p:cNvSpPr/>
          <p:nvPr/>
        </p:nvSpPr>
        <p:spPr>
          <a:xfrm>
            <a:off x="3120223" y="2639562"/>
            <a:ext cx="1756254" cy="493946"/>
          </a:xfrm>
          <a:prstGeom prst="rect">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000" b="0" i="0" u="none" strike="noStrike" cap="none">
                <a:solidFill>
                  <a:schemeClr val="lt1"/>
                </a:solidFill>
                <a:latin typeface="Calibri" panose="020F0502020204030204"/>
                <a:ea typeface="Calibri" panose="020F0502020204030204"/>
                <a:cs typeface="Calibri" panose="020F0502020204030204"/>
                <a:sym typeface="Calibri" panose="020F0502020204030204"/>
              </a:rPr>
              <a:t>User</a:t>
            </a:r>
            <a:endParaRPr sz="20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0" name="Google Shape;60;p17"/>
          <p:cNvSpPr/>
          <p:nvPr/>
        </p:nvSpPr>
        <p:spPr>
          <a:xfrm>
            <a:off x="1363969" y="3871158"/>
            <a:ext cx="1756254" cy="493946"/>
          </a:xfrm>
          <a:prstGeom prst="rect">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000" b="0" i="0" u="none" strike="noStrike" cap="none">
                <a:solidFill>
                  <a:schemeClr val="lt1"/>
                </a:solidFill>
                <a:latin typeface="Calibri" panose="020F0502020204030204"/>
                <a:ea typeface="Calibri" panose="020F0502020204030204"/>
                <a:cs typeface="Calibri" panose="020F0502020204030204"/>
                <a:sym typeface="Calibri" panose="020F0502020204030204"/>
              </a:rPr>
              <a:t>Student</a:t>
            </a:r>
            <a:endParaRPr sz="20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61" name="Google Shape;61;p17"/>
          <p:cNvSpPr/>
          <p:nvPr/>
        </p:nvSpPr>
        <p:spPr>
          <a:xfrm>
            <a:off x="4716016" y="3871158"/>
            <a:ext cx="1756254" cy="493946"/>
          </a:xfrm>
          <a:prstGeom prst="rect">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GB" sz="2000" b="0" i="0" u="none" strike="noStrike" cap="none">
                <a:solidFill>
                  <a:schemeClr val="lt1"/>
                </a:solidFill>
                <a:latin typeface="Calibri" panose="020F0502020204030204"/>
                <a:ea typeface="Calibri" panose="020F0502020204030204"/>
                <a:cs typeface="Calibri" panose="020F0502020204030204"/>
                <a:sym typeface="Calibri" panose="020F0502020204030204"/>
              </a:rPr>
              <a:t>Staff</a:t>
            </a:r>
            <a:endParaRPr sz="20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62" name="Google Shape;62;p17"/>
          <p:cNvCxnSpPr/>
          <p:nvPr/>
        </p:nvCxnSpPr>
        <p:spPr>
          <a:xfrm>
            <a:off x="3998350" y="3434301"/>
            <a:ext cx="0" cy="138715"/>
          </a:xfrm>
          <a:prstGeom prst="straightConnector1">
            <a:avLst/>
          </a:prstGeom>
          <a:noFill/>
          <a:ln w="19050" cap="flat" cmpd="sng">
            <a:solidFill>
              <a:schemeClr val="dk1"/>
            </a:solidFill>
            <a:prstDash val="solid"/>
            <a:round/>
            <a:headEnd type="none" w="sm" len="sm"/>
            <a:tailEnd type="none" w="sm" len="sm"/>
          </a:ln>
        </p:spPr>
      </p:cxnSp>
      <p:sp>
        <p:nvSpPr>
          <p:cNvPr id="63" name="Google Shape;63;p17"/>
          <p:cNvSpPr/>
          <p:nvPr/>
        </p:nvSpPr>
        <p:spPr>
          <a:xfrm>
            <a:off x="3854334" y="3140968"/>
            <a:ext cx="288032" cy="293333"/>
          </a:xfrm>
          <a:prstGeom prst="triangle">
            <a:avLst>
              <a:gd name="adj" fmla="val 50000"/>
            </a:avLst>
          </a:pr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64" name="Google Shape;64;p17"/>
          <p:cNvCxnSpPr/>
          <p:nvPr/>
        </p:nvCxnSpPr>
        <p:spPr>
          <a:xfrm>
            <a:off x="2411760" y="3573016"/>
            <a:ext cx="0" cy="252028"/>
          </a:xfrm>
          <a:prstGeom prst="straightConnector1">
            <a:avLst/>
          </a:prstGeom>
          <a:noFill/>
          <a:ln w="19050" cap="flat" cmpd="sng">
            <a:solidFill>
              <a:schemeClr val="dk1"/>
            </a:solidFill>
            <a:prstDash val="solid"/>
            <a:round/>
            <a:headEnd type="none" w="sm" len="sm"/>
            <a:tailEnd type="none" w="sm" len="sm"/>
          </a:ln>
        </p:spPr>
      </p:cxnSp>
      <p:cxnSp>
        <p:nvCxnSpPr>
          <p:cNvPr id="65" name="Google Shape;65;p17"/>
          <p:cNvCxnSpPr/>
          <p:nvPr/>
        </p:nvCxnSpPr>
        <p:spPr>
          <a:xfrm>
            <a:off x="5555666" y="3560315"/>
            <a:ext cx="0" cy="310843"/>
          </a:xfrm>
          <a:prstGeom prst="straightConnector1">
            <a:avLst/>
          </a:prstGeom>
          <a:noFill/>
          <a:ln w="19050" cap="flat" cmpd="sng">
            <a:solidFill>
              <a:schemeClr val="dk1"/>
            </a:solidFill>
            <a:prstDash val="solid"/>
            <a:round/>
            <a:headEnd type="none" w="sm" len="sm"/>
            <a:tailEnd type="none" w="sm" len="sm"/>
          </a:ln>
        </p:spPr>
      </p:cxnSp>
      <p:cxnSp>
        <p:nvCxnSpPr>
          <p:cNvPr id="66" name="Google Shape;66;p17"/>
          <p:cNvCxnSpPr/>
          <p:nvPr/>
        </p:nvCxnSpPr>
        <p:spPr>
          <a:xfrm flipH="1">
            <a:off x="2411760" y="3560315"/>
            <a:ext cx="3143906" cy="12701"/>
          </a:xfrm>
          <a:prstGeom prst="straightConnector1">
            <a:avLst/>
          </a:prstGeom>
          <a:noFill/>
          <a:ln w="19050" cap="flat" cmpd="sng">
            <a:solidFill>
              <a:schemeClr val="dk1"/>
            </a:solidFill>
            <a:prstDash val="solid"/>
            <a:round/>
            <a:headEnd type="none" w="sm" len="sm"/>
            <a:tailEnd type="none" w="sm" len="sm"/>
          </a:ln>
        </p:spPr>
      </p:cxnSp>
      <p:sp>
        <p:nvSpPr>
          <p:cNvPr id="67" name="Google Shape;67;p17"/>
          <p:cNvSpPr txBox="1"/>
          <p:nvPr/>
        </p:nvSpPr>
        <p:spPr>
          <a:xfrm>
            <a:off x="179512" y="5085184"/>
            <a:ext cx="8641208" cy="1224136"/>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666666"/>
              </a:buClr>
              <a:buSzPts val="2400"/>
              <a:buFont typeface="Arial" panose="020B0604020202020204"/>
              <a:buChar char="•"/>
            </a:pP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The advantage is </a:t>
            </a:r>
            <a:r>
              <a:rPr lang="en-GB" sz="2400" b="0" i="0" u="none" strike="noStrike" cap="none">
                <a:solidFill>
                  <a:schemeClr val="accent2"/>
                </a:solidFill>
                <a:latin typeface="Calibri" panose="020F0502020204030204"/>
                <a:ea typeface="Calibri" panose="020F0502020204030204"/>
                <a:cs typeface="Calibri" panose="020F0502020204030204"/>
                <a:sym typeface="Calibri" panose="020F0502020204030204"/>
              </a:rPr>
              <a:t>code-reusability</a:t>
            </a: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 </a:t>
            </a:r>
          </a:p>
          <a:p>
            <a:pPr marL="342900" marR="0" lvl="0" indent="-342900" algn="l" rtl="0">
              <a:spcBef>
                <a:spcPts val="0"/>
              </a:spcBef>
              <a:spcAft>
                <a:spcPts val="0"/>
              </a:spcAft>
              <a:buClr>
                <a:srgbClr val="666666"/>
              </a:buClr>
              <a:buSzPts val="2400"/>
              <a:buFont typeface="Arial" panose="020B0604020202020204"/>
              <a:buChar char="•"/>
            </a:pP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After implementing the </a:t>
            </a:r>
            <a:r>
              <a:rPr lang="en-GB" sz="2400" b="0" i="0" u="none" strike="noStrike" cap="none">
                <a:solidFill>
                  <a:schemeClr val="accent2"/>
                </a:solidFill>
                <a:latin typeface="Calibri" panose="020F0502020204030204"/>
                <a:ea typeface="Calibri" panose="020F0502020204030204"/>
                <a:cs typeface="Calibri" panose="020F0502020204030204"/>
                <a:sym typeface="Calibri" panose="020F0502020204030204"/>
              </a:rPr>
              <a:t>User</a:t>
            </a: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 class, to implement the </a:t>
            </a:r>
            <a:r>
              <a:rPr lang="en-GB" sz="2400" b="0" i="0" u="none" strike="noStrike" cap="none">
                <a:solidFill>
                  <a:schemeClr val="accent2"/>
                </a:solidFill>
                <a:latin typeface="Calibri" panose="020F0502020204030204"/>
                <a:ea typeface="Calibri" panose="020F0502020204030204"/>
                <a:cs typeface="Calibri" panose="020F0502020204030204"/>
                <a:sym typeface="Calibri" panose="020F0502020204030204"/>
              </a:rPr>
              <a:t>Student and Staff classes</a:t>
            </a: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 we inherit the code from </a:t>
            </a:r>
            <a:r>
              <a:rPr lang="en-GB" sz="2400" b="0" i="0" u="none" strike="noStrike" cap="none">
                <a:solidFill>
                  <a:schemeClr val="accent2"/>
                </a:solidFill>
                <a:latin typeface="Calibri" panose="020F0502020204030204"/>
                <a:ea typeface="Calibri" panose="020F0502020204030204"/>
                <a:cs typeface="Calibri" panose="020F0502020204030204"/>
                <a:sym typeface="Calibri" panose="020F0502020204030204"/>
              </a:rPr>
              <a:t>User</a:t>
            </a:r>
            <a:r>
              <a:rPr lang="en-GB"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rPr>
              <a:t>.</a:t>
            </a:r>
            <a:endParaRPr sz="2400" b="0" i="0" u="none" strike="noStrike" cap="none">
              <a:solidFill>
                <a:srgbClr val="666666"/>
              </a:solidFill>
              <a:latin typeface="Times New Roman" panose="02020603050405020304"/>
              <a:ea typeface="Times New Roman" panose="02020603050405020304"/>
              <a:cs typeface="Times New Roman" panose="02020603050405020304"/>
              <a:sym typeface="Times New Roman" panose="02020603050405020304"/>
            </a:endParaRPr>
          </a:p>
          <a:p>
            <a:pPr marL="342900" marR="0" lvl="0" indent="-190500" algn="l" rtl="0">
              <a:spcBef>
                <a:spcPts val="480"/>
              </a:spcBef>
              <a:spcAft>
                <a:spcPts val="0"/>
              </a:spcAft>
              <a:buClr>
                <a:srgbClr val="666666"/>
              </a:buClr>
              <a:buSzPts val="2400"/>
              <a:buFont typeface="Arial" panose="020B0604020202020204"/>
              <a:buNone/>
            </a:pPr>
            <a:endParaRPr sz="2400" b="0" i="0" u="none" strike="noStrike" cap="none">
              <a:solidFill>
                <a:srgbClr val="66666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3"/>
          <p:cNvSpPr txBox="1">
            <a:spLocks noGrp="1"/>
          </p:cNvSpPr>
          <p:nvPr>
            <p:ph type="ctrTitle"/>
          </p:nvPr>
        </p:nvSpPr>
        <p:spPr>
          <a:xfrm>
            <a:off x="395536" y="1124744"/>
            <a:ext cx="6768752" cy="576064"/>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GB" sz="2400"/>
              <a:t>Polymorphism</a:t>
            </a:r>
            <a:endParaRPr sz="2400"/>
          </a:p>
        </p:txBody>
      </p:sp>
      <p:sp>
        <p:nvSpPr>
          <p:cNvPr id="103" name="Google Shape;103;p23"/>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GB" dirty="0"/>
              <a:t>The literal meaning of Polymorphism is “many forms”</a:t>
            </a:r>
            <a:endParaRPr dirty="0"/>
          </a:p>
          <a:p>
            <a:pPr marL="342900" lvl="0" indent="-342900" algn="l" rtl="0">
              <a:spcBef>
                <a:spcPts val="480"/>
              </a:spcBef>
              <a:spcAft>
                <a:spcPts val="0"/>
              </a:spcAft>
              <a:buClr>
                <a:srgbClr val="666666"/>
              </a:buClr>
              <a:buSzPts val="2400"/>
              <a:buChar char="•"/>
            </a:pPr>
            <a:r>
              <a:rPr lang="en-GB" dirty="0"/>
              <a:t>When used in OOP, it means different forms of implementing a single action</a:t>
            </a:r>
            <a:endParaRPr dirty="0"/>
          </a:p>
          <a:p>
            <a:pPr marL="342900" lvl="0" indent="-342900" algn="l" rtl="0">
              <a:spcBef>
                <a:spcPts val="480"/>
              </a:spcBef>
              <a:spcAft>
                <a:spcPts val="0"/>
              </a:spcAft>
              <a:buClr>
                <a:srgbClr val="666666"/>
              </a:buClr>
              <a:buSzPts val="2400"/>
              <a:buChar char="•"/>
            </a:pPr>
            <a:r>
              <a:rPr lang="en-GB" dirty="0"/>
              <a:t>In Java, there are three types of polymorphism:</a:t>
            </a:r>
            <a:endParaRPr dirty="0"/>
          </a:p>
          <a:p>
            <a:pPr marL="742950" lvl="1" indent="-285750" algn="l" rtl="0">
              <a:spcBef>
                <a:spcPts val="440"/>
              </a:spcBef>
              <a:spcAft>
                <a:spcPts val="0"/>
              </a:spcAft>
              <a:buClr>
                <a:srgbClr val="666666"/>
              </a:buClr>
              <a:buSzPts val="2200"/>
              <a:buChar char="–"/>
            </a:pPr>
            <a:r>
              <a:rPr lang="en-GB" dirty="0"/>
              <a:t>Constructor overloading</a:t>
            </a:r>
            <a:endParaRPr dirty="0"/>
          </a:p>
          <a:p>
            <a:pPr marL="742950" lvl="1" indent="-285750" algn="l" rtl="0">
              <a:spcBef>
                <a:spcPts val="440"/>
              </a:spcBef>
              <a:spcAft>
                <a:spcPts val="0"/>
              </a:spcAft>
              <a:buClr>
                <a:srgbClr val="666666"/>
              </a:buClr>
              <a:buSzPts val="2200"/>
              <a:buChar char="–"/>
            </a:pPr>
            <a:r>
              <a:rPr lang="en-GB" dirty="0"/>
              <a:t> Method overloading </a:t>
            </a:r>
            <a:endParaRPr dirty="0"/>
          </a:p>
          <a:p>
            <a:pPr marL="742950" lvl="1" indent="-285750" algn="l" rtl="0">
              <a:spcBef>
                <a:spcPts val="440"/>
              </a:spcBef>
              <a:spcAft>
                <a:spcPts val="0"/>
              </a:spcAft>
              <a:buClr>
                <a:srgbClr val="666666"/>
              </a:buClr>
              <a:buSzPts val="2200"/>
              <a:buChar char="–"/>
            </a:pPr>
            <a:r>
              <a:rPr lang="en-GB" dirty="0"/>
              <a:t>Interface polymorphism</a:t>
            </a:r>
            <a:endParaRPr dirty="0"/>
          </a:p>
          <a:p>
            <a:pPr marL="457200" lvl="1" indent="0" algn="l" rtl="0">
              <a:spcBef>
                <a:spcPts val="440"/>
              </a:spcBef>
              <a:spcAft>
                <a:spcPts val="0"/>
              </a:spcAft>
              <a:buClr>
                <a:srgbClr val="666666"/>
              </a:buClr>
              <a:buSzPts val="2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9"/>
          <p:cNvSpPr txBox="1">
            <a:spLocks noGrp="1"/>
          </p:cNvSpPr>
          <p:nvPr>
            <p:ph type="ctrTitle"/>
          </p:nvPr>
        </p:nvSpPr>
        <p:spPr>
          <a:xfrm>
            <a:off x="395536" y="1052736"/>
            <a:ext cx="8748464"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Interface polymorphism in hardware for all smart devices - News</a:t>
            </a:r>
            <a:endParaRPr sz="2400"/>
          </a:p>
        </p:txBody>
      </p:sp>
      <p:pic>
        <p:nvPicPr>
          <p:cNvPr id="69" name="Google Shape;69;p19"/>
          <p:cNvPicPr preferRelativeResize="0"/>
          <p:nvPr/>
        </p:nvPicPr>
        <p:blipFill rotWithShape="1">
          <a:blip r:embed="rId3"/>
          <a:srcRect/>
          <a:stretch>
            <a:fillRect/>
          </a:stretch>
        </p:blipFill>
        <p:spPr>
          <a:xfrm>
            <a:off x="1259632" y="1556792"/>
            <a:ext cx="4979625" cy="3217245"/>
          </a:xfrm>
          <a:prstGeom prst="rect">
            <a:avLst/>
          </a:prstGeom>
          <a:noFill/>
          <a:ln>
            <a:noFill/>
          </a:ln>
        </p:spPr>
      </p:pic>
      <p:sp>
        <p:nvSpPr>
          <p:cNvPr id="70" name="Google Shape;70;p19"/>
          <p:cNvSpPr/>
          <p:nvPr/>
        </p:nvSpPr>
        <p:spPr>
          <a:xfrm>
            <a:off x="179512" y="4869160"/>
            <a:ext cx="8584475" cy="19389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r>
            <a:r>
              <a:rPr lang="en-US" sz="2000" b="0" i="0" u="sng" strike="noStrike" cap="none">
                <a:solidFill>
                  <a:schemeClr val="hlink"/>
                </a:solidFill>
                <a:latin typeface="Calibri" panose="020F0502020204030204"/>
                <a:ea typeface="Calibri" panose="020F0502020204030204"/>
                <a:cs typeface="Calibri" panose="020F0502020204030204"/>
                <a:sym typeface="Calibri" panose="020F0502020204030204"/>
                <a:hlinkClick r:id="rId4"/>
              </a:rPr>
              <a:t>European Union lawmakers have reached an agreement on legislation that will force all future smartphones sold in the EU — including Apple’s iPhone — to be equipped with the universal USB-C port for wired charging by fall 2024. The rule will also apply to other electronic devices including tablets, digital cameras, headphones, handheld video game consoles, and e-readers. Laptops will have to comply with the rule at a later date</a:t>
            </a:r>
            <a: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 THE VERGE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20"/>
          <p:cNvSpPr txBox="1">
            <a:spLocks noGrp="1"/>
          </p:cNvSpPr>
          <p:nvPr>
            <p:ph type="ctrTitle"/>
          </p:nvPr>
        </p:nvSpPr>
        <p:spPr>
          <a:xfrm>
            <a:off x="611560" y="980728"/>
            <a:ext cx="6768752" cy="576064"/>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Interface Polymorphism</a:t>
            </a:r>
            <a:endParaRPr sz="2400"/>
          </a:p>
        </p:txBody>
      </p:sp>
      <p:sp>
        <p:nvSpPr>
          <p:cNvPr id="76" name="Google Shape;76;p20"/>
          <p:cNvSpPr txBox="1">
            <a:spLocks noGrp="1"/>
          </p:cNvSpPr>
          <p:nvPr>
            <p:ph type="body" idx="1"/>
          </p:nvPr>
        </p:nvSpPr>
        <p:spPr>
          <a:xfrm>
            <a:off x="55558" y="1628800"/>
            <a:ext cx="9009095"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There are a number of situations in software engineering when it is important for disparate groups of programmers to agree to a "contract" that spells out how their software components interact.</a:t>
            </a:r>
          </a:p>
          <a:p>
            <a:pPr marL="342900" lvl="0" indent="-342900" algn="l" rtl="0">
              <a:spcBef>
                <a:spcPts val="480"/>
              </a:spcBef>
              <a:spcAft>
                <a:spcPts val="0"/>
              </a:spcAft>
              <a:buClr>
                <a:srgbClr val="666666"/>
              </a:buClr>
              <a:buSzPts val="2400"/>
              <a:buChar char="•"/>
            </a:pPr>
            <a:r>
              <a:rPr lang="en-US"/>
              <a:t> Each group should be able to write their code without any knowledge of how the other group's code is written. </a:t>
            </a:r>
          </a:p>
          <a:p>
            <a:pPr marL="742950" lvl="1" indent="-285750" algn="l" rtl="0">
              <a:spcBef>
                <a:spcPts val="440"/>
              </a:spcBef>
              <a:spcAft>
                <a:spcPts val="0"/>
              </a:spcAft>
              <a:buClr>
                <a:srgbClr val="666666"/>
              </a:buClr>
              <a:buSzPts val="2200"/>
              <a:buChar char="–"/>
            </a:pPr>
            <a:r>
              <a:rPr lang="en-US"/>
              <a:t>Generally speaking,  </a:t>
            </a:r>
            <a:r>
              <a:rPr lang="en-US" i="1"/>
              <a:t>interfaces</a:t>
            </a:r>
            <a:r>
              <a:rPr lang="en-US"/>
              <a:t> are such contracts.“</a:t>
            </a:r>
          </a:p>
          <a:p>
            <a:pPr marL="742950" lvl="1" indent="-146050" algn="l" rtl="0">
              <a:spcBef>
                <a:spcPts val="440"/>
              </a:spcBef>
              <a:spcAft>
                <a:spcPts val="0"/>
              </a:spcAft>
              <a:buClr>
                <a:srgbClr val="666666"/>
              </a:buClr>
              <a:buSzPts val="2200"/>
              <a:buNone/>
            </a:pPr>
            <a:endParaRPr lang="en-US"/>
          </a:p>
        </p:txBody>
      </p:sp>
      <p:pic>
        <p:nvPicPr>
          <p:cNvPr id="77" name="Google Shape;77;p20"/>
          <p:cNvPicPr preferRelativeResize="0"/>
          <p:nvPr/>
        </p:nvPicPr>
        <p:blipFill rotWithShape="1">
          <a:blip r:embed="rId3"/>
          <a:srcRect/>
          <a:stretch>
            <a:fillRect/>
          </a:stretch>
        </p:blipFill>
        <p:spPr>
          <a:xfrm>
            <a:off x="6804248" y="3891706"/>
            <a:ext cx="2743200" cy="1666875"/>
          </a:xfrm>
          <a:prstGeom prst="rect">
            <a:avLst/>
          </a:prstGeom>
          <a:noFill/>
          <a:ln>
            <a:noFill/>
          </a:ln>
        </p:spPr>
      </p:pic>
      <p:sp>
        <p:nvSpPr>
          <p:cNvPr id="78" name="Google Shape;78;p20"/>
          <p:cNvSpPr/>
          <p:nvPr/>
        </p:nvSpPr>
        <p:spPr>
          <a:xfrm>
            <a:off x="4355976" y="4725144"/>
            <a:ext cx="576064" cy="864096"/>
          </a:xfrm>
          <a:prstGeom prst="ellipse">
            <a:avLst/>
          </a:prstGeom>
          <a:noFill/>
          <a:ln w="25400" cap="flat" cmpd="sng">
            <a:solidFill>
              <a:srgbClr val="F2F2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79" name="Google Shape;79;p20"/>
          <p:cNvSpPr txBox="1"/>
          <p:nvPr/>
        </p:nvSpPr>
        <p:spPr>
          <a:xfrm>
            <a:off x="251520" y="4487954"/>
            <a:ext cx="6336704" cy="1338475"/>
          </a:xfrm>
          <a:prstGeom prst="rect">
            <a:avLst/>
          </a:prstGeom>
          <a:noFill/>
          <a:ln>
            <a:noFill/>
          </a:ln>
        </p:spPr>
        <p:txBody>
          <a:bodyPr spcFirstLastPara="1" wrap="square" lIns="91425" tIns="45700" rIns="91425" bIns="45700" anchor="t" anchorCtr="0">
            <a:noAutofit/>
          </a:bodyPr>
          <a:lstStyle/>
          <a:p>
            <a:pPr marL="742950" marR="0" lvl="1" indent="-285750" algn="l" rtl="0">
              <a:spcBef>
                <a:spcPts val="0"/>
              </a:spcBef>
              <a:spcAft>
                <a:spcPts val="0"/>
              </a:spcAft>
              <a:buClr>
                <a:srgbClr val="666666"/>
              </a:buClr>
              <a:buSzPts val="2200"/>
              <a:buFont typeface="Arial" panose="020B0604020202020204"/>
              <a:buChar char="–"/>
            </a:pPr>
            <a:r>
              <a:rPr lang="en-US" sz="2200" b="0" i="0" u="none" strike="noStrike" cap="none">
                <a:solidFill>
                  <a:srgbClr val="666666"/>
                </a:solidFill>
                <a:latin typeface="Calibri" panose="020F0502020204030204"/>
                <a:ea typeface="Calibri" panose="020F0502020204030204"/>
                <a:cs typeface="Calibri" panose="020F0502020204030204"/>
                <a:sym typeface="Calibri" panose="020F0502020204030204"/>
              </a:rPr>
              <a:t>EU law is demanding uniform interface for charging point regardless of how charging functionality is implemented in the various devices</a:t>
            </a:r>
          </a:p>
          <a:p>
            <a:pPr marL="742950" marR="0" lvl="1" indent="-146050" algn="l" rtl="0">
              <a:spcBef>
                <a:spcPts val="440"/>
              </a:spcBef>
              <a:spcAft>
                <a:spcPts val="0"/>
              </a:spcAft>
              <a:buClr>
                <a:srgbClr val="666666"/>
              </a:buClr>
              <a:buSzPts val="2200"/>
              <a:buFont typeface="Arial" panose="020B0604020202020204"/>
              <a:buNone/>
            </a:pPr>
            <a:endPara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endParaRPr>
          </a:p>
          <a:p>
            <a:pPr marL="742950" marR="0" lvl="1" indent="-146050" algn="l" rtl="0">
              <a:spcBef>
                <a:spcPts val="440"/>
              </a:spcBef>
              <a:spcAft>
                <a:spcPts val="0"/>
              </a:spcAft>
              <a:buClr>
                <a:srgbClr val="666666"/>
              </a:buClr>
              <a:buSzPts val="2200"/>
              <a:buFont typeface="Arial" panose="020B0604020202020204"/>
              <a:buNone/>
            </a:pPr>
            <a:endPara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endParaRPr>
          </a:p>
          <a:p>
            <a:pPr marL="742950" marR="0" lvl="1" indent="-146050" algn="l" rtl="0">
              <a:spcBef>
                <a:spcPts val="440"/>
              </a:spcBef>
              <a:spcAft>
                <a:spcPts val="0"/>
              </a:spcAft>
              <a:buClr>
                <a:srgbClr val="666666"/>
              </a:buClr>
              <a:buSzPts val="2200"/>
              <a:buFont typeface="Arial" panose="020B0604020202020204"/>
              <a:buNone/>
            </a:pPr>
            <a:endParaRPr sz="2200" b="0" i="0" u="none" strike="noStrike" cap="none">
              <a:solidFill>
                <a:srgbClr val="66666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1"/>
          <p:cNvSpPr txBox="1">
            <a:spLocks noGrp="1"/>
          </p:cNvSpPr>
          <p:nvPr>
            <p:ph type="ctrTitle"/>
          </p:nvPr>
        </p:nvSpPr>
        <p:spPr>
          <a:xfrm>
            <a:off x="467544" y="1124744"/>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Interface Polymorphism</a:t>
            </a:r>
            <a:endParaRPr sz="2400"/>
          </a:p>
        </p:txBody>
      </p:sp>
      <p:sp>
        <p:nvSpPr>
          <p:cNvPr id="85" name="Google Shape;85;p21"/>
          <p:cNvSpPr txBox="1">
            <a:spLocks noGrp="1"/>
          </p:cNvSpPr>
          <p:nvPr>
            <p:ph type="body" idx="1"/>
          </p:nvPr>
        </p:nvSpPr>
        <p:spPr>
          <a:xfrm>
            <a:off x="107504" y="1556792"/>
            <a:ext cx="8928992" cy="266429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Interface polymorphism means that instances of different classes can be used as if they were of the same type. </a:t>
            </a:r>
          </a:p>
          <a:p>
            <a:pPr marL="742950" lvl="1" indent="-285750" algn="l" rtl="0">
              <a:spcBef>
                <a:spcPts val="440"/>
              </a:spcBef>
              <a:spcAft>
                <a:spcPts val="0"/>
              </a:spcAft>
              <a:buClr>
                <a:srgbClr val="666666"/>
              </a:buClr>
              <a:buSzPts val="2200"/>
              <a:buChar char="–"/>
            </a:pPr>
            <a:r>
              <a:rPr lang="en-US"/>
              <a:t>here, a type means either a class or an interface.</a:t>
            </a:r>
          </a:p>
          <a:p>
            <a:pPr marL="342900" lvl="0" indent="-342900" algn="l" rtl="0">
              <a:spcBef>
                <a:spcPts val="480"/>
              </a:spcBef>
              <a:spcAft>
                <a:spcPts val="0"/>
              </a:spcAft>
              <a:buClr>
                <a:srgbClr val="666666"/>
              </a:buClr>
              <a:buSzPts val="2400"/>
              <a:buChar char="•"/>
            </a:pPr>
            <a:r>
              <a:rPr lang="en-US"/>
              <a:t>When the behaviour of a particular functionality varies from object to object, then an Interface is used to create a superclass, and different sub-classes are created and each sub-class implements its behaviour.</a:t>
            </a:r>
          </a:p>
        </p:txBody>
      </p:sp>
      <p:sp>
        <p:nvSpPr>
          <p:cNvPr id="86" name="Google Shape;86;p21"/>
          <p:cNvSpPr/>
          <p:nvPr/>
        </p:nvSpPr>
        <p:spPr>
          <a:xfrm>
            <a:off x="3131840" y="6021288"/>
            <a:ext cx="2160240"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IphoneChargingPoint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7" name="Google Shape;87;p21"/>
          <p:cNvSpPr/>
          <p:nvPr/>
        </p:nvSpPr>
        <p:spPr>
          <a:xfrm>
            <a:off x="3029252" y="4293096"/>
            <a:ext cx="1944216"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ChargingPoint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8" name="Google Shape;88;p21"/>
          <p:cNvSpPr/>
          <p:nvPr/>
        </p:nvSpPr>
        <p:spPr>
          <a:xfrm>
            <a:off x="611560" y="6021288"/>
            <a:ext cx="2160240"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NokiaChargingPoint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9" name="Google Shape;89;p21"/>
          <p:cNvSpPr/>
          <p:nvPr/>
        </p:nvSpPr>
        <p:spPr>
          <a:xfrm>
            <a:off x="3851920" y="5013177"/>
            <a:ext cx="288032" cy="146666"/>
          </a:xfrm>
          <a:prstGeom prst="triangle">
            <a:avLst>
              <a:gd name="adj" fmla="val 50000"/>
            </a:avLst>
          </a:pr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90" name="Google Shape;90;p21"/>
          <p:cNvCxnSpPr>
            <a:stCxn id="89" idx="3"/>
          </p:cNvCxnSpPr>
          <p:nvPr/>
        </p:nvCxnSpPr>
        <p:spPr>
          <a:xfrm>
            <a:off x="3995936" y="5159843"/>
            <a:ext cx="0" cy="536700"/>
          </a:xfrm>
          <a:prstGeom prst="straightConnector1">
            <a:avLst/>
          </a:prstGeom>
          <a:noFill/>
          <a:ln w="19050" cap="flat" cmpd="sng">
            <a:solidFill>
              <a:schemeClr val="dk1"/>
            </a:solidFill>
            <a:prstDash val="dash"/>
            <a:round/>
            <a:headEnd type="none" w="sm" len="sm"/>
            <a:tailEnd type="none" w="sm" len="sm"/>
          </a:ln>
        </p:spPr>
      </p:cxnSp>
      <p:cxnSp>
        <p:nvCxnSpPr>
          <p:cNvPr id="91" name="Google Shape;91;p21"/>
          <p:cNvCxnSpPr/>
          <p:nvPr/>
        </p:nvCxnSpPr>
        <p:spPr>
          <a:xfrm>
            <a:off x="1259632" y="5734900"/>
            <a:ext cx="5328592" cy="0"/>
          </a:xfrm>
          <a:prstGeom prst="straightConnector1">
            <a:avLst/>
          </a:prstGeom>
          <a:noFill/>
          <a:ln w="19050" cap="flat" cmpd="sng">
            <a:solidFill>
              <a:schemeClr val="dk1"/>
            </a:solidFill>
            <a:prstDash val="solid"/>
            <a:round/>
            <a:headEnd type="none" w="sm" len="sm"/>
            <a:tailEnd type="none" w="sm" len="sm"/>
          </a:ln>
        </p:spPr>
      </p:cxnSp>
      <p:cxnSp>
        <p:nvCxnSpPr>
          <p:cNvPr id="92" name="Google Shape;92;p21"/>
          <p:cNvCxnSpPr/>
          <p:nvPr/>
        </p:nvCxnSpPr>
        <p:spPr>
          <a:xfrm>
            <a:off x="1259632" y="5773235"/>
            <a:ext cx="0" cy="248053"/>
          </a:xfrm>
          <a:prstGeom prst="straightConnector1">
            <a:avLst/>
          </a:prstGeom>
          <a:noFill/>
          <a:ln w="19050" cap="flat" cmpd="sng">
            <a:solidFill>
              <a:schemeClr val="dk1"/>
            </a:solidFill>
            <a:prstDash val="solid"/>
            <a:round/>
            <a:headEnd type="none" w="sm" len="sm"/>
            <a:tailEnd type="none" w="sm" len="sm"/>
          </a:ln>
        </p:spPr>
      </p:cxnSp>
      <p:sp>
        <p:nvSpPr>
          <p:cNvPr id="93" name="Google Shape;93;p21"/>
          <p:cNvSpPr/>
          <p:nvPr/>
        </p:nvSpPr>
        <p:spPr>
          <a:xfrm>
            <a:off x="5580112" y="6021288"/>
            <a:ext cx="2376264"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SamsungChargingPoint</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94" name="Google Shape;94;p21"/>
          <p:cNvCxnSpPr/>
          <p:nvPr/>
        </p:nvCxnSpPr>
        <p:spPr>
          <a:xfrm>
            <a:off x="4355976" y="5734900"/>
            <a:ext cx="0" cy="286388"/>
          </a:xfrm>
          <a:prstGeom prst="straightConnector1">
            <a:avLst/>
          </a:prstGeom>
          <a:noFill/>
          <a:ln w="19050" cap="flat" cmpd="sng">
            <a:solidFill>
              <a:schemeClr val="dk1"/>
            </a:solidFill>
            <a:prstDash val="solid"/>
            <a:round/>
            <a:headEnd type="none" w="sm" len="sm"/>
            <a:tailEnd type="none" w="sm" len="sm"/>
          </a:ln>
        </p:spPr>
      </p:cxnSp>
      <p:cxnSp>
        <p:nvCxnSpPr>
          <p:cNvPr id="95" name="Google Shape;95;p21"/>
          <p:cNvCxnSpPr/>
          <p:nvPr/>
        </p:nvCxnSpPr>
        <p:spPr>
          <a:xfrm>
            <a:off x="6588224" y="5734900"/>
            <a:ext cx="0" cy="330020"/>
          </a:xfrm>
          <a:prstGeom prst="straightConnector1">
            <a:avLst/>
          </a:prstGeom>
          <a:noFill/>
          <a:ln w="19050" cap="flat" cmpd="sng">
            <a:solidFill>
              <a:schemeClr val="dk1"/>
            </a:solidFill>
            <a:prstDash val="solid"/>
            <a:round/>
            <a:headEnd type="none" w="sm" len="sm"/>
            <a:tailEnd type="none" w="sm" len="sm"/>
          </a:ln>
        </p:spPr>
      </p:cxnSp>
      <p:sp>
        <p:nvSpPr>
          <p:cNvPr id="96" name="Google Shape;96;p21"/>
          <p:cNvSpPr txBox="1"/>
          <p:nvPr/>
        </p:nvSpPr>
        <p:spPr>
          <a:xfrm>
            <a:off x="5048825" y="4468470"/>
            <a:ext cx="13249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An interface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21"/>
          <p:cNvSpPr txBox="1"/>
          <p:nvPr/>
        </p:nvSpPr>
        <p:spPr>
          <a:xfrm>
            <a:off x="5292080" y="5644153"/>
            <a:ext cx="352839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a:ea typeface="Calibri" panose="020F0502020204030204"/>
                <a:cs typeface="Calibri" panose="020F0502020204030204"/>
                <a:sym typeface="Calibri" panose="020F0502020204030204"/>
              </a:rPr>
              <a:t>Concrete implementation of the interface</a:t>
            </a: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8" name="Google Shape;98;p21"/>
          <p:cNvSpPr txBox="1"/>
          <p:nvPr/>
        </p:nvSpPr>
        <p:spPr>
          <a:xfrm>
            <a:off x="1731" y="5644152"/>
            <a:ext cx="352839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a:ea typeface="Calibri" panose="020F0502020204030204"/>
                <a:cs typeface="Calibri" panose="020F0502020204030204"/>
                <a:sym typeface="Calibri" panose="020F0502020204030204"/>
              </a:rPr>
              <a:t>Concrete implementation of the interface</a:t>
            </a: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96"/>
                                        </p:tgtEl>
                                        <p:attrNameLst>
                                          <p:attrName>style.visibility</p:attrName>
                                        </p:attrNameLst>
                                      </p:cBhvr>
                                      <p:to>
                                        <p:strVal val="visible"/>
                                      </p:to>
                                    </p:set>
                                    <p:anim calcmode="lin" valueType="num">
                                      <p:cBhvr additive="base">
                                        <p:cTn id="29" dur="500"/>
                                        <p:tgtEl>
                                          <p:spTgt spid="96"/>
                                        </p:tgtEl>
                                        <p:attrNameLst>
                                          <p:attrName>ppt_y</p:attrName>
                                        </p:attrNameLst>
                                      </p:cBhvr>
                                      <p:tavLst>
                                        <p:tav tm="0">
                                          <p:val>
                                            <p:strVal val="#ppt_y+1"/>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97"/>
                                        </p:tgtEl>
                                        <p:attrNameLst>
                                          <p:attrName>style.visibility</p:attrName>
                                        </p:attrNameLst>
                                      </p:cBhvr>
                                      <p:to>
                                        <p:strVal val="visible"/>
                                      </p:to>
                                    </p:set>
                                    <p:anim calcmode="lin" valueType="num">
                                      <p:cBhvr additive="base">
                                        <p:cTn id="32" dur="500"/>
                                        <p:tgtEl>
                                          <p:spTgt spid="97"/>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8"/>
                                        </p:tgtEl>
                                        <p:attrNameLst>
                                          <p:attrName>style.visibility</p:attrName>
                                        </p:attrNameLst>
                                      </p:cBhvr>
                                      <p:to>
                                        <p:strVal val="visible"/>
                                      </p:to>
                                    </p:set>
                                    <p:anim calcmode="lin" valueType="num">
                                      <p:cBhvr additive="base">
                                        <p:cTn id="35" dur="500"/>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2"/>
          <p:cNvSpPr txBox="1">
            <a:spLocks noGrp="1"/>
          </p:cNvSpPr>
          <p:nvPr>
            <p:ph type="ctrTitle"/>
          </p:nvPr>
        </p:nvSpPr>
        <p:spPr>
          <a:xfrm>
            <a:off x="467544" y="1052736"/>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Interface Polymorphism</a:t>
            </a:r>
            <a:endParaRPr sz="2400"/>
          </a:p>
        </p:txBody>
      </p:sp>
      <p:sp>
        <p:nvSpPr>
          <p:cNvPr id="104" name="Google Shape;104;p22"/>
          <p:cNvSpPr txBox="1">
            <a:spLocks noGrp="1"/>
          </p:cNvSpPr>
          <p:nvPr>
            <p:ph type="body" idx="1"/>
          </p:nvPr>
        </p:nvSpPr>
        <p:spPr>
          <a:xfrm>
            <a:off x="107504" y="1556792"/>
            <a:ext cx="8928992" cy="244827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Suppose you want to develop  killer software for tertiary institutions in Nigeria. One of the core functionalities of the software is result processing.</a:t>
            </a:r>
          </a:p>
          <a:p>
            <a:pPr marL="342900" lvl="0" indent="-342900" algn="l" rtl="0">
              <a:spcBef>
                <a:spcPts val="480"/>
              </a:spcBef>
              <a:spcAft>
                <a:spcPts val="0"/>
              </a:spcAft>
              <a:buClr>
                <a:srgbClr val="666666"/>
              </a:buClr>
              <a:buSzPts val="2400"/>
              <a:buChar char="•"/>
            </a:pPr>
            <a:r>
              <a:rPr lang="en-US"/>
              <a:t>However, the grading system differs between the institutions. Some use a four-point-based GPA and others used a five-point-based GPA. </a:t>
            </a:r>
          </a:p>
          <a:p>
            <a:pPr marL="742950" lvl="1" indent="-285750" algn="l" rtl="0">
              <a:spcBef>
                <a:spcPts val="440"/>
              </a:spcBef>
              <a:spcAft>
                <a:spcPts val="0"/>
              </a:spcAft>
              <a:buClr>
                <a:srgbClr val="666666"/>
              </a:buClr>
              <a:buSzPts val="2200"/>
              <a:buChar char="–"/>
            </a:pPr>
            <a:r>
              <a:rPr lang="en-US"/>
              <a:t>That is where an interface comes in handy </a:t>
            </a:r>
          </a:p>
        </p:txBody>
      </p:sp>
      <p:sp>
        <p:nvSpPr>
          <p:cNvPr id="105" name="Google Shape;105;p22"/>
          <p:cNvSpPr/>
          <p:nvPr/>
        </p:nvSpPr>
        <p:spPr>
          <a:xfrm>
            <a:off x="4572000" y="6021288"/>
            <a:ext cx="2664296"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FourPointGpaProcessor</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6" name="Google Shape;106;p22"/>
          <p:cNvSpPr/>
          <p:nvPr/>
        </p:nvSpPr>
        <p:spPr>
          <a:xfrm>
            <a:off x="3029252" y="4293096"/>
            <a:ext cx="1944216"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GpaProcessor</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7" name="Google Shape;107;p22"/>
          <p:cNvSpPr/>
          <p:nvPr/>
        </p:nvSpPr>
        <p:spPr>
          <a:xfrm>
            <a:off x="1259632" y="6021288"/>
            <a:ext cx="2592288" cy="720080"/>
          </a:xfrm>
          <a:prstGeom prst="rect">
            <a:avLst/>
          </a:prstGeom>
          <a:solidFill>
            <a:srgbClr val="B5121B"/>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FivePointGpaProcessor</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8" name="Google Shape;108;p22"/>
          <p:cNvSpPr/>
          <p:nvPr/>
        </p:nvSpPr>
        <p:spPr>
          <a:xfrm>
            <a:off x="3851920" y="5013176"/>
            <a:ext cx="288032" cy="293333"/>
          </a:xfrm>
          <a:prstGeom prst="triangle">
            <a:avLst>
              <a:gd name="adj" fmla="val 50000"/>
            </a:avLst>
          </a:prstGeom>
          <a:no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09" name="Google Shape;109;p22"/>
          <p:cNvCxnSpPr/>
          <p:nvPr/>
        </p:nvCxnSpPr>
        <p:spPr>
          <a:xfrm>
            <a:off x="4001360" y="5306509"/>
            <a:ext cx="0" cy="432047"/>
          </a:xfrm>
          <a:prstGeom prst="straightConnector1">
            <a:avLst/>
          </a:prstGeom>
          <a:noFill/>
          <a:ln w="19050" cap="flat" cmpd="sng">
            <a:solidFill>
              <a:schemeClr val="dk1"/>
            </a:solidFill>
            <a:prstDash val="dash"/>
            <a:round/>
            <a:headEnd type="none" w="sm" len="sm"/>
            <a:tailEnd type="none" w="sm" len="sm"/>
          </a:ln>
        </p:spPr>
      </p:cxnSp>
      <p:cxnSp>
        <p:nvCxnSpPr>
          <p:cNvPr id="110" name="Google Shape;110;p22"/>
          <p:cNvCxnSpPr/>
          <p:nvPr/>
        </p:nvCxnSpPr>
        <p:spPr>
          <a:xfrm>
            <a:off x="3206810" y="5738556"/>
            <a:ext cx="1872208" cy="0"/>
          </a:xfrm>
          <a:prstGeom prst="straightConnector1">
            <a:avLst/>
          </a:prstGeom>
          <a:noFill/>
          <a:ln w="19050" cap="flat" cmpd="sng">
            <a:solidFill>
              <a:schemeClr val="dk1"/>
            </a:solidFill>
            <a:prstDash val="solid"/>
            <a:round/>
            <a:headEnd type="none" w="sm" len="sm"/>
            <a:tailEnd type="none" w="sm" len="sm"/>
          </a:ln>
        </p:spPr>
      </p:cxnSp>
      <p:cxnSp>
        <p:nvCxnSpPr>
          <p:cNvPr id="111" name="Google Shape;111;p22"/>
          <p:cNvCxnSpPr/>
          <p:nvPr/>
        </p:nvCxnSpPr>
        <p:spPr>
          <a:xfrm>
            <a:off x="5079018" y="5738556"/>
            <a:ext cx="0" cy="213374"/>
          </a:xfrm>
          <a:prstGeom prst="straightConnector1">
            <a:avLst/>
          </a:prstGeom>
          <a:noFill/>
          <a:ln w="19050" cap="flat" cmpd="sng">
            <a:solidFill>
              <a:schemeClr val="dk1"/>
            </a:solidFill>
            <a:prstDash val="solid"/>
            <a:round/>
            <a:headEnd type="none" w="sm" len="sm"/>
            <a:tailEnd type="none" w="sm" len="sm"/>
          </a:ln>
        </p:spPr>
      </p:cxnSp>
      <p:cxnSp>
        <p:nvCxnSpPr>
          <p:cNvPr id="112" name="Google Shape;112;p22"/>
          <p:cNvCxnSpPr/>
          <p:nvPr/>
        </p:nvCxnSpPr>
        <p:spPr>
          <a:xfrm>
            <a:off x="3203848" y="5738556"/>
            <a:ext cx="0" cy="213374"/>
          </a:xfrm>
          <a:prstGeom prst="straightConnector1">
            <a:avLst/>
          </a:prstGeom>
          <a:noFill/>
          <a:ln w="19050" cap="flat" cmpd="sng">
            <a:solidFill>
              <a:schemeClr val="dk1"/>
            </a:solidFill>
            <a:prstDash val="solid"/>
            <a:round/>
            <a:headEnd type="none" w="sm" len="sm"/>
            <a:tailEnd type="none" w="sm" len="sm"/>
          </a:ln>
        </p:spPr>
      </p:cxnSp>
      <p:sp>
        <p:nvSpPr>
          <p:cNvPr id="113" name="Google Shape;113;p22"/>
          <p:cNvSpPr txBox="1"/>
          <p:nvPr/>
        </p:nvSpPr>
        <p:spPr>
          <a:xfrm>
            <a:off x="5048825" y="4468470"/>
            <a:ext cx="13249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An interface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4" name="Google Shape;114;p22"/>
          <p:cNvSpPr txBox="1"/>
          <p:nvPr/>
        </p:nvSpPr>
        <p:spPr>
          <a:xfrm>
            <a:off x="5292080" y="5644153"/>
            <a:ext cx="352839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a:ea typeface="Calibri" panose="020F0502020204030204"/>
                <a:cs typeface="Calibri" panose="020F0502020204030204"/>
                <a:sym typeface="Calibri" panose="020F0502020204030204"/>
              </a:rPr>
              <a:t>Concrete implementation of the interface</a:t>
            </a: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5" name="Google Shape;115;p22"/>
          <p:cNvSpPr txBox="1"/>
          <p:nvPr/>
        </p:nvSpPr>
        <p:spPr>
          <a:xfrm>
            <a:off x="1731" y="5644152"/>
            <a:ext cx="352839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a:ea typeface="Calibri" panose="020F0502020204030204"/>
                <a:cs typeface="Calibri" panose="020F0502020204030204"/>
                <a:sym typeface="Calibri" panose="020F0502020204030204"/>
              </a:rPr>
              <a:t>Concrete implementation of the interface</a:t>
            </a: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fade">
                                      <p:cBhvr>
                                        <p:cTn id="15" dur="500"/>
                                        <p:tgtEl>
                                          <p:spTgt spid="110"/>
                                        </p:tgtEl>
                                      </p:cBhvr>
                                    </p:animEffect>
                                  </p:childTnLst>
                                </p:cTn>
                              </p:par>
                              <p:par>
                                <p:cTn id="16" presetID="10" presetClass="entr" presetSubtype="0" fill="hold" nodeType="with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fade">
                                      <p:cBhvr>
                                        <p:cTn id="18" dur="500"/>
                                        <p:tgtEl>
                                          <p:spTgt spid="111"/>
                                        </p:tgtEl>
                                      </p:cBhvr>
                                    </p:animEffect>
                                  </p:childTnLst>
                                </p:cTn>
                              </p:par>
                              <p:par>
                                <p:cTn id="19" presetID="10" presetClass="entr" presetSubtype="0" fill="hold" nodeType="withEffect">
                                  <p:stCondLst>
                                    <p:cond delay="0"/>
                                  </p:stCondLst>
                                  <p:childTnLst>
                                    <p:set>
                                      <p:cBhvr>
                                        <p:cTn id="20" dur="1" fill="hold">
                                          <p:stCondLst>
                                            <p:cond delay="0"/>
                                          </p:stCondLst>
                                        </p:cTn>
                                        <p:tgtEl>
                                          <p:spTgt spid="112"/>
                                        </p:tgtEl>
                                        <p:attrNameLst>
                                          <p:attrName>style.visibility</p:attrName>
                                        </p:attrNameLst>
                                      </p:cBhvr>
                                      <p:to>
                                        <p:strVal val="visible"/>
                                      </p:to>
                                    </p:set>
                                    <p:animEffect transition="in" filter="fade">
                                      <p:cBhvr>
                                        <p:cTn id="21" dur="500"/>
                                        <p:tgtEl>
                                          <p:spTgt spid="112"/>
                                        </p:tgtEl>
                                      </p:cBhvr>
                                    </p:animEffect>
                                  </p:childTnLst>
                                </p:cTn>
                              </p:par>
                              <p:par>
                                <p:cTn id="22" presetID="10" presetClass="entr" presetSubtype="0" fill="hold" nodeType="withEffect">
                                  <p:stCondLst>
                                    <p:cond delay="0"/>
                                  </p:stCondLst>
                                  <p:childTnLst>
                                    <p:set>
                                      <p:cBhvr>
                                        <p:cTn id="23" dur="1" fill="hold">
                                          <p:stCondLst>
                                            <p:cond delay="0"/>
                                          </p:stCondLst>
                                        </p:cTn>
                                        <p:tgtEl>
                                          <p:spTgt spid="109"/>
                                        </p:tgtEl>
                                        <p:attrNameLst>
                                          <p:attrName>style.visibility</p:attrName>
                                        </p:attrNameLst>
                                      </p:cBhvr>
                                      <p:to>
                                        <p:strVal val="visible"/>
                                      </p:to>
                                    </p:set>
                                    <p:animEffect transition="in" filter="fade">
                                      <p:cBhvr>
                                        <p:cTn id="24" dur="500"/>
                                        <p:tgtEl>
                                          <p:spTgt spid="109"/>
                                        </p:tgtEl>
                                      </p:cBhvr>
                                    </p:animEffect>
                                  </p:childTnLst>
                                </p:cTn>
                              </p:par>
                              <p:par>
                                <p:cTn id="25" presetID="10" presetClass="entr" presetSubtype="0" fill="hold" nodeType="withEffect">
                                  <p:stCondLst>
                                    <p:cond delay="0"/>
                                  </p:stCondLst>
                                  <p:childTnLst>
                                    <p:set>
                                      <p:cBhvr>
                                        <p:cTn id="26" dur="1" fill="hold">
                                          <p:stCondLst>
                                            <p:cond delay="0"/>
                                          </p:stCondLst>
                                        </p:cTn>
                                        <p:tgtEl>
                                          <p:spTgt spid="108"/>
                                        </p:tgtEl>
                                        <p:attrNameLst>
                                          <p:attrName>style.visibility</p:attrName>
                                        </p:attrNameLst>
                                      </p:cBhvr>
                                      <p:to>
                                        <p:strVal val="visible"/>
                                      </p:to>
                                    </p:set>
                                    <p:animEffect transition="in" filter="fade">
                                      <p:cBhvr>
                                        <p:cTn id="27" dur="500"/>
                                        <p:tgtEl>
                                          <p:spTgt spid="108"/>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3"/>
                                        </p:tgtEl>
                                        <p:attrNameLst>
                                          <p:attrName>style.visibility</p:attrName>
                                        </p:attrNameLst>
                                      </p:cBhvr>
                                      <p:to>
                                        <p:strVal val="visible"/>
                                      </p:to>
                                    </p:set>
                                    <p:anim calcmode="lin" valueType="num">
                                      <p:cBhvr additive="base">
                                        <p:cTn id="32" dur="500"/>
                                        <p:tgtEl>
                                          <p:spTgt spid="113"/>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14"/>
                                        </p:tgtEl>
                                        <p:attrNameLst>
                                          <p:attrName>style.visibility</p:attrName>
                                        </p:attrNameLst>
                                      </p:cBhvr>
                                      <p:to>
                                        <p:strVal val="visible"/>
                                      </p:to>
                                    </p:set>
                                    <p:anim calcmode="lin" valueType="num">
                                      <p:cBhvr additive="base">
                                        <p:cTn id="35" dur="500"/>
                                        <p:tgtEl>
                                          <p:spTgt spid="114"/>
                                        </p:tgtEl>
                                        <p:attrNameLst>
                                          <p:attrName>ppt_y</p:attrName>
                                        </p:attrNameLst>
                                      </p:cBhvr>
                                      <p:tavLst>
                                        <p:tav tm="0">
                                          <p:val>
                                            <p:strVal val="#ppt_y+1"/>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15"/>
                                        </p:tgtEl>
                                        <p:attrNameLst>
                                          <p:attrName>style.visibility</p:attrName>
                                        </p:attrNameLst>
                                      </p:cBhvr>
                                      <p:to>
                                        <p:strVal val="visible"/>
                                      </p:to>
                                    </p:set>
                                    <p:anim calcmode="lin" valueType="num">
                                      <p:cBhvr additive="base">
                                        <p:cTn id="38" dur="500"/>
                                        <p:tgtEl>
                                          <p:spTgt spid="1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ctrTitle"/>
          </p:nvPr>
        </p:nvSpPr>
        <p:spPr>
          <a:xfrm>
            <a:off x="467544" y="1124744"/>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…Interface Polymorphism</a:t>
            </a:r>
            <a:endParaRPr sz="2400"/>
          </a:p>
        </p:txBody>
      </p:sp>
      <p:sp>
        <p:nvSpPr>
          <p:cNvPr id="121" name="Google Shape;121;p23"/>
          <p:cNvSpPr txBox="1">
            <a:spLocks noGrp="1"/>
          </p:cNvSpPr>
          <p:nvPr>
            <p:ph type="body" idx="1"/>
          </p:nvPr>
        </p:nvSpPr>
        <p:spPr>
          <a:xfrm>
            <a:off x="251520" y="1556792"/>
            <a:ext cx="8425184" cy="158417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With an Interface polymorphism, an object of any subclass of a base Interface is treated as if it were an object of the base interface.  </a:t>
            </a:r>
          </a:p>
          <a:p>
            <a:pPr marL="342900" lvl="0" indent="-342900" algn="l" rtl="0">
              <a:spcBef>
                <a:spcPts val="480"/>
              </a:spcBef>
              <a:spcAft>
                <a:spcPts val="0"/>
              </a:spcAft>
              <a:buClr>
                <a:srgbClr val="666666"/>
              </a:buClr>
              <a:buSzPts val="2400"/>
              <a:buChar char="•"/>
            </a:pPr>
            <a:r>
              <a:rPr lang="en-US"/>
              <a:t>The base Interface has, therefore, many forms: the base class itself, and any of its subclasses.</a:t>
            </a:r>
          </a:p>
          <a:p>
            <a:pPr marL="342900" lvl="0" indent="-342900" algn="l" rtl="0">
              <a:spcBef>
                <a:spcPts val="480"/>
              </a:spcBef>
              <a:spcAft>
                <a:spcPts val="0"/>
              </a:spcAft>
              <a:buClr>
                <a:srgbClr val="666666"/>
              </a:buClr>
              <a:buSzPts val="2400"/>
              <a:buChar char="•"/>
            </a:pPr>
            <a:r>
              <a:rPr lang="en-US"/>
              <a:t>An interface  has only a method body but no implementation. </a:t>
            </a:r>
          </a:p>
          <a:p>
            <a:pPr marL="342900" lvl="0" indent="-342900" algn="l" rtl="0">
              <a:spcBef>
                <a:spcPts val="480"/>
              </a:spcBef>
              <a:spcAft>
                <a:spcPts val="0"/>
              </a:spcAft>
              <a:buClr>
                <a:srgbClr val="666666"/>
              </a:buClr>
              <a:buSzPts val="2400"/>
              <a:buChar char="•"/>
            </a:pPr>
            <a:r>
              <a:rPr lang="en-US"/>
              <a:t>Any class implementing an Interface has to define or implement the methods of its own.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7"/>
          <p:cNvSpPr txBox="1">
            <a:spLocks noGrp="1"/>
          </p:cNvSpPr>
          <p:nvPr>
            <p:ph type="ctrTitle"/>
          </p:nvPr>
        </p:nvSpPr>
        <p:spPr>
          <a:xfrm>
            <a:off x="395536"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DESIGN PATTERN</a:t>
            </a:r>
          </a:p>
        </p:txBody>
      </p:sp>
      <p:sp>
        <p:nvSpPr>
          <p:cNvPr id="121" name="Google Shape;121;p27"/>
          <p:cNvSpPr txBox="1">
            <a:spLocks noGrp="1"/>
          </p:cNvSpPr>
          <p:nvPr>
            <p:ph type="body" idx="1"/>
          </p:nvPr>
        </p:nvSpPr>
        <p:spPr>
          <a:xfrm>
            <a:off x="153635"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Explore the wisdom and lesson learnt by other developers who have been on the same design problem road and survived.</a:t>
            </a:r>
          </a:p>
          <a:p>
            <a:pPr marL="742950" lvl="1" indent="-285750" algn="l" rtl="0">
              <a:spcBef>
                <a:spcPts val="440"/>
              </a:spcBef>
              <a:spcAft>
                <a:spcPts val="0"/>
              </a:spcAft>
              <a:buClr>
                <a:srgbClr val="666666"/>
              </a:buClr>
              <a:buSzPts val="2200"/>
              <a:buChar char="–"/>
            </a:pPr>
            <a:r>
              <a:rPr lang="en-US"/>
              <a:t>Stand on the shoulders of giants</a:t>
            </a:r>
          </a:p>
        </p:txBody>
      </p:sp>
      <p:pic>
        <p:nvPicPr>
          <p:cNvPr id="122" name="Google Shape;122;p27"/>
          <p:cNvPicPr preferRelativeResize="0"/>
          <p:nvPr/>
        </p:nvPicPr>
        <p:blipFill rotWithShape="1">
          <a:blip r:embed="rId3"/>
          <a:srcRect l="14085" t="39237" r="22460" b="17710"/>
          <a:stretch>
            <a:fillRect/>
          </a:stretch>
        </p:blipFill>
        <p:spPr>
          <a:xfrm>
            <a:off x="123916" y="2924944"/>
            <a:ext cx="8454903" cy="29525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8"/>
          <p:cNvSpPr txBox="1">
            <a:spLocks noGrp="1"/>
          </p:cNvSpPr>
          <p:nvPr>
            <p:ph type="ctrTitle"/>
          </p:nvPr>
        </p:nvSpPr>
        <p:spPr>
          <a:xfrm>
            <a:off x="467544" y="1124744"/>
            <a:ext cx="6768752" cy="576064"/>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Strategy pattern</a:t>
            </a:r>
            <a:endParaRPr sz="2400"/>
          </a:p>
        </p:txBody>
      </p:sp>
      <p:sp>
        <p:nvSpPr>
          <p:cNvPr id="128" name="Google Shape;128;p28"/>
          <p:cNvSpPr txBox="1">
            <a:spLocks noGrp="1"/>
          </p:cNvSpPr>
          <p:nvPr>
            <p:ph type="body" idx="1"/>
          </p:nvPr>
        </p:nvSpPr>
        <p:spPr>
          <a:xfrm>
            <a:off x="323528" y="1700808"/>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is a behavioral design pattern that turns a set of behaviors into objects and makes them interchangeable inside the original context object.</a:t>
            </a:r>
          </a:p>
          <a:p>
            <a:pPr marL="342900" lvl="0" indent="-342900" algn="l" rtl="0">
              <a:spcBef>
                <a:spcPts val="480"/>
              </a:spcBef>
              <a:spcAft>
                <a:spcPts val="0"/>
              </a:spcAft>
              <a:buClr>
                <a:srgbClr val="666666"/>
              </a:buClr>
              <a:buSzPts val="2400"/>
              <a:buChar char="•"/>
            </a:pPr>
            <a:r>
              <a:rPr lang="en-US"/>
              <a:t>OO design principles enforce by strategy pattern: </a:t>
            </a:r>
            <a:r>
              <a:rPr lang="en-US" b="1"/>
              <a:t>Open-closed</a:t>
            </a:r>
            <a:r>
              <a:rPr lang="en-US"/>
              <a:t>, </a:t>
            </a:r>
            <a:r>
              <a:rPr lang="en-US" b="1"/>
              <a:t>program to an interface rather than to the implementation</a:t>
            </a:r>
            <a:r>
              <a:rPr lang="en-US"/>
              <a:t>, </a:t>
            </a:r>
            <a:r>
              <a:rPr lang="en-US" b="1"/>
              <a:t>encapsulate what varies</a:t>
            </a:r>
            <a:r>
              <a:rPr lang="en-US"/>
              <a:t>, </a:t>
            </a:r>
            <a:r>
              <a:rPr lang="en-US" b="1"/>
              <a:t>favor composition over inheritance.</a:t>
            </a:r>
            <a:endParaRPr b="1"/>
          </a:p>
          <a:p>
            <a:pPr marL="342900" lvl="0" indent="-190500" algn="l" rtl="0">
              <a:spcBef>
                <a:spcPts val="480"/>
              </a:spcBef>
              <a:spcAft>
                <a:spcPts val="0"/>
              </a:spcAft>
              <a:buClr>
                <a:srgbClr val="666666"/>
              </a:buClr>
              <a:buSzPts val="2400"/>
              <a:buNone/>
            </a:pPr>
            <a:endParaRPr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a:spLocks noGrp="1"/>
          </p:cNvSpPr>
          <p:nvPr>
            <p:ph type="ctrTitle"/>
          </p:nvPr>
        </p:nvSpPr>
        <p:spPr>
          <a:xfrm>
            <a:off x="395536" y="980728"/>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Strategy Pattern</a:t>
            </a:r>
            <a:endParaRPr sz="2400" dirty="0"/>
          </a:p>
        </p:txBody>
      </p:sp>
      <p:sp>
        <p:nvSpPr>
          <p:cNvPr id="135" name="Google Shape;135;p29"/>
          <p:cNvSpPr txBox="1"/>
          <p:nvPr/>
        </p:nvSpPr>
        <p:spPr>
          <a:xfrm>
            <a:off x="4411640" y="2348880"/>
            <a:ext cx="4552848" cy="30777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SessionalRegistration</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8" name="Google Shape;138;p29"/>
          <p:cNvSpPr txBox="1"/>
          <p:nvPr/>
        </p:nvSpPr>
        <p:spPr>
          <a:xfrm>
            <a:off x="4411640" y="2655439"/>
            <a:ext cx="4552848" cy="73866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FF0000"/>
                </a:solidFill>
                <a:latin typeface="Times New Roman" panose="02020603050405020304"/>
                <a:ea typeface="Times New Roman" panose="02020603050405020304"/>
                <a:cs typeface="Times New Roman" panose="02020603050405020304"/>
                <a:sym typeface="Times New Roman" panose="02020603050405020304"/>
              </a:rPr>
              <a:t>- std: Student</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hasPaid: Boolean</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payChannel:  PaymentChannel</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9" name="Google Shape;139;p29"/>
          <p:cNvSpPr txBox="1"/>
          <p:nvPr/>
        </p:nvSpPr>
        <p:spPr>
          <a:xfrm>
            <a:off x="4411640" y="3394103"/>
            <a:ext cx="4552848" cy="73866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SessionalRegistration (pay: PaymentChannel,  s: Student )</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+processPayment (amt: double, s: Student): Boolean</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setPaymentProcessor (pay: PaymentChannel): void</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0" name="Google Shape;140;p29"/>
          <p:cNvSpPr txBox="1"/>
          <p:nvPr/>
        </p:nvSpPr>
        <p:spPr>
          <a:xfrm>
            <a:off x="231297" y="3525282"/>
            <a:ext cx="3403861" cy="5232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processPayment(double a, </a:t>
            </a:r>
            <a:r>
              <a:rPr lang="en-US" sz="1400">
                <a:solidFill>
                  <a:srgbClr val="FF0000"/>
                </a:solidFill>
                <a:latin typeface="Times New Roman" panose="02020603050405020304"/>
                <a:ea typeface="Times New Roman" panose="02020603050405020304"/>
                <a:cs typeface="Times New Roman" panose="02020603050405020304"/>
                <a:sym typeface="Times New Roman" panose="02020603050405020304"/>
              </a:rPr>
              <a:t>Student s</a:t>
            </a: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 boolean</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1" name="Google Shape;141;p29"/>
          <p:cNvSpPr txBox="1"/>
          <p:nvPr/>
        </p:nvSpPr>
        <p:spPr>
          <a:xfrm>
            <a:off x="107504" y="5037723"/>
            <a:ext cx="2232248" cy="30777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panose="020F0502020204030204"/>
                <a:ea typeface="Calibri" panose="020F0502020204030204"/>
                <a:cs typeface="Calibri" panose="020F0502020204030204"/>
                <a:sym typeface="Calibri" panose="020F0502020204030204"/>
              </a:rPr>
              <a:t>CardPayment</a:t>
            </a:r>
            <a:endParaRPr sz="1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2" name="Google Shape;142;p29"/>
          <p:cNvSpPr txBox="1"/>
          <p:nvPr/>
        </p:nvSpPr>
        <p:spPr>
          <a:xfrm>
            <a:off x="3517505" y="5034919"/>
            <a:ext cx="1640720" cy="30777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QuickTeller</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3" name="Google Shape;143;p29"/>
          <p:cNvCxnSpPr/>
          <p:nvPr/>
        </p:nvCxnSpPr>
        <p:spPr>
          <a:xfrm>
            <a:off x="1054682" y="4661197"/>
            <a:ext cx="3085270" cy="0"/>
          </a:xfrm>
          <a:prstGeom prst="straightConnector1">
            <a:avLst/>
          </a:prstGeom>
          <a:noFill/>
          <a:ln w="19050" cap="flat" cmpd="sng">
            <a:solidFill>
              <a:schemeClr val="dk1"/>
            </a:solidFill>
            <a:prstDash val="solid"/>
            <a:round/>
            <a:headEnd type="none" w="sm" len="sm"/>
            <a:tailEnd type="none" w="sm" len="sm"/>
          </a:ln>
        </p:spPr>
      </p:cxnSp>
      <p:cxnSp>
        <p:nvCxnSpPr>
          <p:cNvPr id="144" name="Google Shape;144;p29"/>
          <p:cNvCxnSpPr/>
          <p:nvPr/>
        </p:nvCxnSpPr>
        <p:spPr>
          <a:xfrm>
            <a:off x="2195736" y="4172294"/>
            <a:ext cx="0" cy="510042"/>
          </a:xfrm>
          <a:prstGeom prst="straightConnector1">
            <a:avLst/>
          </a:prstGeom>
          <a:noFill/>
          <a:ln w="19050" cap="flat" cmpd="sng">
            <a:solidFill>
              <a:schemeClr val="dk1"/>
            </a:solidFill>
            <a:prstDash val="dash"/>
            <a:round/>
            <a:headEnd type="none" w="sm" len="sm"/>
            <a:tailEnd type="none" w="sm" len="sm"/>
          </a:ln>
        </p:spPr>
      </p:cxnSp>
      <p:cxnSp>
        <p:nvCxnSpPr>
          <p:cNvPr id="145" name="Google Shape;145;p29"/>
          <p:cNvCxnSpPr/>
          <p:nvPr/>
        </p:nvCxnSpPr>
        <p:spPr>
          <a:xfrm>
            <a:off x="4139952" y="4667119"/>
            <a:ext cx="0" cy="367800"/>
          </a:xfrm>
          <a:prstGeom prst="straightConnector1">
            <a:avLst/>
          </a:prstGeom>
          <a:noFill/>
          <a:ln w="19050" cap="flat" cmpd="sng">
            <a:solidFill>
              <a:schemeClr val="dk1"/>
            </a:solidFill>
            <a:prstDash val="solid"/>
            <a:round/>
            <a:headEnd type="none" w="sm" len="sm"/>
            <a:tailEnd type="none" w="sm" len="sm"/>
          </a:ln>
        </p:spPr>
      </p:cxnSp>
      <p:sp>
        <p:nvSpPr>
          <p:cNvPr id="146" name="Google Shape;146;p29"/>
          <p:cNvSpPr/>
          <p:nvPr/>
        </p:nvSpPr>
        <p:spPr>
          <a:xfrm>
            <a:off x="2123728" y="4048502"/>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47" name="Google Shape;147;p29"/>
          <p:cNvCxnSpPr/>
          <p:nvPr/>
        </p:nvCxnSpPr>
        <p:spPr>
          <a:xfrm>
            <a:off x="1054682" y="4667119"/>
            <a:ext cx="0" cy="410472"/>
          </a:xfrm>
          <a:prstGeom prst="straightConnector1">
            <a:avLst/>
          </a:prstGeom>
          <a:noFill/>
          <a:ln w="19050" cap="flat" cmpd="sng">
            <a:solidFill>
              <a:schemeClr val="dk1"/>
            </a:solidFill>
            <a:prstDash val="solid"/>
            <a:round/>
            <a:headEnd type="none" w="sm" len="sm"/>
            <a:tailEnd type="none" w="sm" len="sm"/>
          </a:ln>
        </p:spPr>
      </p:cxnSp>
      <p:sp>
        <p:nvSpPr>
          <p:cNvPr id="148" name="Google Shape;148;p29"/>
          <p:cNvSpPr txBox="1"/>
          <p:nvPr/>
        </p:nvSpPr>
        <p:spPr>
          <a:xfrm>
            <a:off x="239202" y="1607865"/>
            <a:ext cx="8425184" cy="957039"/>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666666"/>
              </a:buClr>
              <a:buSzPts val="2400"/>
              <a:buFont typeface="Arial" panose="020B0604020202020204"/>
              <a:buChar char="•"/>
            </a:pPr>
            <a:r>
              <a:rPr lang="en-US" sz="2400">
                <a:solidFill>
                  <a:srgbClr val="666666"/>
                </a:solidFill>
                <a:latin typeface="Calibri" panose="020F0502020204030204"/>
                <a:ea typeface="Calibri" panose="020F0502020204030204"/>
                <a:cs typeface="Calibri" panose="020F0502020204030204"/>
                <a:sym typeface="Calibri" panose="020F0502020204030204"/>
              </a:rPr>
              <a:t>Let’s say you will want to offer flexibility for students pay with multiple alternative payments channels in their portal</a:t>
            </a:r>
            <a:endParaRPr sz="2400">
              <a:solidFill>
                <a:srgbClr val="666666"/>
              </a:solidFill>
              <a:latin typeface="Calibri" panose="020F0502020204030204"/>
              <a:ea typeface="Calibri" panose="020F0502020204030204"/>
              <a:cs typeface="Calibri" panose="020F0502020204030204"/>
              <a:sym typeface="Calibri" panose="020F0502020204030204"/>
            </a:endParaRPr>
          </a:p>
        </p:txBody>
      </p:sp>
      <p:sp>
        <p:nvSpPr>
          <p:cNvPr id="149" name="Google Shape;149;p29"/>
          <p:cNvSpPr txBox="1"/>
          <p:nvPr/>
        </p:nvSpPr>
        <p:spPr>
          <a:xfrm>
            <a:off x="262861" y="3002062"/>
            <a:ext cx="3391543" cy="5232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&lt;&lt;interface&gt;</a:t>
            </a:r>
          </a:p>
          <a:p>
            <a:pPr marL="0" marR="0" lvl="0" indent="0" algn="ctr"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PaymentChannel</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50" name="Google Shape;150;p29"/>
          <p:cNvCxnSpPr/>
          <p:nvPr/>
        </p:nvCxnSpPr>
        <p:spPr>
          <a:xfrm>
            <a:off x="3643063" y="3263672"/>
            <a:ext cx="765137" cy="0"/>
          </a:xfrm>
          <a:prstGeom prst="straightConnector1">
            <a:avLst/>
          </a:prstGeom>
          <a:noFill/>
          <a:ln w="19050" cap="flat" cmpd="sng">
            <a:solidFill>
              <a:schemeClr val="dk1"/>
            </a:solidFill>
            <a:prstDash val="solid"/>
            <a:round/>
            <a:headEnd type="none" w="sm" len="sm"/>
            <a:tailEnd type="none" w="sm" len="sm"/>
          </a:ln>
        </p:spPr>
      </p:cxnSp>
      <p:sp>
        <p:nvSpPr>
          <p:cNvPr id="151" name="Google Shape;151;p29"/>
          <p:cNvSpPr txBox="1"/>
          <p:nvPr/>
        </p:nvSpPr>
        <p:spPr>
          <a:xfrm>
            <a:off x="174916" y="5517232"/>
            <a:ext cx="8425184" cy="957039"/>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666666"/>
              </a:buClr>
              <a:buSzPts val="2200"/>
              <a:buFont typeface="Arial" panose="020B0604020202020204"/>
              <a:buChar char="•"/>
            </a:pPr>
            <a:r>
              <a:rPr lang="en-US" sz="2200">
                <a:solidFill>
                  <a:srgbClr val="666666"/>
                </a:solidFill>
                <a:latin typeface="Calibri" panose="020F0502020204030204"/>
                <a:ea typeface="Calibri" panose="020F0502020204030204"/>
                <a:cs typeface="Calibri" panose="020F0502020204030204"/>
                <a:sym typeface="Calibri" panose="020F0502020204030204"/>
              </a:rPr>
              <a:t>Can you implement the above diagram</a:t>
            </a:r>
          </a:p>
          <a:p>
            <a:pPr marL="342900" marR="0" lvl="0" indent="-342900" algn="l" rtl="0">
              <a:spcBef>
                <a:spcPts val="400"/>
              </a:spcBef>
              <a:spcAft>
                <a:spcPts val="0"/>
              </a:spcAft>
              <a:buClr>
                <a:srgbClr val="666666"/>
              </a:buClr>
              <a:buSzPts val="2000"/>
              <a:buFont typeface="Arial" panose="020B0604020202020204"/>
              <a:buChar char="•"/>
            </a:pPr>
            <a:r>
              <a:rPr lang="en-US" sz="2000">
                <a:solidFill>
                  <a:srgbClr val="666666"/>
                </a:solidFill>
                <a:latin typeface="Calibri" panose="020F0502020204030204"/>
                <a:ea typeface="Calibri" panose="020F0502020204030204"/>
                <a:cs typeface="Calibri" panose="020F0502020204030204"/>
                <a:sym typeface="Calibri" panose="020F0502020204030204"/>
              </a:rPr>
              <a:t>From the diagram, identify the following principles : Open-closed, program to interface, encapsulate what varies, favour composition over inheritance.</a:t>
            </a:r>
          </a:p>
          <a:p>
            <a:pPr marL="342900" marR="0" lvl="0" indent="-215900" algn="l" rtl="0">
              <a:spcBef>
                <a:spcPts val="400"/>
              </a:spcBef>
              <a:spcAft>
                <a:spcPts val="0"/>
              </a:spcAft>
              <a:buClr>
                <a:srgbClr val="666666"/>
              </a:buClr>
              <a:buSzPts val="2000"/>
              <a:buFont typeface="Arial" panose="020B0604020202020204"/>
              <a:buNone/>
            </a:pPr>
            <a:endParaRPr sz="2000">
              <a:solidFill>
                <a:srgbClr val="666666"/>
              </a:solidFill>
              <a:latin typeface="Calibri" panose="020F0502020204030204"/>
              <a:ea typeface="Calibri" panose="020F0502020204030204"/>
              <a:cs typeface="Calibri" panose="020F0502020204030204"/>
              <a:sym typeface="Calibri" panose="020F0502020204030204"/>
            </a:endParaRPr>
          </a:p>
          <a:p>
            <a:pPr marL="342900" marR="0" lvl="0" indent="-203200" algn="l" rtl="0">
              <a:spcBef>
                <a:spcPts val="440"/>
              </a:spcBef>
              <a:spcAft>
                <a:spcPts val="0"/>
              </a:spcAft>
              <a:buClr>
                <a:srgbClr val="666666"/>
              </a:buClr>
              <a:buSzPts val="2200"/>
              <a:buFont typeface="Arial" panose="020B0604020202020204"/>
              <a:buNone/>
            </a:pPr>
            <a:endParaRPr sz="2200">
              <a:solidFill>
                <a:srgbClr val="66666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Strategy Pattern: when to use</a:t>
            </a:r>
            <a:endParaRPr lang="en-GB" sz="3200" dirty="0"/>
          </a:p>
        </p:txBody>
      </p:sp>
      <p:sp>
        <p:nvSpPr>
          <p:cNvPr id="3" name="Text Placeholder 2"/>
          <p:cNvSpPr>
            <a:spLocks noGrp="1"/>
          </p:cNvSpPr>
          <p:nvPr>
            <p:ph type="body" idx="1"/>
          </p:nvPr>
        </p:nvSpPr>
        <p:spPr>
          <a:xfrm>
            <a:off x="145030" y="1661795"/>
            <a:ext cx="8739087" cy="4752975"/>
          </a:xfrm>
        </p:spPr>
        <p:txBody>
          <a:bodyPr/>
          <a:lstStyle/>
          <a:p>
            <a:pPr algn="just"/>
            <a:r>
              <a:rPr lang="en-GB" sz="2000" b="1" dirty="0"/>
              <a:t>Multiple Algorithms for a Task:</a:t>
            </a:r>
            <a:r>
              <a:rPr lang="en-GB" sz="2000" dirty="0"/>
              <a:t> If your program needs to perform a specific task in different ways depending on the situation, the strategy pattern is a great fit. By creating separate strategy objects for each approach, you can easily switch between them without modifying the core logic.</a:t>
            </a:r>
          </a:p>
          <a:p>
            <a:pPr algn="just"/>
            <a:r>
              <a:rPr lang="en-GB" sz="2000" b="1" dirty="0"/>
              <a:t>Algorithmic Changes Without Code Overhaul:</a:t>
            </a:r>
            <a:r>
              <a:rPr lang="en-GB" sz="2000" dirty="0"/>
              <a:t> Imagine a program that sorts data. With the strategy pattern, you can implement different sorting algorithms (e.g., bubble sort, quicksort) as separate strategies. This allows you to easily add new sorting algorithms or change the default sorting </a:t>
            </a:r>
            <a:r>
              <a:rPr lang="en-GB" sz="2000" dirty="0" err="1"/>
              <a:t>behavior</a:t>
            </a:r>
            <a:r>
              <a:rPr lang="en-GB" sz="2000" dirty="0"/>
              <a:t> without modifying the core functionality of the sorting logic.</a:t>
            </a:r>
          </a:p>
          <a:p>
            <a:pPr algn="just"/>
            <a:r>
              <a:rPr lang="en-GB" sz="2000" b="1" dirty="0"/>
              <a:t>Dynamic Algorithm Selection:</a:t>
            </a:r>
            <a:r>
              <a:rPr lang="en-GB" sz="2000" dirty="0"/>
              <a:t> Sometimes, the choice of algorithm depends on runtime factors like user input or system conditions. The strategy pattern empowers you to select the appropriate strategy based on these factors at runtime, making your program adaptable.</a:t>
            </a:r>
          </a:p>
          <a:p>
            <a:endParaRPr lang="en-GB"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ctrTitle"/>
          </p:nvPr>
        </p:nvSpPr>
        <p:spPr>
          <a:xfrm>
            <a:off x="467544"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Quiz</a:t>
            </a:r>
            <a:endParaRPr sz="2400"/>
          </a:p>
        </p:txBody>
      </p:sp>
      <p:sp>
        <p:nvSpPr>
          <p:cNvPr id="172" name="Google Shape;172;p31"/>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Think of implementation scenarios that may benefit from strategy pattern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2"/>
          <p:cNvSpPr txBox="1">
            <a:spLocks noGrp="1"/>
          </p:cNvSpPr>
          <p:nvPr>
            <p:ph type="ctrTitle"/>
          </p:nvPr>
        </p:nvSpPr>
        <p:spPr>
          <a:xfrm>
            <a:off x="467544" y="1052736"/>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Observer pattern</a:t>
            </a:r>
            <a:endParaRPr sz="2400"/>
          </a:p>
        </p:txBody>
      </p:sp>
      <p:sp>
        <p:nvSpPr>
          <p:cNvPr id="178" name="Google Shape;178;p32"/>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Pattern is one of the most heavily used patterns in the JDK,</a:t>
            </a:r>
          </a:p>
          <a:p>
            <a:pPr marL="342900" lvl="0" indent="-342900" algn="l" rtl="0">
              <a:spcBef>
                <a:spcPts val="480"/>
              </a:spcBef>
              <a:spcAft>
                <a:spcPts val="0"/>
              </a:spcAft>
              <a:buClr>
                <a:srgbClr val="666666"/>
              </a:buClr>
              <a:buSzPts val="2400"/>
              <a:buChar char="•"/>
            </a:pPr>
            <a:r>
              <a:rPr lang="en-US"/>
              <a:t>Hollywood principle </a:t>
            </a:r>
          </a:p>
          <a:p>
            <a:pPr marL="342900" lvl="0" indent="-342900" algn="l" rtl="0">
              <a:spcBef>
                <a:spcPts val="480"/>
              </a:spcBef>
              <a:spcAft>
                <a:spcPts val="0"/>
              </a:spcAft>
              <a:buClr>
                <a:srgbClr val="666666"/>
              </a:buClr>
              <a:buSzPts val="2400"/>
              <a:buChar char="•"/>
            </a:pPr>
            <a:r>
              <a:rPr lang="en-US"/>
              <a:t>Event driven</a:t>
            </a:r>
          </a:p>
          <a:p>
            <a:pPr marL="342900" lvl="0" indent="-342900" algn="l" rtl="0">
              <a:spcBef>
                <a:spcPts val="480"/>
              </a:spcBef>
              <a:spcAft>
                <a:spcPts val="0"/>
              </a:spcAft>
              <a:buClr>
                <a:srgbClr val="666666"/>
              </a:buClr>
              <a:buSzPts val="2400"/>
              <a:buChar char="•"/>
            </a:pPr>
            <a:r>
              <a:rPr lang="en-US"/>
              <a:t>Observer pattern = Publishers + Subscriber objects</a:t>
            </a:r>
          </a:p>
          <a:p>
            <a:pPr marL="742950" lvl="1" indent="-285750" algn="l" rtl="0">
              <a:spcBef>
                <a:spcPts val="440"/>
              </a:spcBef>
              <a:spcAft>
                <a:spcPts val="0"/>
              </a:spcAft>
              <a:buClr>
                <a:srgbClr val="666666"/>
              </a:buClr>
              <a:buSzPts val="2200"/>
              <a:buChar char="–"/>
            </a:pPr>
            <a:r>
              <a:rPr lang="en-US"/>
              <a:t>Youtube Channel subscription</a:t>
            </a:r>
          </a:p>
          <a:p>
            <a:pPr marL="342900" lvl="0" indent="-342900" algn="l" rtl="0">
              <a:spcBef>
                <a:spcPts val="480"/>
              </a:spcBef>
              <a:spcAft>
                <a:spcPts val="0"/>
              </a:spcAft>
              <a:buClr>
                <a:srgbClr val="666666"/>
              </a:buClr>
              <a:buSzPts val="2400"/>
              <a:buChar char="•"/>
            </a:pPr>
            <a:r>
              <a:rPr lang="en-US"/>
              <a:t>The publisher is the subject and the subscribers  are the observers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ctrTitle"/>
          </p:nvPr>
        </p:nvSpPr>
        <p:spPr>
          <a:xfrm>
            <a:off x="467544" y="1052736"/>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Observer pattern</a:t>
            </a:r>
            <a:endParaRPr sz="2400"/>
          </a:p>
        </p:txBody>
      </p:sp>
      <p:sp>
        <p:nvSpPr>
          <p:cNvPr id="184" name="Google Shape;184;p33"/>
          <p:cNvSpPr txBox="1">
            <a:spLocks noGrp="1"/>
          </p:cNvSpPr>
          <p:nvPr>
            <p:ph type="body" idx="1"/>
          </p:nvPr>
        </p:nvSpPr>
        <p:spPr>
          <a:xfrm>
            <a:off x="251520" y="1700808"/>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The Observer Pattern defines a one-to-many dependency between objects so that when one object changes state, all of its dependents are notified and updated automatically.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ctrTitle"/>
          </p:nvPr>
        </p:nvSpPr>
        <p:spPr>
          <a:xfrm>
            <a:off x="467544" y="1052736"/>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Observer pattern: when to use </a:t>
            </a:r>
            <a:endParaRPr sz="2400" dirty="0"/>
          </a:p>
        </p:txBody>
      </p:sp>
      <p:sp>
        <p:nvSpPr>
          <p:cNvPr id="184" name="Google Shape;184;p33"/>
          <p:cNvSpPr txBox="1">
            <a:spLocks noGrp="1"/>
          </p:cNvSpPr>
          <p:nvPr>
            <p:ph type="body" idx="1"/>
          </p:nvPr>
        </p:nvSpPr>
        <p:spPr>
          <a:xfrm>
            <a:off x="116766" y="1566054"/>
            <a:ext cx="8690349" cy="4752975"/>
          </a:xfrm>
          <a:prstGeom prst="rect">
            <a:avLst/>
          </a:prstGeom>
          <a:noFill/>
          <a:ln>
            <a:noFill/>
          </a:ln>
        </p:spPr>
        <p:txBody>
          <a:bodyPr spcFirstLastPara="1" wrap="square" lIns="91425" tIns="45700" rIns="91425" bIns="45700" anchor="t" anchorCtr="0">
            <a:noAutofit/>
          </a:bodyPr>
          <a:lstStyle/>
          <a:p>
            <a:r>
              <a:rPr lang="en-GB" sz="2000" b="1" dirty="0"/>
              <a:t>Decoupled Communication:</a:t>
            </a:r>
            <a:r>
              <a:rPr lang="en-GB" sz="2000" dirty="0"/>
              <a:t> When you want objects to communicate state changes without them being tightly coupled and knowing each other's specifics. The Observer Pattern promotes loose coupling, making the code more maintainable and easier to modify.</a:t>
            </a:r>
          </a:p>
          <a:p>
            <a:r>
              <a:rPr lang="en-GB" sz="2000" b="1" dirty="0"/>
              <a:t>Dynamic Updates:</a:t>
            </a:r>
            <a:r>
              <a:rPr lang="en-GB" sz="2000" dirty="0"/>
              <a:t> Imagine a scenario where an object's state change needs to trigger updates in a variable number of other objects. The Observer Pattern allows for dynamic addition or removal of observers, making the notification structure flexible and adaptable.</a:t>
            </a:r>
          </a:p>
          <a:p>
            <a:r>
              <a:rPr lang="en-GB" sz="2000" b="1" dirty="0"/>
              <a:t>Event-Driven Systems:</a:t>
            </a:r>
            <a:r>
              <a:rPr lang="en-GB" sz="2000" dirty="0"/>
              <a:t> In event-driven systems, objects often react to events triggered by other objects. The Observer Pattern provides a clean way to implement this by letting objects subscribe to specific events and receive notifications when those events occur.</a:t>
            </a:r>
          </a:p>
          <a:p>
            <a:r>
              <a:rPr lang="en-GB" sz="2000" b="1" dirty="0"/>
              <a:t>Data Synchronization:</a:t>
            </a:r>
            <a:r>
              <a:rPr lang="en-GB" sz="2000" dirty="0"/>
              <a:t> If multiple objects need to stay in sync with the same data, the Observer Pattern ensures efficient updates. Whenever the data changes, the subject notifies all registered observers, keeping them all on the same page.</a:t>
            </a:r>
          </a:p>
          <a:p>
            <a:endParaRPr lang="en-GB"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21"/>
          <p:cNvSpPr txBox="1">
            <a:spLocks noGrp="1"/>
          </p:cNvSpPr>
          <p:nvPr>
            <p:ph type="ctrTitle"/>
          </p:nvPr>
        </p:nvSpPr>
        <p:spPr>
          <a:xfrm>
            <a:off x="395536" y="1196752"/>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Decorator pattern: class explosion</a:t>
            </a:r>
            <a:endParaRPr sz="2400" dirty="0"/>
          </a:p>
        </p:txBody>
      </p:sp>
      <p:sp>
        <p:nvSpPr>
          <p:cNvPr id="74" name="Google Shape;74;p21"/>
          <p:cNvSpPr txBox="1">
            <a:spLocks noGrp="1"/>
          </p:cNvSpPr>
          <p:nvPr>
            <p:ph type="body" idx="1"/>
          </p:nvPr>
        </p:nvSpPr>
        <p:spPr>
          <a:xfrm>
            <a:off x="0" y="5157192"/>
            <a:ext cx="8425184" cy="10081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200"/>
              <a:buChar char="•"/>
            </a:pPr>
            <a:r>
              <a:rPr lang="en-US" sz="2200"/>
              <a:t>There may be different add-ons like salad, snacks, and pepper soup </a:t>
            </a:r>
            <a:endParaRPr sz="2200"/>
          </a:p>
        </p:txBody>
      </p:sp>
      <p:sp>
        <p:nvSpPr>
          <p:cNvPr id="75" name="Google Shape;75;p21"/>
          <p:cNvSpPr txBox="1"/>
          <p:nvPr/>
        </p:nvSpPr>
        <p:spPr>
          <a:xfrm>
            <a:off x="495623" y="1807515"/>
            <a:ext cx="2618961"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SallahMeal</a:t>
            </a:r>
            <a:endPara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6" name="Google Shape;76;p21"/>
          <p:cNvSpPr txBox="1"/>
          <p:nvPr/>
        </p:nvSpPr>
        <p:spPr>
          <a:xfrm>
            <a:off x="2555775" y="4077498"/>
            <a:ext cx="1518363"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WRiceStew</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7" name="Google Shape;77;p21"/>
          <p:cNvSpPr txBox="1"/>
          <p:nvPr/>
        </p:nvSpPr>
        <p:spPr>
          <a:xfrm>
            <a:off x="4211959" y="4077498"/>
            <a:ext cx="1224136"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TuwoOkro</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8" name="Google Shape;78;p21"/>
          <p:cNvSpPr txBox="1"/>
          <p:nvPr/>
        </p:nvSpPr>
        <p:spPr>
          <a:xfrm>
            <a:off x="7524328" y="4099792"/>
            <a:ext cx="1584176"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a:solidFill>
                  <a:schemeClr val="dk1"/>
                </a:solidFill>
                <a:latin typeface="Calibri" panose="020F0502020204030204"/>
                <a:ea typeface="Calibri" panose="020F0502020204030204"/>
                <a:cs typeface="Calibri" panose="020F0502020204030204"/>
                <a:sym typeface="Calibri" panose="020F0502020204030204"/>
              </a:rPr>
              <a:t>TuwoOkroPSoup</a:t>
            </a:r>
            <a:endParaRPr sz="16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79" name="Google Shape;79;p21"/>
          <p:cNvSpPr txBox="1"/>
          <p:nvPr/>
        </p:nvSpPr>
        <p:spPr>
          <a:xfrm>
            <a:off x="495623" y="2150718"/>
            <a:ext cx="2618962" cy="95410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mainDish: 	String</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stew:  	String</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soup: 	String</a:t>
            </a:r>
          </a:p>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value:     	double</a:t>
            </a: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0" name="Google Shape;80;p21"/>
          <p:cNvSpPr txBox="1"/>
          <p:nvPr/>
        </p:nvSpPr>
        <p:spPr>
          <a:xfrm>
            <a:off x="495623" y="3094963"/>
            <a:ext cx="2618962"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getMealDescriptio (): String</a:t>
            </a:r>
          </a:p>
          <a:p>
            <a:pPr marL="0" marR="0" lvl="0" indent="0" algn="ctr" rtl="0">
              <a:spcBef>
                <a:spcPts val="0"/>
              </a:spcBef>
              <a:spcAft>
                <a:spcPts val="0"/>
              </a:spcAft>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getMealValue(): double</a:t>
            </a: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1" name="Google Shape;81;p21"/>
          <p:cNvSpPr txBox="1"/>
          <p:nvPr/>
        </p:nvSpPr>
        <p:spPr>
          <a:xfrm>
            <a:off x="5553809" y="4036143"/>
            <a:ext cx="1250438"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WRicePSoup</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2" name="Google Shape;82;p21"/>
          <p:cNvSpPr txBox="1"/>
          <p:nvPr/>
        </p:nvSpPr>
        <p:spPr>
          <a:xfrm>
            <a:off x="4491440" y="1812164"/>
            <a:ext cx="260084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SallahMeal</a:t>
            </a: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83" name="Google Shape;83;p21"/>
          <p:cNvCxnSpPr/>
          <p:nvPr/>
        </p:nvCxnSpPr>
        <p:spPr>
          <a:xfrm>
            <a:off x="5718611" y="3429758"/>
            <a:ext cx="0" cy="214781"/>
          </a:xfrm>
          <a:prstGeom prst="straightConnector1">
            <a:avLst/>
          </a:prstGeom>
          <a:noFill/>
          <a:ln w="19050" cap="flat" cmpd="sng">
            <a:solidFill>
              <a:schemeClr val="dk1"/>
            </a:solidFill>
            <a:prstDash val="solid"/>
            <a:round/>
            <a:headEnd type="none" w="sm" len="sm"/>
            <a:tailEnd type="none" w="sm" len="sm"/>
          </a:ln>
        </p:spPr>
      </p:cxnSp>
      <p:sp>
        <p:nvSpPr>
          <p:cNvPr id="84" name="Google Shape;84;p21"/>
          <p:cNvSpPr/>
          <p:nvPr/>
        </p:nvSpPr>
        <p:spPr>
          <a:xfrm>
            <a:off x="5646603" y="3320269"/>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85" name="Google Shape;85;p21"/>
          <p:cNvCxnSpPr/>
          <p:nvPr/>
        </p:nvCxnSpPr>
        <p:spPr>
          <a:xfrm rot="10800000">
            <a:off x="3524914" y="3683360"/>
            <a:ext cx="4536503" cy="0"/>
          </a:xfrm>
          <a:prstGeom prst="straightConnector1">
            <a:avLst/>
          </a:prstGeom>
          <a:noFill/>
          <a:ln w="19050" cap="flat" cmpd="sng">
            <a:solidFill>
              <a:schemeClr val="dk1"/>
            </a:solidFill>
            <a:prstDash val="solid"/>
            <a:round/>
            <a:headEnd type="none" w="sm" len="sm"/>
            <a:tailEnd type="none" w="sm" len="sm"/>
          </a:ln>
        </p:spPr>
      </p:cxnSp>
      <p:cxnSp>
        <p:nvCxnSpPr>
          <p:cNvPr id="86" name="Google Shape;86;p21"/>
          <p:cNvCxnSpPr/>
          <p:nvPr/>
        </p:nvCxnSpPr>
        <p:spPr>
          <a:xfrm>
            <a:off x="3524914" y="3683360"/>
            <a:ext cx="0" cy="424920"/>
          </a:xfrm>
          <a:prstGeom prst="straightConnector1">
            <a:avLst/>
          </a:prstGeom>
          <a:noFill/>
          <a:ln w="19050" cap="flat" cmpd="sng">
            <a:solidFill>
              <a:schemeClr val="dk1"/>
            </a:solidFill>
            <a:prstDash val="solid"/>
            <a:round/>
            <a:headEnd type="none" w="sm" len="sm"/>
            <a:tailEnd type="none" w="sm" len="sm"/>
          </a:ln>
        </p:spPr>
      </p:cxnSp>
      <p:cxnSp>
        <p:nvCxnSpPr>
          <p:cNvPr id="87" name="Google Shape;87;p21"/>
          <p:cNvCxnSpPr/>
          <p:nvPr/>
        </p:nvCxnSpPr>
        <p:spPr>
          <a:xfrm>
            <a:off x="4832140" y="3674872"/>
            <a:ext cx="0" cy="424920"/>
          </a:xfrm>
          <a:prstGeom prst="straightConnector1">
            <a:avLst/>
          </a:prstGeom>
          <a:noFill/>
          <a:ln w="19050" cap="flat" cmpd="sng">
            <a:solidFill>
              <a:schemeClr val="dk1"/>
            </a:solidFill>
            <a:prstDash val="solid"/>
            <a:round/>
            <a:headEnd type="none" w="sm" len="sm"/>
            <a:tailEnd type="none" w="sm" len="sm"/>
          </a:ln>
        </p:spPr>
      </p:cxnSp>
      <p:cxnSp>
        <p:nvCxnSpPr>
          <p:cNvPr id="88" name="Google Shape;88;p21"/>
          <p:cNvCxnSpPr/>
          <p:nvPr/>
        </p:nvCxnSpPr>
        <p:spPr>
          <a:xfrm>
            <a:off x="5826424" y="3683360"/>
            <a:ext cx="0" cy="386584"/>
          </a:xfrm>
          <a:prstGeom prst="straightConnector1">
            <a:avLst/>
          </a:prstGeom>
          <a:noFill/>
          <a:ln w="19050" cap="flat" cmpd="sng">
            <a:solidFill>
              <a:schemeClr val="dk1"/>
            </a:solidFill>
            <a:prstDash val="solid"/>
            <a:round/>
            <a:headEnd type="none" w="sm" len="sm"/>
            <a:tailEnd type="none" w="sm" len="sm"/>
          </a:ln>
        </p:spPr>
      </p:cxnSp>
      <p:cxnSp>
        <p:nvCxnSpPr>
          <p:cNvPr id="89" name="Google Shape;89;p21"/>
          <p:cNvCxnSpPr/>
          <p:nvPr/>
        </p:nvCxnSpPr>
        <p:spPr>
          <a:xfrm>
            <a:off x="8061417" y="3683360"/>
            <a:ext cx="0" cy="424920"/>
          </a:xfrm>
          <a:prstGeom prst="straightConnector1">
            <a:avLst/>
          </a:prstGeom>
          <a:noFill/>
          <a:ln w="19050" cap="flat" cmpd="sng">
            <a:solidFill>
              <a:schemeClr val="dk1"/>
            </a:solidFill>
            <a:prstDash val="solid"/>
            <a:round/>
            <a:headEnd type="none" w="sm" len="sm"/>
            <a:tailEnd type="none" w="sm" len="sm"/>
          </a:ln>
        </p:spPr>
      </p:cxnSp>
      <p:sp>
        <p:nvSpPr>
          <p:cNvPr id="90" name="Google Shape;90;p21"/>
          <p:cNvSpPr txBox="1"/>
          <p:nvPr/>
        </p:nvSpPr>
        <p:spPr>
          <a:xfrm>
            <a:off x="4491440" y="2150718"/>
            <a:ext cx="2600840" cy="523220"/>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Times New Roman" panose="02020603050405020304"/>
                <a:ea typeface="Times New Roman" panose="02020603050405020304"/>
                <a:cs typeface="Times New Roman" panose="02020603050405020304"/>
                <a:sym typeface="Times New Roman" panose="02020603050405020304"/>
              </a:rPr>
              <a:t>mainDish: 	String</a:t>
            </a:r>
          </a:p>
          <a:p>
            <a:pPr marL="0" marR="0" lvl="0" indent="0" algn="l" rtl="0">
              <a:spcBef>
                <a:spcPts val="0"/>
              </a:spcBef>
              <a:spcAft>
                <a:spcPts val="0"/>
              </a:spcAft>
              <a:buNone/>
            </a:pPr>
            <a:endParaRPr sz="1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1" name="Google Shape;91;p21"/>
          <p:cNvSpPr txBox="1"/>
          <p:nvPr/>
        </p:nvSpPr>
        <p:spPr>
          <a:xfrm>
            <a:off x="4490199" y="2673938"/>
            <a:ext cx="2600841"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getMealDescriptio (): String</a:t>
            </a:r>
          </a:p>
          <a:p>
            <a:pPr marL="0" marR="0" lvl="0" indent="0" algn="ctr" rtl="0">
              <a:spcBef>
                <a:spcPts val="0"/>
              </a:spcBef>
              <a:spcAft>
                <a:spcPts val="0"/>
              </a:spcAft>
              <a:buNone/>
            </a:pPr>
            <a:r>
              <a:rPr lang="en-US" sz="1600">
                <a:solidFill>
                  <a:schemeClr val="dk1"/>
                </a:solidFill>
                <a:latin typeface="Times New Roman" panose="02020603050405020304"/>
                <a:ea typeface="Times New Roman" panose="02020603050405020304"/>
                <a:cs typeface="Times New Roman" panose="02020603050405020304"/>
                <a:sym typeface="Times New Roman" panose="02020603050405020304"/>
              </a:rPr>
              <a:t>getMealValue(): double</a:t>
            </a:r>
            <a:endParaRPr sz="16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2" name="Google Shape;92;p21"/>
          <p:cNvSpPr/>
          <p:nvPr/>
        </p:nvSpPr>
        <p:spPr>
          <a:xfrm>
            <a:off x="3314956" y="2412328"/>
            <a:ext cx="897003" cy="261610"/>
          </a:xfrm>
          <a:prstGeom prst="rightArrow">
            <a:avLst>
              <a:gd name="adj1" fmla="val 50000"/>
              <a:gd name="adj2"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3" name="Google Shape;93;p21"/>
          <p:cNvSpPr/>
          <p:nvPr/>
        </p:nvSpPr>
        <p:spPr>
          <a:xfrm>
            <a:off x="251520" y="2339739"/>
            <a:ext cx="2104890" cy="576064"/>
          </a:xfrm>
          <a:prstGeom prst="ellipse">
            <a:avLst/>
          </a:prstGeom>
          <a:no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92"/>
                                        </p:tgtEl>
                                        <p:attrNameLst>
                                          <p:attrName>style.visibility</p:attrName>
                                        </p:attrNameLst>
                                      </p:cBhvr>
                                      <p:to>
                                        <p:strVal val="visible"/>
                                      </p:to>
                                    </p:set>
                                    <p:anim calcmode="lin" valueType="num">
                                      <p:cBhvr additive="base">
                                        <p:cTn id="11" dur="500"/>
                                        <p:tgtEl>
                                          <p:spTgt spid="92"/>
                                        </p:tgtEl>
                                        <p:attrNameLst>
                                          <p:attrName>ppt_w</p:attrName>
                                        </p:attrNameLst>
                                      </p:cBhvr>
                                      <p:tavLst>
                                        <p:tav tm="0">
                                          <p:val>
                                            <p:fltVal val="0"/>
                                          </p:val>
                                        </p:tav>
                                        <p:tav tm="100000">
                                          <p:val>
                                            <p:strVal val="#ppt_w"/>
                                          </p:val>
                                        </p:tav>
                                      </p:tavLst>
                                    </p:anim>
                                    <p:anim calcmode="lin" valueType="num">
                                      <p:cBhvr additive="base">
                                        <p:cTn id="12" dur="500"/>
                                        <p:tgtEl>
                                          <p:spTgt spid="92"/>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2"/>
          <p:cNvSpPr txBox="1">
            <a:spLocks noGrp="1"/>
          </p:cNvSpPr>
          <p:nvPr>
            <p:ph type="ctrTitle"/>
          </p:nvPr>
        </p:nvSpPr>
        <p:spPr>
          <a:xfrm>
            <a:off x="467544"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Decorator pattern definition</a:t>
            </a:r>
            <a:endParaRPr sz="2400"/>
          </a:p>
        </p:txBody>
      </p:sp>
      <p:sp>
        <p:nvSpPr>
          <p:cNvPr id="99" name="Google Shape;99;p22"/>
          <p:cNvSpPr txBox="1">
            <a:spLocks noGrp="1"/>
          </p:cNvSpPr>
          <p:nvPr>
            <p:ph type="body" idx="1"/>
          </p:nvPr>
        </p:nvSpPr>
        <p:spPr>
          <a:xfrm>
            <a:off x="29840" y="1772816"/>
            <a:ext cx="8712968"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200"/>
              <a:buChar char="•"/>
            </a:pPr>
            <a:r>
              <a:rPr lang="en-US" sz="2200" dirty="0"/>
              <a:t>Attaches additional responsibilities to an object dynamically. </a:t>
            </a:r>
            <a:endParaRPr sz="2200" dirty="0"/>
          </a:p>
          <a:p>
            <a:pPr marL="342900" lvl="0" indent="-342900" algn="l" rtl="0">
              <a:spcBef>
                <a:spcPts val="440"/>
              </a:spcBef>
              <a:spcAft>
                <a:spcPts val="0"/>
              </a:spcAft>
              <a:buClr>
                <a:srgbClr val="666666"/>
              </a:buClr>
              <a:buSzPts val="2200"/>
              <a:buChar char="•"/>
            </a:pPr>
            <a:r>
              <a:rPr lang="en-US" sz="2200" dirty="0"/>
              <a:t>Provides a flexible alternative to sub classing for extensions.</a:t>
            </a:r>
            <a:endParaRPr dirty="0"/>
          </a:p>
          <a:p>
            <a:pPr marL="742950" lvl="1" indent="-285750" algn="l" rtl="0">
              <a:spcBef>
                <a:spcPts val="400"/>
              </a:spcBef>
              <a:spcAft>
                <a:spcPts val="0"/>
              </a:spcAft>
              <a:buClr>
                <a:srgbClr val="666666"/>
              </a:buClr>
              <a:buSzPts val="2000"/>
              <a:buChar char="–"/>
            </a:pPr>
            <a:r>
              <a:rPr lang="en-US" sz="2000" dirty="0"/>
              <a:t>The pattern enforces the open-closed principle</a:t>
            </a:r>
            <a:endParaRPr dirty="0"/>
          </a:p>
          <a:p>
            <a:pPr marL="342900" lvl="0" indent="-342900" algn="l" rtl="0">
              <a:spcBef>
                <a:spcPts val="440"/>
              </a:spcBef>
              <a:spcAft>
                <a:spcPts val="0"/>
              </a:spcAft>
              <a:buClr>
                <a:srgbClr val="666666"/>
              </a:buClr>
              <a:buSzPts val="2200"/>
              <a:buChar char="•"/>
            </a:pPr>
            <a:r>
              <a:rPr lang="en-US" sz="2200" dirty="0"/>
              <a:t>Suitable scenario: we get class explosions, rigid designs, or we add functionality to the base class that isn’t appropriate for some of the subclasses</a:t>
            </a:r>
            <a:endParaRPr dirty="0"/>
          </a:p>
          <a:p>
            <a:pPr marL="342900" lvl="0" indent="-203200" algn="l" rtl="0">
              <a:spcBef>
                <a:spcPts val="440"/>
              </a:spcBef>
              <a:spcAft>
                <a:spcPts val="0"/>
              </a:spcAft>
              <a:buClr>
                <a:srgbClr val="666666"/>
              </a:buClr>
              <a:buSzPts val="2200"/>
              <a:buNone/>
            </a:pPr>
            <a:endParaRPr sz="2200" dirty="0"/>
          </a:p>
          <a:p>
            <a:pPr marL="342900" lvl="0" indent="-203200" algn="l" rtl="0">
              <a:spcBef>
                <a:spcPts val="440"/>
              </a:spcBef>
              <a:spcAft>
                <a:spcPts val="0"/>
              </a:spcAft>
              <a:buClr>
                <a:srgbClr val="666666"/>
              </a:buClr>
              <a:buSzPts val="2200"/>
              <a:buNone/>
            </a:pPr>
            <a:endParaRPr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3"/>
          <p:cNvSpPr/>
          <p:nvPr/>
        </p:nvSpPr>
        <p:spPr>
          <a:xfrm>
            <a:off x="179512" y="2348880"/>
            <a:ext cx="4464496" cy="3672408"/>
          </a:xfrm>
          <a:prstGeom prst="ellipse">
            <a:avLst/>
          </a:prstGeom>
          <a:solidFill>
            <a:srgbClr val="953734"/>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Beef</a:t>
            </a: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Beef</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5" name="Google Shape;105;p23"/>
          <p:cNvSpPr/>
          <p:nvPr/>
        </p:nvSpPr>
        <p:spPr>
          <a:xfrm>
            <a:off x="791580" y="2924944"/>
            <a:ext cx="3240360" cy="2520280"/>
          </a:xfrm>
          <a:prstGeom prst="ellipse">
            <a:avLst/>
          </a:prstGeom>
          <a:solidFill>
            <a:srgbClr val="C4BD97"/>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Draw Soup                  </a:t>
            </a: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Draw Soup</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6" name="Google Shape;106;p23"/>
          <p:cNvSpPr txBox="1">
            <a:spLocks noGrp="1"/>
          </p:cNvSpPr>
          <p:nvPr>
            <p:ph type="ctrTitle"/>
          </p:nvPr>
        </p:nvSpPr>
        <p:spPr>
          <a:xfrm>
            <a:off x="611560" y="1052736"/>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Decorating SallahMeal</a:t>
            </a:r>
            <a:endParaRPr sz="2400"/>
          </a:p>
        </p:txBody>
      </p:sp>
      <p:sp>
        <p:nvSpPr>
          <p:cNvPr id="107" name="Google Shape;107;p23"/>
          <p:cNvSpPr/>
          <p:nvPr/>
        </p:nvSpPr>
        <p:spPr>
          <a:xfrm>
            <a:off x="1475656" y="3465004"/>
            <a:ext cx="1872208" cy="1440160"/>
          </a:xfrm>
          <a:prstGeom prst="ellipse">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Tuwon Shinkafa</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8" name="Google Shape;108;p23"/>
          <p:cNvSpPr/>
          <p:nvPr/>
        </p:nvSpPr>
        <p:spPr>
          <a:xfrm>
            <a:off x="4644008" y="2060848"/>
            <a:ext cx="4464496" cy="3672408"/>
          </a:xfrm>
          <a:prstGeom prst="ellipse">
            <a:avLst/>
          </a:prstGeom>
          <a:solidFill>
            <a:srgbClr val="953734"/>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Salad</a:t>
            </a: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Salad</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09" name="Google Shape;109;p23"/>
          <p:cNvSpPr/>
          <p:nvPr/>
        </p:nvSpPr>
        <p:spPr>
          <a:xfrm>
            <a:off x="5256076" y="2636912"/>
            <a:ext cx="3240360" cy="2520280"/>
          </a:xfrm>
          <a:prstGeom prst="ellipse">
            <a:avLst/>
          </a:prstGeom>
          <a:solidFill>
            <a:srgbClr val="C4BD97"/>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Stew</a:t>
            </a: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2000">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a:solidFill>
                  <a:schemeClr val="lt1"/>
                </a:solidFill>
                <a:latin typeface="Calibri" panose="020F0502020204030204"/>
                <a:ea typeface="Calibri" panose="020F0502020204030204"/>
                <a:cs typeface="Calibri" panose="020F0502020204030204"/>
                <a:sym typeface="Calibri" panose="020F0502020204030204"/>
              </a:rPr>
              <a:t>Stew</a:t>
            </a:r>
            <a:endParaRPr sz="20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10" name="Google Shape;110;p23"/>
          <p:cNvSpPr/>
          <p:nvPr/>
        </p:nvSpPr>
        <p:spPr>
          <a:xfrm>
            <a:off x="5940152" y="3176972"/>
            <a:ext cx="1872208" cy="1440160"/>
          </a:xfrm>
          <a:prstGeom prst="ellipse">
            <a:avLst/>
          </a:prstGeom>
          <a:solidFill>
            <a:srgbClr val="C00000"/>
          </a:solid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White Rice</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4"/>
          <p:cNvSpPr txBox="1">
            <a:spLocks noGrp="1"/>
          </p:cNvSpPr>
          <p:nvPr>
            <p:ph type="ctrTitle"/>
          </p:nvPr>
        </p:nvSpPr>
        <p:spPr>
          <a:xfrm>
            <a:off x="389125" y="692696"/>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Decorating Registration Charges</a:t>
            </a:r>
            <a:endParaRPr sz="2400"/>
          </a:p>
        </p:txBody>
      </p:sp>
      <p:sp>
        <p:nvSpPr>
          <p:cNvPr id="116" name="Google Shape;116;p24"/>
          <p:cNvSpPr txBox="1"/>
          <p:nvPr/>
        </p:nvSpPr>
        <p:spPr>
          <a:xfrm>
            <a:off x="4153912" y="2052137"/>
            <a:ext cx="3154392"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+getMealDescription(): String</a:t>
            </a:r>
          </a:p>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+getMealValue(): double</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7" name="Google Shape;117;p24"/>
          <p:cNvSpPr txBox="1"/>
          <p:nvPr/>
        </p:nvSpPr>
        <p:spPr>
          <a:xfrm>
            <a:off x="2763511" y="3430304"/>
            <a:ext cx="2019979"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TuwonShinkafa</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24"/>
          <p:cNvSpPr txBox="1"/>
          <p:nvPr/>
        </p:nvSpPr>
        <p:spPr>
          <a:xfrm>
            <a:off x="5310758" y="3350524"/>
            <a:ext cx="3571519"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i="1">
                <a:solidFill>
                  <a:schemeClr val="dk1"/>
                </a:solidFill>
                <a:latin typeface="Calibri" panose="020F0502020204030204"/>
                <a:ea typeface="Calibri" panose="020F0502020204030204"/>
                <a:cs typeface="Calibri" panose="020F0502020204030204"/>
                <a:sym typeface="Calibri" panose="020F0502020204030204"/>
              </a:rPr>
              <a:t>SallahMealDecorator</a:t>
            </a:r>
            <a:endParaRPr sz="1600" i="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24"/>
          <p:cNvSpPr txBox="1"/>
          <p:nvPr/>
        </p:nvSpPr>
        <p:spPr>
          <a:xfrm>
            <a:off x="2732454" y="5367506"/>
            <a:ext cx="83143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Beef</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24"/>
          <p:cNvSpPr txBox="1"/>
          <p:nvPr/>
        </p:nvSpPr>
        <p:spPr>
          <a:xfrm>
            <a:off x="3773501" y="5377547"/>
            <a:ext cx="90010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Stew</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21" name="Google Shape;121;p24"/>
          <p:cNvCxnSpPr>
            <a:endCxn id="117" idx="0"/>
          </p:cNvCxnSpPr>
          <p:nvPr/>
        </p:nvCxnSpPr>
        <p:spPr>
          <a:xfrm>
            <a:off x="3773501" y="2938004"/>
            <a:ext cx="0" cy="492300"/>
          </a:xfrm>
          <a:prstGeom prst="straightConnector1">
            <a:avLst/>
          </a:prstGeom>
          <a:noFill/>
          <a:ln w="19050" cap="flat" cmpd="sng">
            <a:solidFill>
              <a:schemeClr val="dk1"/>
            </a:solidFill>
            <a:prstDash val="solid"/>
            <a:round/>
            <a:headEnd type="none" w="sm" len="sm"/>
            <a:tailEnd type="none" w="sm" len="sm"/>
          </a:ln>
        </p:spPr>
      </p:cxnSp>
      <p:sp>
        <p:nvSpPr>
          <p:cNvPr id="122" name="Google Shape;122;p24"/>
          <p:cNvSpPr/>
          <p:nvPr/>
        </p:nvSpPr>
        <p:spPr>
          <a:xfrm>
            <a:off x="4503311" y="2648957"/>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123" name="Google Shape;123;p24"/>
          <p:cNvCxnSpPr/>
          <p:nvPr/>
        </p:nvCxnSpPr>
        <p:spPr>
          <a:xfrm>
            <a:off x="6891688" y="2636912"/>
            <a:ext cx="9243" cy="714271"/>
          </a:xfrm>
          <a:prstGeom prst="straightConnector1">
            <a:avLst/>
          </a:prstGeom>
          <a:noFill/>
          <a:ln w="19050" cap="flat" cmpd="sng">
            <a:solidFill>
              <a:schemeClr val="dk1"/>
            </a:solidFill>
            <a:prstDash val="solid"/>
            <a:round/>
            <a:headEnd type="none" w="sm" len="sm"/>
            <a:tailEnd type="none" w="sm" len="sm"/>
          </a:ln>
        </p:spPr>
      </p:cxnSp>
      <p:cxnSp>
        <p:nvCxnSpPr>
          <p:cNvPr id="125" name="Google Shape;125;p24"/>
          <p:cNvCxnSpPr/>
          <p:nvPr/>
        </p:nvCxnSpPr>
        <p:spPr>
          <a:xfrm>
            <a:off x="7578334" y="4749731"/>
            <a:ext cx="0" cy="223612"/>
          </a:xfrm>
          <a:prstGeom prst="straightConnector1">
            <a:avLst/>
          </a:prstGeom>
          <a:noFill/>
          <a:ln w="19050" cap="flat" cmpd="sng">
            <a:solidFill>
              <a:schemeClr val="dk1"/>
            </a:solidFill>
            <a:prstDash val="solid"/>
            <a:round/>
            <a:headEnd type="none" w="sm" len="sm"/>
            <a:tailEnd type="none" w="sm" len="sm"/>
          </a:ln>
        </p:spPr>
      </p:cxnSp>
      <p:cxnSp>
        <p:nvCxnSpPr>
          <p:cNvPr id="126" name="Google Shape;126;p24"/>
          <p:cNvCxnSpPr/>
          <p:nvPr/>
        </p:nvCxnSpPr>
        <p:spPr>
          <a:xfrm>
            <a:off x="3203848" y="4973343"/>
            <a:ext cx="0" cy="377235"/>
          </a:xfrm>
          <a:prstGeom prst="straightConnector1">
            <a:avLst/>
          </a:prstGeom>
          <a:noFill/>
          <a:ln w="19050" cap="flat" cmpd="sng">
            <a:solidFill>
              <a:schemeClr val="dk1"/>
            </a:solidFill>
            <a:prstDash val="solid"/>
            <a:round/>
            <a:headEnd type="none" w="sm" len="sm"/>
            <a:tailEnd type="none" w="sm" len="sm"/>
          </a:ln>
        </p:spPr>
      </p:cxnSp>
      <p:sp>
        <p:nvSpPr>
          <p:cNvPr id="127" name="Google Shape;127;p24"/>
          <p:cNvSpPr/>
          <p:nvPr/>
        </p:nvSpPr>
        <p:spPr>
          <a:xfrm>
            <a:off x="7506326" y="4640242"/>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28" name="Google Shape;128;p24"/>
          <p:cNvSpPr txBox="1"/>
          <p:nvPr/>
        </p:nvSpPr>
        <p:spPr>
          <a:xfrm>
            <a:off x="4153912" y="1467362"/>
            <a:ext cx="3132348"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&lt;interface&gt;&gt;</a:t>
            </a:r>
            <a:br>
              <a:rPr lang="en-US" sz="1600">
                <a:solidFill>
                  <a:schemeClr val="dk1"/>
                </a:solidFill>
                <a:latin typeface="Calibri" panose="020F0502020204030204"/>
                <a:ea typeface="Calibri" panose="020F0502020204030204"/>
                <a:cs typeface="Calibri" panose="020F0502020204030204"/>
                <a:sym typeface="Calibri" panose="020F0502020204030204"/>
              </a:rPr>
            </a:br>
            <a:r>
              <a:rPr lang="en-US" sz="1600">
                <a:solidFill>
                  <a:schemeClr val="dk1"/>
                </a:solidFill>
                <a:latin typeface="Calibri" panose="020F0502020204030204"/>
                <a:ea typeface="Calibri" panose="020F0502020204030204"/>
                <a:cs typeface="Calibri" panose="020F0502020204030204"/>
                <a:sym typeface="Calibri" panose="020F0502020204030204"/>
              </a:rPr>
              <a:t>SallahMeal</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9" name="Google Shape;129;p24"/>
          <p:cNvSpPr txBox="1"/>
          <p:nvPr/>
        </p:nvSpPr>
        <p:spPr>
          <a:xfrm>
            <a:off x="5172168" y="5377547"/>
            <a:ext cx="82452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Salad</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30" name="Google Shape;130;p24"/>
          <p:cNvCxnSpPr/>
          <p:nvPr/>
        </p:nvCxnSpPr>
        <p:spPr>
          <a:xfrm flipH="1">
            <a:off x="2017069" y="4992207"/>
            <a:ext cx="6587379" cy="19265"/>
          </a:xfrm>
          <a:prstGeom prst="straightConnector1">
            <a:avLst/>
          </a:prstGeom>
          <a:noFill/>
          <a:ln w="19050" cap="flat" cmpd="sng">
            <a:solidFill>
              <a:schemeClr val="dk1"/>
            </a:solidFill>
            <a:prstDash val="solid"/>
            <a:round/>
            <a:headEnd type="none" w="sm" len="sm"/>
            <a:tailEnd type="none" w="sm" len="sm"/>
          </a:ln>
        </p:spPr>
      </p:cxnSp>
      <p:sp>
        <p:nvSpPr>
          <p:cNvPr id="131" name="Google Shape;131;p24"/>
          <p:cNvSpPr txBox="1"/>
          <p:nvPr/>
        </p:nvSpPr>
        <p:spPr>
          <a:xfrm>
            <a:off x="35496" y="3429652"/>
            <a:ext cx="1172664"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WhiteRice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32" name="Google Shape;132;p24"/>
          <p:cNvCxnSpPr/>
          <p:nvPr/>
        </p:nvCxnSpPr>
        <p:spPr>
          <a:xfrm rot="10800000">
            <a:off x="323528" y="2937969"/>
            <a:ext cx="4288232" cy="0"/>
          </a:xfrm>
          <a:prstGeom prst="straightConnector1">
            <a:avLst/>
          </a:prstGeom>
          <a:noFill/>
          <a:ln w="19050" cap="flat" cmpd="sng">
            <a:solidFill>
              <a:schemeClr val="dk1"/>
            </a:solidFill>
            <a:prstDash val="solid"/>
            <a:round/>
            <a:headEnd type="none" w="sm" len="sm"/>
            <a:tailEnd type="none" w="sm" len="sm"/>
          </a:ln>
        </p:spPr>
      </p:cxnSp>
      <p:cxnSp>
        <p:nvCxnSpPr>
          <p:cNvPr id="133" name="Google Shape;133;p24"/>
          <p:cNvCxnSpPr/>
          <p:nvPr/>
        </p:nvCxnSpPr>
        <p:spPr>
          <a:xfrm flipH="1">
            <a:off x="326061" y="2937969"/>
            <a:ext cx="2533" cy="472447"/>
          </a:xfrm>
          <a:prstGeom prst="straightConnector1">
            <a:avLst/>
          </a:prstGeom>
          <a:noFill/>
          <a:ln w="19050" cap="flat" cmpd="sng">
            <a:solidFill>
              <a:schemeClr val="dk1"/>
            </a:solidFill>
            <a:prstDash val="solid"/>
            <a:round/>
            <a:headEnd type="none" w="sm" len="sm"/>
            <a:tailEnd type="none" w="sm" len="sm"/>
          </a:ln>
        </p:spPr>
      </p:cxnSp>
      <p:cxnSp>
        <p:nvCxnSpPr>
          <p:cNvPr id="134" name="Google Shape;134;p24"/>
          <p:cNvCxnSpPr/>
          <p:nvPr/>
        </p:nvCxnSpPr>
        <p:spPr>
          <a:xfrm flipH="1">
            <a:off x="1979712" y="2937969"/>
            <a:ext cx="1" cy="1502218"/>
          </a:xfrm>
          <a:prstGeom prst="straightConnector1">
            <a:avLst/>
          </a:prstGeom>
          <a:noFill/>
          <a:ln w="19050" cap="flat" cmpd="sng">
            <a:solidFill>
              <a:schemeClr val="dk1"/>
            </a:solidFill>
            <a:prstDash val="solid"/>
            <a:round/>
            <a:headEnd type="none" w="sm" len="sm"/>
            <a:tailEnd type="none" w="sm" len="sm"/>
          </a:ln>
        </p:spPr>
      </p:cxnSp>
      <p:sp>
        <p:nvSpPr>
          <p:cNvPr id="135" name="Google Shape;135;p24"/>
          <p:cNvSpPr txBox="1"/>
          <p:nvPr/>
        </p:nvSpPr>
        <p:spPr>
          <a:xfrm>
            <a:off x="821291" y="4470965"/>
            <a:ext cx="1806493"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TuwonMasara</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36" name="Google Shape;136;p24"/>
          <p:cNvCxnSpPr/>
          <p:nvPr/>
        </p:nvCxnSpPr>
        <p:spPr>
          <a:xfrm>
            <a:off x="4081904" y="4979124"/>
            <a:ext cx="0" cy="377235"/>
          </a:xfrm>
          <a:prstGeom prst="straightConnector1">
            <a:avLst/>
          </a:prstGeom>
          <a:noFill/>
          <a:ln w="19050" cap="flat" cmpd="sng">
            <a:solidFill>
              <a:schemeClr val="dk1"/>
            </a:solidFill>
            <a:prstDash val="solid"/>
            <a:round/>
            <a:headEnd type="none" w="sm" len="sm"/>
            <a:tailEnd type="none" w="sm" len="sm"/>
          </a:ln>
        </p:spPr>
      </p:cxnSp>
      <p:cxnSp>
        <p:nvCxnSpPr>
          <p:cNvPr id="137" name="Google Shape;137;p24"/>
          <p:cNvCxnSpPr/>
          <p:nvPr/>
        </p:nvCxnSpPr>
        <p:spPr>
          <a:xfrm>
            <a:off x="5436096" y="5000312"/>
            <a:ext cx="0" cy="377235"/>
          </a:xfrm>
          <a:prstGeom prst="straightConnector1">
            <a:avLst/>
          </a:prstGeom>
          <a:noFill/>
          <a:ln w="19050" cap="flat" cmpd="sng">
            <a:solidFill>
              <a:schemeClr val="dk1"/>
            </a:solidFill>
            <a:prstDash val="solid"/>
            <a:round/>
            <a:headEnd type="none" w="sm" len="sm"/>
            <a:tailEnd type="none" w="sm" len="sm"/>
          </a:ln>
        </p:spPr>
      </p:cxnSp>
      <p:sp>
        <p:nvSpPr>
          <p:cNvPr id="138" name="Google Shape;138;p24"/>
          <p:cNvSpPr txBox="1"/>
          <p:nvPr/>
        </p:nvSpPr>
        <p:spPr>
          <a:xfrm>
            <a:off x="6223528" y="5377547"/>
            <a:ext cx="1354806"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ChickenPSoup</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39" name="Google Shape;139;p24"/>
          <p:cNvCxnSpPr/>
          <p:nvPr/>
        </p:nvCxnSpPr>
        <p:spPr>
          <a:xfrm>
            <a:off x="6653768" y="5011472"/>
            <a:ext cx="0" cy="377235"/>
          </a:xfrm>
          <a:prstGeom prst="straightConnector1">
            <a:avLst/>
          </a:prstGeom>
          <a:noFill/>
          <a:ln w="19050" cap="flat" cmpd="sng">
            <a:solidFill>
              <a:schemeClr val="dk1"/>
            </a:solidFill>
            <a:prstDash val="solid"/>
            <a:round/>
            <a:headEnd type="none" w="sm" len="sm"/>
            <a:tailEnd type="none" w="sm" len="sm"/>
          </a:ln>
        </p:spPr>
      </p:cxnSp>
      <p:cxnSp>
        <p:nvCxnSpPr>
          <p:cNvPr id="140" name="Google Shape;140;p24"/>
          <p:cNvCxnSpPr/>
          <p:nvPr/>
        </p:nvCxnSpPr>
        <p:spPr>
          <a:xfrm>
            <a:off x="8588013" y="5000312"/>
            <a:ext cx="0" cy="377235"/>
          </a:xfrm>
          <a:prstGeom prst="straightConnector1">
            <a:avLst/>
          </a:prstGeom>
          <a:noFill/>
          <a:ln w="19050" cap="flat" cmpd="sng">
            <a:solidFill>
              <a:schemeClr val="dk1"/>
            </a:solidFill>
            <a:prstDash val="solid"/>
            <a:round/>
            <a:headEnd type="none" w="sm" len="sm"/>
            <a:tailEnd type="none" w="sm" len="sm"/>
          </a:ln>
        </p:spPr>
      </p:cxnSp>
      <p:sp>
        <p:nvSpPr>
          <p:cNvPr id="141" name="Google Shape;141;p24"/>
          <p:cNvSpPr txBox="1"/>
          <p:nvPr/>
        </p:nvSpPr>
        <p:spPr>
          <a:xfrm>
            <a:off x="7956376" y="5377547"/>
            <a:ext cx="1043897"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Chocolate</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2" name="Google Shape;142;p24"/>
          <p:cNvSpPr txBox="1"/>
          <p:nvPr/>
        </p:nvSpPr>
        <p:spPr>
          <a:xfrm>
            <a:off x="1563996" y="5341785"/>
            <a:ext cx="83143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Draw</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43" name="Google Shape;143;p24"/>
          <p:cNvCxnSpPr/>
          <p:nvPr/>
        </p:nvCxnSpPr>
        <p:spPr>
          <a:xfrm>
            <a:off x="2017069" y="4973343"/>
            <a:ext cx="0" cy="377235"/>
          </a:xfrm>
          <a:prstGeom prst="straightConnector1">
            <a:avLst/>
          </a:prstGeom>
          <a:noFill/>
          <a:ln w="19050" cap="flat" cmpd="sng">
            <a:solidFill>
              <a:schemeClr val="dk1"/>
            </a:solidFill>
            <a:prstDash val="solid"/>
            <a:round/>
            <a:headEnd type="none" w="sm" len="sm"/>
            <a:tailEnd type="none" w="sm" len="sm"/>
          </a:ln>
        </p:spPr>
      </p:cxnSp>
      <p:sp>
        <p:nvSpPr>
          <p:cNvPr id="144" name="Google Shape;144;p24"/>
          <p:cNvSpPr txBox="1"/>
          <p:nvPr/>
        </p:nvSpPr>
        <p:spPr>
          <a:xfrm>
            <a:off x="5310758" y="3689078"/>
            <a:ext cx="3571519"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i="1">
                <a:solidFill>
                  <a:schemeClr val="dk1"/>
                </a:solidFill>
                <a:latin typeface="Calibri" panose="020F0502020204030204"/>
                <a:ea typeface="Calibri" panose="020F0502020204030204"/>
                <a:cs typeface="Calibri" panose="020F0502020204030204"/>
                <a:sym typeface="Calibri" panose="020F0502020204030204"/>
              </a:rPr>
              <a:t>-sallahMeal: SallahMeal</a:t>
            </a:r>
            <a:endParaRPr sz="1600" i="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5" name="Google Shape;145;p24"/>
          <p:cNvSpPr txBox="1"/>
          <p:nvPr/>
        </p:nvSpPr>
        <p:spPr>
          <a:xfrm>
            <a:off x="5310758" y="3996655"/>
            <a:ext cx="3571519"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i="1">
                <a:solidFill>
                  <a:schemeClr val="dk1"/>
                </a:solidFill>
                <a:latin typeface="Calibri" panose="020F0502020204030204"/>
                <a:ea typeface="Calibri" panose="020F0502020204030204"/>
                <a:cs typeface="Calibri" panose="020F0502020204030204"/>
                <a:sym typeface="Calibri" panose="020F0502020204030204"/>
              </a:rPr>
              <a:t>+TuwonSallaDecorator (SallahMeal :sM)</a:t>
            </a:r>
            <a:endParaRPr sz="1600" i="1">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146" name="Google Shape;146;p24"/>
          <p:cNvCxnSpPr/>
          <p:nvPr/>
        </p:nvCxnSpPr>
        <p:spPr>
          <a:xfrm>
            <a:off x="4584809" y="2758446"/>
            <a:ext cx="0" cy="179523"/>
          </a:xfrm>
          <a:prstGeom prst="straightConnector1">
            <a:avLst/>
          </a:prstGeom>
          <a:noFill/>
          <a:ln w="19050" cap="flat" cmpd="sng">
            <a:solidFill>
              <a:schemeClr val="dk1"/>
            </a:solidFill>
            <a:prstDash val="solid"/>
            <a:round/>
            <a:headEnd type="none" w="sm" len="sm"/>
            <a:tailEnd type="none" w="sm" len="sm"/>
          </a:ln>
        </p:spPr>
      </p:cxnSp>
      <p:sp>
        <p:nvSpPr>
          <p:cNvPr id="147" name="Google Shape;147;p24"/>
          <p:cNvSpPr/>
          <p:nvPr/>
        </p:nvSpPr>
        <p:spPr>
          <a:xfrm>
            <a:off x="5004049" y="3689078"/>
            <a:ext cx="3996224" cy="751109"/>
          </a:xfrm>
          <a:prstGeom prst="ellipse">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9"/>
          <p:cNvSpPr txBox="1">
            <a:spLocks noGrp="1"/>
          </p:cNvSpPr>
          <p:nvPr>
            <p:ph type="ctrTitle"/>
          </p:nvPr>
        </p:nvSpPr>
        <p:spPr>
          <a:xfrm>
            <a:off x="395536" y="1196752"/>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Another example</a:t>
            </a:r>
            <a:endParaRPr sz="2400"/>
          </a:p>
        </p:txBody>
      </p:sp>
      <p:sp>
        <p:nvSpPr>
          <p:cNvPr id="190" name="Google Shape;190;p29"/>
          <p:cNvSpPr txBox="1">
            <a:spLocks noGrp="1"/>
          </p:cNvSpPr>
          <p:nvPr>
            <p:ph type="body" idx="1"/>
          </p:nvPr>
        </p:nvSpPr>
        <p:spPr>
          <a:xfrm>
            <a:off x="0" y="5157192"/>
            <a:ext cx="8425184" cy="1008112"/>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200"/>
              <a:buChar char="•"/>
            </a:pPr>
            <a:r>
              <a:rPr lang="en-US" sz="2200"/>
              <a:t>There may be specific charges level and other penalties </a:t>
            </a:r>
            <a:endParaRPr sz="2200"/>
          </a:p>
        </p:txBody>
      </p:sp>
      <p:sp>
        <p:nvSpPr>
          <p:cNvPr id="191" name="Google Shape;191;p29"/>
          <p:cNvSpPr txBox="1"/>
          <p:nvPr/>
        </p:nvSpPr>
        <p:spPr>
          <a:xfrm>
            <a:off x="495624" y="1807515"/>
            <a:ext cx="2392111"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FeeStructure</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2" name="Google Shape;192;p29"/>
          <p:cNvSpPr txBox="1"/>
          <p:nvPr/>
        </p:nvSpPr>
        <p:spPr>
          <a:xfrm>
            <a:off x="3096465" y="4441914"/>
            <a:ext cx="76165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NAS</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3" name="Google Shape;193;p29"/>
          <p:cNvSpPr txBox="1"/>
          <p:nvPr/>
        </p:nvSpPr>
        <p:spPr>
          <a:xfrm>
            <a:off x="4104577" y="4441914"/>
            <a:ext cx="76165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CIS</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4" name="Google Shape;194;p29"/>
          <p:cNvSpPr txBox="1"/>
          <p:nvPr/>
        </p:nvSpPr>
        <p:spPr>
          <a:xfrm>
            <a:off x="6408833" y="4437112"/>
            <a:ext cx="1008113"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HUM</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5" name="Google Shape;195;p29"/>
          <p:cNvSpPr txBox="1"/>
          <p:nvPr/>
        </p:nvSpPr>
        <p:spPr>
          <a:xfrm>
            <a:off x="7560961" y="4464208"/>
            <a:ext cx="1008113"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UGSMS</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6" name="Google Shape;196;p29"/>
          <p:cNvSpPr txBox="1"/>
          <p:nvPr/>
        </p:nvSpPr>
        <p:spPr>
          <a:xfrm>
            <a:off x="495624" y="2150718"/>
            <a:ext cx="2377521" cy="203132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Tution: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Techfees: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Sportfees: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PSFFes: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Lab: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SIWES: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Project: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Graduation:   double</a:t>
            </a:r>
          </a:p>
          <a:p>
            <a:pPr marL="0" marR="0" lvl="0" indent="0" algn="l" rtl="0">
              <a:spcBef>
                <a:spcPts val="0"/>
              </a:spcBef>
              <a:spcAft>
                <a:spcPts val="0"/>
              </a:spcAft>
              <a:buNone/>
            </a:pPr>
            <a:endParaRPr sz="14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7" name="Google Shape;197;p29"/>
          <p:cNvSpPr txBox="1"/>
          <p:nvPr/>
        </p:nvSpPr>
        <p:spPr>
          <a:xfrm>
            <a:off x="495624" y="4180309"/>
            <a:ext cx="2377520"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computeTotalFees(): double</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8" name="Google Shape;198;p29"/>
          <p:cNvSpPr txBox="1"/>
          <p:nvPr/>
        </p:nvSpPr>
        <p:spPr>
          <a:xfrm>
            <a:off x="5076056" y="4437112"/>
            <a:ext cx="76165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SMS</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9" name="Google Shape;199;p29"/>
          <p:cNvSpPr txBox="1"/>
          <p:nvPr/>
        </p:nvSpPr>
        <p:spPr>
          <a:xfrm>
            <a:off x="3695183" y="1633589"/>
            <a:ext cx="2392111"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FeeStructure</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0" name="Google Shape;200;p29"/>
          <p:cNvSpPr txBox="1"/>
          <p:nvPr/>
        </p:nvSpPr>
        <p:spPr>
          <a:xfrm>
            <a:off x="3695183" y="1976792"/>
            <a:ext cx="2377521" cy="954107"/>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Tution: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Techfees: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Sportfees: 	double</a:t>
            </a:r>
          </a:p>
          <a:p>
            <a:pPr marL="0" marR="0" lvl="0" indent="0" algn="l" rtl="0">
              <a:spcBef>
                <a:spcPts val="0"/>
              </a:spcBef>
              <a:spcAft>
                <a:spcPts val="0"/>
              </a:spcAft>
              <a:buNone/>
            </a:pPr>
            <a:r>
              <a:rPr lang="en-US" sz="1400">
                <a:solidFill>
                  <a:srgbClr val="000000"/>
                </a:solidFill>
                <a:latin typeface="Calibri" panose="020F0502020204030204"/>
                <a:ea typeface="Calibri" panose="020F0502020204030204"/>
                <a:cs typeface="Calibri" panose="020F0502020204030204"/>
                <a:sym typeface="Calibri" panose="020F0502020204030204"/>
              </a:rPr>
              <a:t>PSFFes:     	double</a:t>
            </a:r>
          </a:p>
        </p:txBody>
      </p:sp>
      <p:sp>
        <p:nvSpPr>
          <p:cNvPr id="201" name="Google Shape;201;p29"/>
          <p:cNvSpPr txBox="1"/>
          <p:nvPr/>
        </p:nvSpPr>
        <p:spPr>
          <a:xfrm>
            <a:off x="3695183" y="2949482"/>
            <a:ext cx="2377520" cy="5847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Calibri" panose="020F0502020204030204"/>
                <a:ea typeface="Calibri" panose="020F0502020204030204"/>
                <a:cs typeface="Calibri" panose="020F0502020204030204"/>
                <a:sym typeface="Calibri" panose="020F0502020204030204"/>
              </a:rPr>
              <a:t>computeTotalFees(): double</a:t>
            </a:r>
            <a:endParaRPr sz="1600">
              <a:solidFill>
                <a:srgbClr val="000000"/>
              </a:solidFill>
              <a:latin typeface="Calibri" panose="020F0502020204030204"/>
              <a:ea typeface="Calibri" panose="020F0502020204030204"/>
              <a:cs typeface="Calibri" panose="020F0502020204030204"/>
              <a:sym typeface="Calibri" panose="020F0502020204030204"/>
            </a:endParaRPr>
          </a:p>
        </p:txBody>
      </p:sp>
      <p:cxnSp>
        <p:nvCxnSpPr>
          <p:cNvPr id="202" name="Google Shape;202;p29"/>
          <p:cNvCxnSpPr/>
          <p:nvPr/>
        </p:nvCxnSpPr>
        <p:spPr>
          <a:xfrm>
            <a:off x="4693934" y="3609726"/>
            <a:ext cx="0" cy="429562"/>
          </a:xfrm>
          <a:prstGeom prst="straightConnector1">
            <a:avLst/>
          </a:prstGeom>
          <a:noFill/>
          <a:ln w="19050" cap="flat" cmpd="sng">
            <a:solidFill>
              <a:schemeClr val="dk1"/>
            </a:solidFill>
            <a:prstDash val="solid"/>
            <a:round/>
            <a:headEnd type="none" w="sm" len="sm"/>
            <a:tailEnd type="none" w="sm" len="sm"/>
          </a:ln>
        </p:spPr>
      </p:cxnSp>
      <p:sp>
        <p:nvSpPr>
          <p:cNvPr id="203" name="Google Shape;203;p29"/>
          <p:cNvSpPr/>
          <p:nvPr/>
        </p:nvSpPr>
        <p:spPr>
          <a:xfrm>
            <a:off x="4621926" y="3500237"/>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panose="020F0502020204030204"/>
              <a:ea typeface="Calibri" panose="020F0502020204030204"/>
              <a:cs typeface="Calibri" panose="020F0502020204030204"/>
              <a:sym typeface="Calibri" panose="020F0502020204030204"/>
            </a:endParaRPr>
          </a:p>
        </p:txBody>
      </p:sp>
      <p:cxnSp>
        <p:nvCxnSpPr>
          <p:cNvPr id="204" name="Google Shape;204;p29"/>
          <p:cNvCxnSpPr/>
          <p:nvPr/>
        </p:nvCxnSpPr>
        <p:spPr>
          <a:xfrm rot="10800000">
            <a:off x="3308891" y="4047776"/>
            <a:ext cx="4536503" cy="0"/>
          </a:xfrm>
          <a:prstGeom prst="straightConnector1">
            <a:avLst/>
          </a:prstGeom>
          <a:noFill/>
          <a:ln w="19050" cap="flat" cmpd="sng">
            <a:solidFill>
              <a:schemeClr val="dk1"/>
            </a:solidFill>
            <a:prstDash val="solid"/>
            <a:round/>
            <a:headEnd type="none" w="sm" len="sm"/>
            <a:tailEnd type="none" w="sm" len="sm"/>
          </a:ln>
        </p:spPr>
      </p:cxnSp>
      <p:cxnSp>
        <p:nvCxnSpPr>
          <p:cNvPr id="205" name="Google Shape;205;p29"/>
          <p:cNvCxnSpPr/>
          <p:nvPr/>
        </p:nvCxnSpPr>
        <p:spPr>
          <a:xfrm>
            <a:off x="3308891" y="4047776"/>
            <a:ext cx="0" cy="424920"/>
          </a:xfrm>
          <a:prstGeom prst="straightConnector1">
            <a:avLst/>
          </a:prstGeom>
          <a:noFill/>
          <a:ln w="19050" cap="flat" cmpd="sng">
            <a:solidFill>
              <a:schemeClr val="dk1"/>
            </a:solidFill>
            <a:prstDash val="solid"/>
            <a:round/>
            <a:headEnd type="none" w="sm" len="sm"/>
            <a:tailEnd type="none" w="sm" len="sm"/>
          </a:ln>
        </p:spPr>
      </p:cxnSp>
      <p:cxnSp>
        <p:nvCxnSpPr>
          <p:cNvPr id="206" name="Google Shape;206;p29"/>
          <p:cNvCxnSpPr/>
          <p:nvPr/>
        </p:nvCxnSpPr>
        <p:spPr>
          <a:xfrm>
            <a:off x="4616117" y="4039288"/>
            <a:ext cx="0" cy="424920"/>
          </a:xfrm>
          <a:prstGeom prst="straightConnector1">
            <a:avLst/>
          </a:prstGeom>
          <a:noFill/>
          <a:ln w="19050" cap="flat" cmpd="sng">
            <a:solidFill>
              <a:schemeClr val="dk1"/>
            </a:solidFill>
            <a:prstDash val="solid"/>
            <a:round/>
            <a:headEnd type="none" w="sm" len="sm"/>
            <a:tailEnd type="none" w="sm" len="sm"/>
          </a:ln>
        </p:spPr>
      </p:cxnSp>
      <p:cxnSp>
        <p:nvCxnSpPr>
          <p:cNvPr id="207" name="Google Shape;207;p29"/>
          <p:cNvCxnSpPr/>
          <p:nvPr/>
        </p:nvCxnSpPr>
        <p:spPr>
          <a:xfrm>
            <a:off x="5437498" y="4039288"/>
            <a:ext cx="0" cy="424920"/>
          </a:xfrm>
          <a:prstGeom prst="straightConnector1">
            <a:avLst/>
          </a:prstGeom>
          <a:noFill/>
          <a:ln w="19050" cap="flat" cmpd="sng">
            <a:solidFill>
              <a:schemeClr val="dk1"/>
            </a:solidFill>
            <a:prstDash val="solid"/>
            <a:round/>
            <a:headEnd type="none" w="sm" len="sm"/>
            <a:tailEnd type="none" w="sm" len="sm"/>
          </a:ln>
        </p:spPr>
      </p:cxnSp>
      <p:cxnSp>
        <p:nvCxnSpPr>
          <p:cNvPr id="208" name="Google Shape;208;p29"/>
          <p:cNvCxnSpPr/>
          <p:nvPr/>
        </p:nvCxnSpPr>
        <p:spPr>
          <a:xfrm>
            <a:off x="6912889" y="4012192"/>
            <a:ext cx="0" cy="424920"/>
          </a:xfrm>
          <a:prstGeom prst="straightConnector1">
            <a:avLst/>
          </a:prstGeom>
          <a:noFill/>
          <a:ln w="19050" cap="flat" cmpd="sng">
            <a:solidFill>
              <a:schemeClr val="dk1"/>
            </a:solidFill>
            <a:prstDash val="solid"/>
            <a:round/>
            <a:headEnd type="none" w="sm" len="sm"/>
            <a:tailEnd type="none" w="sm" len="sm"/>
          </a:ln>
        </p:spPr>
      </p:cxnSp>
      <p:cxnSp>
        <p:nvCxnSpPr>
          <p:cNvPr id="209" name="Google Shape;209;p29"/>
          <p:cNvCxnSpPr/>
          <p:nvPr/>
        </p:nvCxnSpPr>
        <p:spPr>
          <a:xfrm>
            <a:off x="7845394" y="4047776"/>
            <a:ext cx="0" cy="424920"/>
          </a:xfrm>
          <a:prstGeom prst="straightConnector1">
            <a:avLst/>
          </a:prstGeom>
          <a:noFill/>
          <a:ln w="19050" cap="flat" cmpd="sng">
            <a:solidFill>
              <a:schemeClr val="dk1"/>
            </a:solidFill>
            <a:prstDash val="solid"/>
            <a:round/>
            <a:headEnd type="none" w="sm" len="sm"/>
            <a:tailEnd type="none" w="sm" len="sm"/>
          </a:ln>
        </p:spPr>
      </p:cxnSp>
      <p:sp>
        <p:nvSpPr>
          <p:cNvPr id="210" name="Google Shape;210;p29"/>
          <p:cNvSpPr/>
          <p:nvPr/>
        </p:nvSpPr>
        <p:spPr>
          <a:xfrm>
            <a:off x="179512" y="3013892"/>
            <a:ext cx="2448272" cy="972690"/>
          </a:xfrm>
          <a:prstGeom prst="ellipse">
            <a:avLst/>
          </a:prstGeom>
          <a:noFill/>
          <a:ln w="25400" cap="flat" cmpd="sng">
            <a:solidFill>
              <a:srgbClr val="95373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0"/>
          <p:cNvSpPr/>
          <p:nvPr/>
        </p:nvSpPr>
        <p:spPr>
          <a:xfrm>
            <a:off x="3851921" y="1652026"/>
            <a:ext cx="3384376" cy="338555"/>
          </a:xfrm>
          <a:prstGeom prst="ellipse">
            <a:avLst/>
          </a:prstGeom>
          <a:no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16" name="Google Shape;216;p30"/>
          <p:cNvSpPr txBox="1">
            <a:spLocks noGrp="1"/>
          </p:cNvSpPr>
          <p:nvPr>
            <p:ph type="ctrTitle"/>
          </p:nvPr>
        </p:nvSpPr>
        <p:spPr>
          <a:xfrm>
            <a:off x="467544" y="908720"/>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Decorating Registration Charges</a:t>
            </a:r>
            <a:endParaRPr sz="2400"/>
          </a:p>
        </p:txBody>
      </p:sp>
      <p:sp>
        <p:nvSpPr>
          <p:cNvPr id="217" name="Google Shape;217;p30"/>
          <p:cNvSpPr txBox="1"/>
          <p:nvPr/>
        </p:nvSpPr>
        <p:spPr>
          <a:xfrm>
            <a:off x="4175956" y="1990581"/>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sp>
        <p:nvSpPr>
          <p:cNvPr id="218" name="Google Shape;218;p30"/>
          <p:cNvSpPr txBox="1"/>
          <p:nvPr/>
        </p:nvSpPr>
        <p:spPr>
          <a:xfrm>
            <a:off x="3128085" y="3410416"/>
            <a:ext cx="2808312"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FinalYearFees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9" name="Google Shape;219;p30"/>
          <p:cNvSpPr txBox="1"/>
          <p:nvPr/>
        </p:nvSpPr>
        <p:spPr>
          <a:xfrm>
            <a:off x="6555791" y="4270910"/>
            <a:ext cx="1832633"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i="1">
                <a:solidFill>
                  <a:schemeClr val="dk1"/>
                </a:solidFill>
                <a:latin typeface="Calibri" panose="020F0502020204030204"/>
                <a:ea typeface="Calibri" panose="020F0502020204030204"/>
                <a:cs typeface="Calibri" panose="020F0502020204030204"/>
                <a:sym typeface="Calibri" panose="020F0502020204030204"/>
              </a:rPr>
              <a:t>FeeDecorator</a:t>
            </a:r>
            <a:endParaRPr sz="1600" i="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0" name="Google Shape;220;p30"/>
          <p:cNvSpPr txBox="1"/>
          <p:nvPr/>
        </p:nvSpPr>
        <p:spPr>
          <a:xfrm>
            <a:off x="3405625" y="5169386"/>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SIWESFees</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1" name="Google Shape;221;p30"/>
          <p:cNvSpPr txBox="1"/>
          <p:nvPr/>
        </p:nvSpPr>
        <p:spPr>
          <a:xfrm>
            <a:off x="6483784" y="5200164"/>
            <a:ext cx="262472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LabFees</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cxnSp>
        <p:nvCxnSpPr>
          <p:cNvPr id="222" name="Google Shape;222;p30"/>
          <p:cNvCxnSpPr/>
          <p:nvPr/>
        </p:nvCxnSpPr>
        <p:spPr>
          <a:xfrm>
            <a:off x="4683767" y="2465523"/>
            <a:ext cx="0" cy="944893"/>
          </a:xfrm>
          <a:prstGeom prst="straightConnector1">
            <a:avLst/>
          </a:prstGeom>
          <a:noFill/>
          <a:ln w="19050" cap="flat" cmpd="sng">
            <a:solidFill>
              <a:schemeClr val="dk1"/>
            </a:solidFill>
            <a:prstDash val="solid"/>
            <a:round/>
            <a:headEnd type="none" w="sm" len="sm"/>
            <a:tailEnd type="none" w="sm" len="sm"/>
          </a:ln>
        </p:spPr>
      </p:cxnSp>
      <p:sp>
        <p:nvSpPr>
          <p:cNvPr id="223" name="Google Shape;223;p30"/>
          <p:cNvSpPr/>
          <p:nvPr/>
        </p:nvSpPr>
        <p:spPr>
          <a:xfrm>
            <a:off x="4611759" y="2326365"/>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224" name="Google Shape;224;p30"/>
          <p:cNvCxnSpPr>
            <a:endCxn id="219" idx="0"/>
          </p:cNvCxnSpPr>
          <p:nvPr/>
        </p:nvCxnSpPr>
        <p:spPr>
          <a:xfrm>
            <a:off x="6483784" y="2326365"/>
            <a:ext cx="988324" cy="1944545"/>
          </a:xfrm>
          <a:prstGeom prst="straightConnector1">
            <a:avLst/>
          </a:prstGeom>
          <a:noFill/>
          <a:ln w="19050" cap="flat" cmpd="sng">
            <a:solidFill>
              <a:schemeClr val="dk1"/>
            </a:solidFill>
            <a:prstDash val="solid"/>
            <a:round/>
            <a:headEnd type="none" w="sm" len="sm"/>
            <a:tailEnd type="none" w="sm" len="sm"/>
          </a:ln>
        </p:spPr>
      </p:cxnSp>
      <p:cxnSp>
        <p:nvCxnSpPr>
          <p:cNvPr id="226" name="Google Shape;226;p30"/>
          <p:cNvCxnSpPr/>
          <p:nvPr/>
        </p:nvCxnSpPr>
        <p:spPr>
          <a:xfrm>
            <a:off x="7650342" y="4749731"/>
            <a:ext cx="0" cy="447225"/>
          </a:xfrm>
          <a:prstGeom prst="straightConnector1">
            <a:avLst/>
          </a:prstGeom>
          <a:noFill/>
          <a:ln w="19050" cap="flat" cmpd="sng">
            <a:solidFill>
              <a:schemeClr val="dk1"/>
            </a:solidFill>
            <a:prstDash val="solid"/>
            <a:round/>
            <a:headEnd type="none" w="sm" len="sm"/>
            <a:tailEnd type="none" w="sm" len="sm"/>
          </a:ln>
        </p:spPr>
      </p:cxnSp>
      <p:cxnSp>
        <p:nvCxnSpPr>
          <p:cNvPr id="227" name="Google Shape;227;p30"/>
          <p:cNvCxnSpPr/>
          <p:nvPr/>
        </p:nvCxnSpPr>
        <p:spPr>
          <a:xfrm>
            <a:off x="4917793" y="4960373"/>
            <a:ext cx="0" cy="209013"/>
          </a:xfrm>
          <a:prstGeom prst="straightConnector1">
            <a:avLst/>
          </a:prstGeom>
          <a:noFill/>
          <a:ln w="19050" cap="flat" cmpd="sng">
            <a:solidFill>
              <a:schemeClr val="dk1"/>
            </a:solidFill>
            <a:prstDash val="solid"/>
            <a:round/>
            <a:headEnd type="none" w="sm" len="sm"/>
            <a:tailEnd type="none" w="sm" len="sm"/>
          </a:ln>
        </p:spPr>
      </p:cxnSp>
      <p:sp>
        <p:nvSpPr>
          <p:cNvPr id="228" name="Google Shape;228;p30"/>
          <p:cNvSpPr/>
          <p:nvPr/>
        </p:nvSpPr>
        <p:spPr>
          <a:xfrm>
            <a:off x="7578334" y="4640242"/>
            <a:ext cx="144016" cy="109489"/>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29" name="Google Shape;229;p30"/>
          <p:cNvSpPr txBox="1"/>
          <p:nvPr/>
        </p:nvSpPr>
        <p:spPr>
          <a:xfrm>
            <a:off x="4175956" y="1652027"/>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i="1">
                <a:solidFill>
                  <a:schemeClr val="dk1"/>
                </a:solidFill>
                <a:latin typeface="Calibri" panose="020F0502020204030204"/>
                <a:ea typeface="Calibri" panose="020F0502020204030204"/>
                <a:cs typeface="Calibri" panose="020F0502020204030204"/>
                <a:sym typeface="Calibri" panose="020F0502020204030204"/>
              </a:rPr>
              <a:t>FeeStructure</a:t>
            </a:r>
            <a:endParaRPr sz="1600" i="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0" name="Google Shape;230;p30"/>
          <p:cNvSpPr txBox="1"/>
          <p:nvPr/>
        </p:nvSpPr>
        <p:spPr>
          <a:xfrm>
            <a:off x="3131840" y="3779748"/>
            <a:ext cx="2808312"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sp>
        <p:nvSpPr>
          <p:cNvPr id="231" name="Google Shape;231;p30"/>
          <p:cNvSpPr txBox="1"/>
          <p:nvPr/>
        </p:nvSpPr>
        <p:spPr>
          <a:xfrm>
            <a:off x="3405625" y="5517232"/>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sp>
        <p:nvSpPr>
          <p:cNvPr id="232" name="Google Shape;232;p30"/>
          <p:cNvSpPr txBox="1"/>
          <p:nvPr/>
        </p:nvSpPr>
        <p:spPr>
          <a:xfrm>
            <a:off x="6483784" y="5538718"/>
            <a:ext cx="2624720"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cxnSp>
        <p:nvCxnSpPr>
          <p:cNvPr id="233" name="Google Shape;233;p30"/>
          <p:cNvCxnSpPr/>
          <p:nvPr/>
        </p:nvCxnSpPr>
        <p:spPr>
          <a:xfrm rot="10800000">
            <a:off x="4917793" y="4966043"/>
            <a:ext cx="2732549" cy="0"/>
          </a:xfrm>
          <a:prstGeom prst="straightConnector1">
            <a:avLst/>
          </a:prstGeom>
          <a:noFill/>
          <a:ln w="19050" cap="flat" cmpd="sng">
            <a:solidFill>
              <a:schemeClr val="dk1"/>
            </a:solidFill>
            <a:prstDash val="solid"/>
            <a:round/>
            <a:headEnd type="none" w="sm" len="sm"/>
            <a:tailEnd type="none" w="sm" len="sm"/>
          </a:ln>
        </p:spPr>
      </p:cxnSp>
      <p:sp>
        <p:nvSpPr>
          <p:cNvPr id="234" name="Google Shape;234;p30"/>
          <p:cNvSpPr txBox="1"/>
          <p:nvPr/>
        </p:nvSpPr>
        <p:spPr>
          <a:xfrm>
            <a:off x="32420" y="3403926"/>
            <a:ext cx="2808312"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NewIntakeFees</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5" name="Google Shape;235;p30"/>
          <p:cNvSpPr txBox="1"/>
          <p:nvPr/>
        </p:nvSpPr>
        <p:spPr>
          <a:xfrm>
            <a:off x="32420" y="3779748"/>
            <a:ext cx="2808312" cy="36933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cxnSp>
        <p:nvCxnSpPr>
          <p:cNvPr id="236" name="Google Shape;236;p30"/>
          <p:cNvCxnSpPr/>
          <p:nvPr/>
        </p:nvCxnSpPr>
        <p:spPr>
          <a:xfrm rot="10800000">
            <a:off x="1691680" y="2937969"/>
            <a:ext cx="2992087" cy="0"/>
          </a:xfrm>
          <a:prstGeom prst="straightConnector1">
            <a:avLst/>
          </a:prstGeom>
          <a:noFill/>
          <a:ln w="19050" cap="flat" cmpd="sng">
            <a:solidFill>
              <a:schemeClr val="dk1"/>
            </a:solidFill>
            <a:prstDash val="solid"/>
            <a:round/>
            <a:headEnd type="none" w="sm" len="sm"/>
            <a:tailEnd type="none" w="sm" len="sm"/>
          </a:ln>
        </p:spPr>
      </p:cxnSp>
      <p:cxnSp>
        <p:nvCxnSpPr>
          <p:cNvPr id="237" name="Google Shape;237;p30"/>
          <p:cNvCxnSpPr/>
          <p:nvPr/>
        </p:nvCxnSpPr>
        <p:spPr>
          <a:xfrm flipH="1">
            <a:off x="1689147" y="2937969"/>
            <a:ext cx="2533" cy="472447"/>
          </a:xfrm>
          <a:prstGeom prst="straightConnector1">
            <a:avLst/>
          </a:prstGeom>
          <a:noFill/>
          <a:ln w="19050" cap="flat" cmpd="sng">
            <a:solidFill>
              <a:schemeClr val="dk1"/>
            </a:solidFill>
            <a:prstDash val="solid"/>
            <a:round/>
            <a:headEnd type="none" w="sm" len="sm"/>
            <a:tailEnd type="none" w="sm" len="sm"/>
          </a:ln>
        </p:spPr>
      </p:cxnSp>
      <p:cxnSp>
        <p:nvCxnSpPr>
          <p:cNvPr id="238" name="Google Shape;238;p30"/>
          <p:cNvCxnSpPr/>
          <p:nvPr/>
        </p:nvCxnSpPr>
        <p:spPr>
          <a:xfrm flipH="1">
            <a:off x="2990357" y="2937969"/>
            <a:ext cx="1" cy="1502218"/>
          </a:xfrm>
          <a:prstGeom prst="straightConnector1">
            <a:avLst/>
          </a:prstGeom>
          <a:noFill/>
          <a:ln w="19050" cap="flat" cmpd="sng">
            <a:solidFill>
              <a:schemeClr val="dk1"/>
            </a:solidFill>
            <a:prstDash val="solid"/>
            <a:round/>
            <a:headEnd type="none" w="sm" len="sm"/>
            <a:tailEnd type="none" w="sm" len="sm"/>
          </a:ln>
        </p:spPr>
      </p:cxnSp>
      <p:sp>
        <p:nvSpPr>
          <p:cNvPr id="239" name="Google Shape;239;p30"/>
          <p:cNvSpPr txBox="1"/>
          <p:nvPr/>
        </p:nvSpPr>
        <p:spPr>
          <a:xfrm>
            <a:off x="1712216" y="4440187"/>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RegularFees	</a:t>
            </a:r>
            <a:endParaRPr sz="16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0" name="Google Shape;240;p30"/>
          <p:cNvSpPr txBox="1"/>
          <p:nvPr/>
        </p:nvSpPr>
        <p:spPr>
          <a:xfrm>
            <a:off x="1712216" y="4770591"/>
            <a:ext cx="2556284" cy="33855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Calibri" panose="020F0502020204030204"/>
                <a:ea typeface="Calibri" panose="020F0502020204030204"/>
                <a:cs typeface="Calibri" panose="020F0502020204030204"/>
                <a:sym typeface="Calibri" panose="020F0502020204030204"/>
              </a:rPr>
              <a:t>computeTotalFees(): double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2"/>
          <p:cNvSpPr txBox="1">
            <a:spLocks noGrp="1"/>
          </p:cNvSpPr>
          <p:nvPr>
            <p:ph type="ctrTitle"/>
          </p:nvPr>
        </p:nvSpPr>
        <p:spPr>
          <a:xfrm>
            <a:off x="467544"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Decorator pattern: when to use</a:t>
            </a:r>
            <a:endParaRPr sz="2400" dirty="0"/>
          </a:p>
        </p:txBody>
      </p:sp>
      <p:sp>
        <p:nvSpPr>
          <p:cNvPr id="99" name="Google Shape;99;p22"/>
          <p:cNvSpPr txBox="1">
            <a:spLocks noGrp="1"/>
          </p:cNvSpPr>
          <p:nvPr>
            <p:ph type="body" idx="1"/>
          </p:nvPr>
        </p:nvSpPr>
        <p:spPr>
          <a:xfrm>
            <a:off x="29840" y="1772816"/>
            <a:ext cx="9114160" cy="4752975"/>
          </a:xfrm>
          <a:prstGeom prst="rect">
            <a:avLst/>
          </a:prstGeom>
          <a:noFill/>
          <a:ln>
            <a:noFill/>
          </a:ln>
        </p:spPr>
        <p:txBody>
          <a:bodyPr spcFirstLastPara="1" wrap="square" lIns="91425" tIns="45700" rIns="91425" bIns="45700" anchor="t" anchorCtr="0">
            <a:noAutofit/>
          </a:bodyPr>
          <a:lstStyle/>
          <a:p>
            <a:r>
              <a:rPr lang="en-GB" sz="1900" b="1" dirty="0"/>
              <a:t>Extending Object </a:t>
            </a:r>
            <a:r>
              <a:rPr lang="en-GB" sz="1900" b="1" dirty="0" err="1"/>
              <a:t>Behavior</a:t>
            </a:r>
            <a:r>
              <a:rPr lang="en-GB" sz="1900" b="1" dirty="0"/>
              <a:t>:</a:t>
            </a:r>
            <a:r>
              <a:rPr lang="en-GB" sz="1900" dirty="0"/>
              <a:t> The decorator pattern allows you to create additional classes (decorators) that wrap the base class and add new functionalities to it. This approach keeps the base class clean and avoids modifying it for every specific </a:t>
            </a:r>
            <a:r>
              <a:rPr lang="en-GB" sz="1900" dirty="0" err="1"/>
              <a:t>behavior</a:t>
            </a:r>
            <a:r>
              <a:rPr lang="en-GB" sz="1900" dirty="0"/>
              <a:t> variation.</a:t>
            </a:r>
          </a:p>
          <a:p>
            <a:r>
              <a:rPr lang="en-GB" sz="1900" b="1" dirty="0"/>
              <a:t>Dynamic Composition of Functionality:</a:t>
            </a:r>
            <a:r>
              <a:rPr lang="en-GB" sz="1900" dirty="0"/>
              <a:t> You can combine different decorators to create different combinations of functionalities on the same object. This allows for flexible customization based on specific needs at runtime.</a:t>
            </a:r>
          </a:p>
          <a:p>
            <a:r>
              <a:rPr lang="en-GB" sz="1900" b="1" dirty="0"/>
              <a:t>Avoiding Subclass Explosion:</a:t>
            </a:r>
            <a:r>
              <a:rPr lang="en-GB" sz="1900" dirty="0"/>
              <a:t> When you have many variations of an object with slight differences, </a:t>
            </a:r>
            <a:r>
              <a:rPr lang="en-GB" sz="1900" dirty="0" err="1"/>
              <a:t>subclassing</a:t>
            </a:r>
            <a:r>
              <a:rPr lang="en-GB" sz="1900" dirty="0"/>
              <a:t> for each variation can lead to a class hierarchy explosion. The decorator pattern offers a cleaner alternative by allowing you to compose functionalities through decorators without creating a multitude of subclasses.</a:t>
            </a:r>
          </a:p>
          <a:p>
            <a:pPr marL="342900" lvl="0" indent="-203200" algn="l" rtl="0">
              <a:spcBef>
                <a:spcPts val="440"/>
              </a:spcBef>
              <a:spcAft>
                <a:spcPts val="0"/>
              </a:spcAft>
              <a:buClr>
                <a:srgbClr val="666666"/>
              </a:buClr>
              <a:buSzPts val="2200"/>
              <a:buNone/>
            </a:pPr>
            <a:endParaRPr sz="2200" dirty="0"/>
          </a:p>
          <a:p>
            <a:pPr marL="342900" lvl="0" indent="-203200" algn="l" rtl="0">
              <a:spcBef>
                <a:spcPts val="440"/>
              </a:spcBef>
              <a:spcAft>
                <a:spcPts val="0"/>
              </a:spcAft>
              <a:buClr>
                <a:srgbClr val="666666"/>
              </a:buClr>
              <a:buSzPts val="2200"/>
              <a:buNone/>
            </a:pPr>
            <a:endParaRPr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35"/>
          <p:cNvSpPr txBox="1">
            <a:spLocks noGrp="1"/>
          </p:cNvSpPr>
          <p:nvPr>
            <p:ph type="ctrTitle"/>
          </p:nvPr>
        </p:nvSpPr>
        <p:spPr>
          <a:xfrm>
            <a:off x="416262" y="980728"/>
            <a:ext cx="6768752" cy="576064"/>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State pattern: Car central lock</a:t>
            </a:r>
            <a:endParaRPr sz="2400"/>
          </a:p>
        </p:txBody>
      </p:sp>
      <p:cxnSp>
        <p:nvCxnSpPr>
          <p:cNvPr id="279" name="Google Shape;279;p35"/>
          <p:cNvCxnSpPr/>
          <p:nvPr/>
        </p:nvCxnSpPr>
        <p:spPr>
          <a:xfrm rot="10800000" flipH="1">
            <a:off x="3080558" y="2708919"/>
            <a:ext cx="1807539" cy="1"/>
          </a:xfrm>
          <a:prstGeom prst="straightConnector1">
            <a:avLst/>
          </a:prstGeom>
          <a:noFill/>
          <a:ln w="9525" cap="flat" cmpd="sng">
            <a:solidFill>
              <a:schemeClr val="dk1"/>
            </a:solidFill>
            <a:prstDash val="solid"/>
            <a:round/>
            <a:headEnd type="none" w="sm" len="sm"/>
            <a:tailEnd type="triangle" w="med" len="med"/>
          </a:ln>
        </p:spPr>
      </p:cxnSp>
      <p:cxnSp>
        <p:nvCxnSpPr>
          <p:cNvPr id="280" name="Google Shape;280;p35"/>
          <p:cNvCxnSpPr/>
          <p:nvPr/>
        </p:nvCxnSpPr>
        <p:spPr>
          <a:xfrm flipH="1">
            <a:off x="2360478" y="1988840"/>
            <a:ext cx="1440160" cy="504055"/>
          </a:xfrm>
          <a:prstGeom prst="straightConnector1">
            <a:avLst/>
          </a:prstGeom>
          <a:noFill/>
          <a:ln w="9525" cap="flat" cmpd="sng">
            <a:solidFill>
              <a:schemeClr val="dk1"/>
            </a:solidFill>
            <a:prstDash val="solid"/>
            <a:round/>
            <a:headEnd type="none" w="sm" len="sm"/>
            <a:tailEnd type="triangle" w="med" len="med"/>
          </a:ln>
        </p:spPr>
      </p:cxnSp>
      <p:cxnSp>
        <p:nvCxnSpPr>
          <p:cNvPr id="281" name="Google Shape;281;p35"/>
          <p:cNvCxnSpPr/>
          <p:nvPr/>
        </p:nvCxnSpPr>
        <p:spPr>
          <a:xfrm>
            <a:off x="3800638" y="1988840"/>
            <a:ext cx="1779474" cy="504056"/>
          </a:xfrm>
          <a:prstGeom prst="straightConnector1">
            <a:avLst/>
          </a:prstGeom>
          <a:noFill/>
          <a:ln w="9525" cap="flat" cmpd="sng">
            <a:solidFill>
              <a:schemeClr val="dk1"/>
            </a:solidFill>
            <a:prstDash val="solid"/>
            <a:round/>
            <a:headEnd type="none" w="sm" len="sm"/>
            <a:tailEnd type="none" w="sm" len="sm"/>
          </a:ln>
        </p:spPr>
      </p:cxnSp>
      <p:sp>
        <p:nvSpPr>
          <p:cNvPr id="282" name="Google Shape;282;p35"/>
          <p:cNvSpPr/>
          <p:nvPr/>
        </p:nvSpPr>
        <p:spPr>
          <a:xfrm>
            <a:off x="1187624" y="3284984"/>
            <a:ext cx="4572000" cy="313932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States:</a:t>
            </a: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CarLocked</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CarOpened</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Actions:</a:t>
            </a: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Lock pressed</a:t>
            </a: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Open pressed</a:t>
            </a:r>
          </a:p>
          <a:p>
            <a:pPr marL="0" marR="0" lvl="0" indent="0" algn="l"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Transitions:</a:t>
            </a: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CarLocked to CarOpened</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CarOpened to CarLocked</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3" name="Google Shape;283;p35"/>
          <p:cNvSpPr/>
          <p:nvPr/>
        </p:nvSpPr>
        <p:spPr>
          <a:xfrm>
            <a:off x="1184065" y="2492896"/>
            <a:ext cx="1872208" cy="504056"/>
          </a:xfrm>
          <a:prstGeom prst="roundRect">
            <a:avLst>
              <a:gd name="adj" fmla="val 16667"/>
            </a:avLst>
          </a:prstGeom>
          <a:solidFill>
            <a:srgbClr val="953734"/>
          </a:solid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CarLocked</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284" name="Google Shape;284;p35"/>
          <p:cNvSpPr/>
          <p:nvPr/>
        </p:nvSpPr>
        <p:spPr>
          <a:xfrm>
            <a:off x="4888097" y="2492896"/>
            <a:ext cx="1988160" cy="504056"/>
          </a:xfrm>
          <a:prstGeom prst="roundRect">
            <a:avLst>
              <a:gd name="adj" fmla="val 16667"/>
            </a:avLst>
          </a:prstGeom>
          <a:solidFill>
            <a:srgbClr val="953734"/>
          </a:solidFill>
          <a:ln w="25400" cap="flat" cmpd="sng">
            <a:solidFill>
              <a:srgbClr val="6324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CarOpened</a:t>
            </a: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0"/>
          <p:cNvSpPr txBox="1">
            <a:spLocks noGrp="1"/>
          </p:cNvSpPr>
          <p:nvPr>
            <p:ph type="ctrTitle"/>
          </p:nvPr>
        </p:nvSpPr>
        <p:spPr>
          <a:xfrm>
            <a:off x="467544" y="1124744"/>
            <a:ext cx="6768752" cy="648072"/>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State pattern</a:t>
            </a:r>
            <a:endParaRPr sz="2400"/>
          </a:p>
        </p:txBody>
      </p:sp>
      <p:sp>
        <p:nvSpPr>
          <p:cNvPr id="318" name="Google Shape;318;p40"/>
          <p:cNvSpPr txBox="1">
            <a:spLocks noGrp="1"/>
          </p:cNvSpPr>
          <p:nvPr>
            <p:ph type="body" idx="1"/>
          </p:nvPr>
        </p:nvSpPr>
        <p:spPr>
          <a:xfrm>
            <a:off x="395288" y="1844675"/>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The State Pattern allows an object to alter its behavior when its internal state changes. The object will appear to change its class</a:t>
            </a:r>
          </a:p>
          <a:p>
            <a:pPr marL="342900" lvl="0" indent="-342900" algn="l" rtl="0">
              <a:spcBef>
                <a:spcPts val="480"/>
              </a:spcBef>
              <a:spcAft>
                <a:spcPts val="0"/>
              </a:spcAft>
              <a:buClr>
                <a:srgbClr val="666666"/>
              </a:buClr>
              <a:buSzPts val="2400"/>
              <a:buChar char="•"/>
            </a:pPr>
            <a:r>
              <a:rPr lang="en-US"/>
              <a:t>State pattern encapsulates state into separate classes and delegates to the object representing the current state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2"/>
          <p:cNvSpPr txBox="1">
            <a:spLocks noGrp="1"/>
          </p:cNvSpPr>
          <p:nvPr>
            <p:ph type="ctrTitle"/>
          </p:nvPr>
        </p:nvSpPr>
        <p:spPr>
          <a:xfrm>
            <a:off x="539552" y="1052736"/>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State pattern: when to use</a:t>
            </a:r>
            <a:endParaRPr sz="2400" dirty="0"/>
          </a:p>
        </p:txBody>
      </p:sp>
      <p:sp>
        <p:nvSpPr>
          <p:cNvPr id="346" name="Google Shape;346;p42"/>
          <p:cNvSpPr txBox="1">
            <a:spLocks noGrp="1"/>
          </p:cNvSpPr>
          <p:nvPr>
            <p:ph type="body" idx="1"/>
          </p:nvPr>
        </p:nvSpPr>
        <p:spPr>
          <a:xfrm>
            <a:off x="395288" y="1844675"/>
            <a:ext cx="8425184" cy="2376413"/>
          </a:xfrm>
          <a:prstGeom prst="rect">
            <a:avLst/>
          </a:prstGeom>
          <a:noFill/>
          <a:ln>
            <a:noFill/>
          </a:ln>
        </p:spPr>
        <p:txBody>
          <a:bodyPr spcFirstLastPara="1" wrap="square" lIns="91425" tIns="45700" rIns="91425" bIns="45700" anchor="t" anchorCtr="0">
            <a:noAutofit/>
          </a:bodyPr>
          <a:lstStyle/>
          <a:p>
            <a:r>
              <a:rPr lang="en-GB" sz="2000" b="1" dirty="0"/>
              <a:t>Object </a:t>
            </a:r>
            <a:r>
              <a:rPr lang="en-GB" sz="2000" b="1" dirty="0" err="1"/>
              <a:t>Behavior</a:t>
            </a:r>
            <a:r>
              <a:rPr lang="en-GB" sz="2000" b="1" dirty="0"/>
              <a:t> Varies with State:</a:t>
            </a:r>
            <a:r>
              <a:rPr lang="en-GB" sz="2000" dirty="0"/>
              <a:t> If the </a:t>
            </a:r>
            <a:r>
              <a:rPr lang="en-GB" sz="2000" dirty="0" err="1"/>
              <a:t>behavior</a:t>
            </a:r>
            <a:r>
              <a:rPr lang="en-GB" sz="2000" dirty="0"/>
              <a:t> of an object significantly changes depending on its internal state, the state pattern offers a structured approach. </a:t>
            </a:r>
          </a:p>
          <a:p>
            <a:r>
              <a:rPr lang="en-GB" sz="2000" b="1" dirty="0"/>
              <a:t>Complex State Management:</a:t>
            </a:r>
            <a:r>
              <a:rPr lang="en-GB" sz="2000" dirty="0"/>
              <a:t> When dealing with objects that can be in multiple states, each with distinct </a:t>
            </a:r>
            <a:r>
              <a:rPr lang="en-GB" sz="2000" dirty="0" err="1"/>
              <a:t>behaviors</a:t>
            </a:r>
            <a:r>
              <a:rPr lang="en-GB" sz="2000" dirty="0"/>
              <a:t> and transitions, the state pattern provides a clear way to manage these states and their interactions.</a:t>
            </a:r>
          </a:p>
          <a:p>
            <a:r>
              <a:rPr lang="en-GB" sz="2000" b="1" dirty="0"/>
              <a:t>Maintainable and Flexible State Logic:</a:t>
            </a:r>
            <a:r>
              <a:rPr lang="en-GB" sz="2000" dirty="0"/>
              <a:t> By separating </a:t>
            </a:r>
            <a:r>
              <a:rPr lang="en-GB" sz="2000" dirty="0" err="1"/>
              <a:t>behavior</a:t>
            </a:r>
            <a:r>
              <a:rPr lang="en-GB" sz="2000" dirty="0"/>
              <a:t> based on state, you can modify or add new state logic without affecting other parts of the object. This promotes maintainability and makes it easier to reason about object </a:t>
            </a:r>
            <a:r>
              <a:rPr lang="en-GB" sz="2000" dirty="0" err="1"/>
              <a:t>behavior</a:t>
            </a:r>
            <a:r>
              <a:rPr lang="en-GB" sz="2000" dirty="0"/>
              <a:t>.</a:t>
            </a:r>
          </a:p>
          <a:p>
            <a:pPr marL="342900" lvl="0" indent="-190500" algn="l" rtl="0">
              <a:spcBef>
                <a:spcPts val="0"/>
              </a:spcBef>
              <a:spcAft>
                <a:spcPts val="0"/>
              </a:spcAft>
              <a:buClr>
                <a:srgbClr val="666666"/>
              </a:buClr>
              <a:buSzPts val="2400"/>
              <a:buNone/>
            </a:pPr>
            <a:endParaRPr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2"/>
          <p:cNvSpPr txBox="1">
            <a:spLocks noGrp="1"/>
          </p:cNvSpPr>
          <p:nvPr>
            <p:ph type="ctrTitle"/>
          </p:nvPr>
        </p:nvSpPr>
        <p:spPr>
          <a:xfrm>
            <a:off x="357034" y="1047742"/>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dirty="0"/>
              <a:t>What is software architecture?</a:t>
            </a:r>
            <a:endParaRPr sz="2400" dirty="0"/>
          </a:p>
        </p:txBody>
      </p:sp>
      <p:sp>
        <p:nvSpPr>
          <p:cNvPr id="80" name="Google Shape;80;p22"/>
          <p:cNvSpPr txBox="1">
            <a:spLocks noGrp="1"/>
          </p:cNvSpPr>
          <p:nvPr>
            <p:ph type="body" idx="1"/>
          </p:nvPr>
        </p:nvSpPr>
        <p:spPr>
          <a:xfrm>
            <a:off x="107504" y="1700808"/>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It’s all about software design </a:t>
            </a:r>
          </a:p>
          <a:p>
            <a:pPr marL="742950" lvl="1" indent="-285750" algn="l" rtl="0">
              <a:spcBef>
                <a:spcPts val="480"/>
              </a:spcBef>
              <a:spcAft>
                <a:spcPts val="0"/>
              </a:spcAft>
              <a:buClr>
                <a:srgbClr val="666666"/>
              </a:buClr>
              <a:buSzPts val="2400"/>
              <a:buChar char="–"/>
            </a:pPr>
            <a:r>
              <a:rPr lang="en-US" sz="2400"/>
              <a:t>Architecture is a software design, but not all designs are software architecture </a:t>
            </a:r>
            <a:endParaRPr sz="2400"/>
          </a:p>
          <a:p>
            <a:pPr marL="742950" lvl="1" indent="-285750" algn="l" rtl="0">
              <a:spcBef>
                <a:spcPts val="480"/>
              </a:spcBef>
              <a:spcAft>
                <a:spcPts val="0"/>
              </a:spcAft>
              <a:buClr>
                <a:srgbClr val="666666"/>
              </a:buClr>
              <a:buSzPts val="2400"/>
              <a:buChar char="–"/>
            </a:pPr>
            <a:r>
              <a:rPr lang="en-US" sz="2400"/>
              <a:t> Part of the design process </a:t>
            </a:r>
            <a:endParaRPr sz="2400"/>
          </a:p>
          <a:p>
            <a:pPr marL="342900" lvl="0" indent="-342900" algn="l" rtl="0">
              <a:spcBef>
                <a:spcPts val="480"/>
              </a:spcBef>
              <a:spcAft>
                <a:spcPts val="0"/>
              </a:spcAft>
              <a:buClr>
                <a:srgbClr val="666666"/>
              </a:buClr>
              <a:buSzPts val="2400"/>
              <a:buChar char="•"/>
            </a:pPr>
            <a:r>
              <a:rPr lang="en-US"/>
              <a:t>Architecture focuses on “issues that will be difficult/impossible to change once the system is built” Gorton </a:t>
            </a:r>
          </a:p>
          <a:p>
            <a:pPr marL="742950" lvl="1" indent="-285750" algn="l" rtl="0">
              <a:spcBef>
                <a:spcPts val="480"/>
              </a:spcBef>
              <a:spcAft>
                <a:spcPts val="0"/>
              </a:spcAft>
              <a:buClr>
                <a:srgbClr val="666666"/>
              </a:buClr>
              <a:buSzPts val="2400"/>
              <a:buChar char="–"/>
            </a:pPr>
            <a:r>
              <a:rPr lang="en-US" sz="2400"/>
              <a:t> E.g., quality attributes like security, performance </a:t>
            </a:r>
          </a:p>
          <a:p>
            <a:pPr marL="742950" lvl="1" indent="-285750" algn="l" rtl="0">
              <a:spcBef>
                <a:spcPts val="480"/>
              </a:spcBef>
              <a:spcAft>
                <a:spcPts val="0"/>
              </a:spcAft>
              <a:buClr>
                <a:srgbClr val="666666"/>
              </a:buClr>
              <a:buSzPts val="2400"/>
              <a:buChar char="–"/>
            </a:pPr>
            <a:r>
              <a:rPr lang="en-US" sz="2400"/>
              <a:t>E.g., non-functional requirements like cost, deployment hardware</a:t>
            </a:r>
          </a:p>
          <a:p>
            <a:pPr marL="342900" lvl="0" indent="-342900" algn="l" rtl="0">
              <a:spcBef>
                <a:spcPts val="480"/>
              </a:spcBef>
              <a:spcAft>
                <a:spcPts val="0"/>
              </a:spcAft>
              <a:buClr>
                <a:srgbClr val="666666"/>
              </a:buClr>
              <a:buSzPts val="2400"/>
              <a:buChar char="•"/>
            </a:pPr>
            <a:r>
              <a:rPr lang="en-US"/>
              <a:t>“Software architecture is the set of principal design decisions governing a system </a:t>
            </a:r>
            <a:r>
              <a:rPr lang="en-US" i="1"/>
              <a:t>”</a:t>
            </a:r>
            <a:r>
              <a:rPr lang="en-US"/>
              <a:t> Tylor </a:t>
            </a:r>
            <a:r>
              <a:rPr lang="en-US" i="1"/>
              <a:t>et al</a:t>
            </a:r>
          </a:p>
        </p:txBody>
      </p:sp>
      <p:sp>
        <p:nvSpPr>
          <p:cNvPr id="4" name="Google Shape;79;p22"/>
          <p:cNvSpPr txBox="1"/>
          <p:nvPr/>
        </p:nvSpPr>
        <p:spPr>
          <a:xfrm>
            <a:off x="357034" y="316222"/>
            <a:ext cx="6768752" cy="50405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97000"/>
              </a:lnSpc>
              <a:spcBef>
                <a:spcPts val="0"/>
              </a:spcBef>
              <a:spcAft>
                <a:spcPts val="0"/>
              </a:spcAft>
              <a:buClr>
                <a:srgbClr val="B5121B"/>
              </a:buClr>
              <a:buSzPts val="3600"/>
              <a:buFont typeface="Calibri" panose="020F0502020204030204"/>
              <a:buNone/>
              <a:defRPr sz="3600" b="0" i="0" u="none" strike="noStrike" cap="none">
                <a:solidFill>
                  <a:srgbClr val="B5121B"/>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nSpc>
                <a:spcPct val="146000"/>
              </a:lnSpc>
              <a:buSzPts val="2400"/>
            </a:pPr>
            <a:r>
              <a:rPr lang="en-US" sz="2400" dirty="0"/>
              <a:t>SOFTWARE ARCHITECTURE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3"/>
          <p:cNvSpPr txBox="1">
            <a:spLocks noGrp="1"/>
          </p:cNvSpPr>
          <p:nvPr>
            <p:ph type="ctrTitle"/>
          </p:nvPr>
        </p:nvSpPr>
        <p:spPr>
          <a:xfrm>
            <a:off x="539552" y="1052736"/>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What is software architecture?</a:t>
            </a:r>
            <a:endParaRPr sz="2400"/>
          </a:p>
        </p:txBody>
      </p:sp>
      <p:sp>
        <p:nvSpPr>
          <p:cNvPr id="86" name="Google Shape;86;p23"/>
          <p:cNvSpPr txBox="1">
            <a:spLocks noGrp="1"/>
          </p:cNvSpPr>
          <p:nvPr>
            <p:ph type="body" idx="1"/>
          </p:nvPr>
        </p:nvSpPr>
        <p:spPr>
          <a:xfrm>
            <a:off x="107504"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“Architecture is the fundamental organization of a system, embodied in its components, their relationships to each other and the environment, and the principles governing its design and evolution” ANSI/IEEE Std 1471-2000</a:t>
            </a:r>
          </a:p>
          <a:p>
            <a:pPr marL="342900" lvl="0" indent="-342900" algn="l" rtl="0">
              <a:spcBef>
                <a:spcPts val="480"/>
              </a:spcBef>
              <a:spcAft>
                <a:spcPts val="0"/>
              </a:spcAft>
              <a:buClr>
                <a:srgbClr val="666666"/>
              </a:buClr>
              <a:buSzPts val="2400"/>
              <a:buChar char="•"/>
            </a:pPr>
            <a:r>
              <a:rPr lang="en-US"/>
              <a:t>“The software architecture of a program or computing system is the structure or structures of the system, which comprise software elements, the externally visible properties of those elements, and the relationships among them” SEI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4"/>
          <p:cNvSpPr txBox="1">
            <a:spLocks noGrp="1"/>
          </p:cNvSpPr>
          <p:nvPr>
            <p:ph type="ctrTitle"/>
          </p:nvPr>
        </p:nvSpPr>
        <p:spPr>
          <a:xfrm>
            <a:off x="395536" y="1052736"/>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Main point</a:t>
            </a:r>
            <a:endParaRPr sz="2400"/>
          </a:p>
        </p:txBody>
      </p:sp>
      <p:sp>
        <p:nvSpPr>
          <p:cNvPr id="92" name="Google Shape;92;p24"/>
          <p:cNvSpPr txBox="1">
            <a:spLocks noGrp="1"/>
          </p:cNvSpPr>
          <p:nvPr>
            <p:ph type="body" idx="1"/>
          </p:nvPr>
        </p:nvSpPr>
        <p:spPr>
          <a:xfrm>
            <a:off x="107504"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Architecture Defines Structure </a:t>
            </a:r>
          </a:p>
          <a:p>
            <a:pPr marL="742950" lvl="1" indent="-285750" algn="l" rtl="0">
              <a:spcBef>
                <a:spcPts val="440"/>
              </a:spcBef>
              <a:spcAft>
                <a:spcPts val="0"/>
              </a:spcAft>
              <a:buClr>
                <a:srgbClr val="666666"/>
              </a:buClr>
              <a:buSzPts val="2200"/>
              <a:buChar char="–"/>
            </a:pPr>
            <a:r>
              <a:rPr lang="en-US"/>
              <a:t>Decomposition of a system into components/modules/ subsystems</a:t>
            </a:r>
          </a:p>
          <a:p>
            <a:pPr marL="342900" lvl="0" indent="-342900" algn="l" rtl="0">
              <a:spcBef>
                <a:spcPts val="480"/>
              </a:spcBef>
              <a:spcAft>
                <a:spcPts val="0"/>
              </a:spcAft>
              <a:buClr>
                <a:srgbClr val="666666"/>
              </a:buClr>
              <a:buSzPts val="2400"/>
              <a:buChar char="•"/>
            </a:pPr>
            <a:r>
              <a:rPr lang="en-US"/>
              <a:t> Architecture defines: </a:t>
            </a:r>
          </a:p>
          <a:p>
            <a:pPr marL="742950" lvl="1" indent="-285750" algn="l" rtl="0">
              <a:spcBef>
                <a:spcPts val="440"/>
              </a:spcBef>
              <a:spcAft>
                <a:spcPts val="0"/>
              </a:spcAft>
              <a:buClr>
                <a:srgbClr val="666666"/>
              </a:buClr>
              <a:buSzPts val="2200"/>
              <a:buChar char="–"/>
            </a:pPr>
            <a:r>
              <a:rPr lang="en-US"/>
              <a:t>Component interfaces </a:t>
            </a:r>
          </a:p>
          <a:p>
            <a:pPr marL="1143000" lvl="2" indent="-228600" algn="l" rtl="0">
              <a:spcBef>
                <a:spcPts val="400"/>
              </a:spcBef>
              <a:spcAft>
                <a:spcPts val="0"/>
              </a:spcAft>
              <a:buClr>
                <a:srgbClr val="666666"/>
              </a:buClr>
              <a:buSzPts val="2000"/>
              <a:buChar char="•"/>
            </a:pPr>
            <a:r>
              <a:rPr lang="en-US"/>
              <a:t>What a component can do </a:t>
            </a:r>
          </a:p>
          <a:p>
            <a:pPr marL="742950" lvl="1" indent="-285750" algn="l" rtl="0">
              <a:spcBef>
                <a:spcPts val="440"/>
              </a:spcBef>
              <a:spcAft>
                <a:spcPts val="0"/>
              </a:spcAft>
              <a:buClr>
                <a:srgbClr val="666666"/>
              </a:buClr>
              <a:buSzPts val="2200"/>
              <a:buChar char="–"/>
            </a:pPr>
            <a:r>
              <a:rPr lang="en-US"/>
              <a:t>Component communications and dependencies </a:t>
            </a:r>
          </a:p>
          <a:p>
            <a:pPr marL="1143000" lvl="2" indent="-228600" algn="l" rtl="0">
              <a:spcBef>
                <a:spcPts val="400"/>
              </a:spcBef>
              <a:spcAft>
                <a:spcPts val="0"/>
              </a:spcAft>
              <a:buClr>
                <a:srgbClr val="666666"/>
              </a:buClr>
              <a:buSzPts val="2000"/>
              <a:buChar char="•"/>
            </a:pPr>
            <a:r>
              <a:rPr lang="en-US"/>
              <a:t> How components communicate </a:t>
            </a:r>
          </a:p>
          <a:p>
            <a:pPr marL="742950" lvl="1" indent="-285750" algn="l" rtl="0">
              <a:spcBef>
                <a:spcPts val="440"/>
              </a:spcBef>
              <a:spcAft>
                <a:spcPts val="0"/>
              </a:spcAft>
              <a:buClr>
                <a:srgbClr val="666666"/>
              </a:buClr>
              <a:buSzPts val="2200"/>
              <a:buChar char="–"/>
            </a:pPr>
            <a:r>
              <a:rPr lang="en-US"/>
              <a:t>Component responsibilities </a:t>
            </a:r>
          </a:p>
          <a:p>
            <a:pPr marL="1143000" lvl="2" indent="-228600" algn="l" rtl="0">
              <a:spcBef>
                <a:spcPts val="400"/>
              </a:spcBef>
              <a:spcAft>
                <a:spcPts val="0"/>
              </a:spcAft>
              <a:buClr>
                <a:srgbClr val="666666"/>
              </a:buClr>
              <a:buSzPts val="2000"/>
              <a:buChar char="•"/>
            </a:pPr>
            <a:r>
              <a:rPr lang="en-US"/>
              <a:t>Precisely what a component will do</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6"/>
          <p:cNvSpPr txBox="1">
            <a:spLocks noGrp="1"/>
          </p:cNvSpPr>
          <p:nvPr>
            <p:ph type="ctrTitle"/>
          </p:nvPr>
        </p:nvSpPr>
        <p:spPr>
          <a:xfrm>
            <a:off x="467544" y="1124744"/>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Analogy: Architecture of Buildings</a:t>
            </a:r>
          </a:p>
        </p:txBody>
      </p:sp>
      <p:sp>
        <p:nvSpPr>
          <p:cNvPr id="104" name="Google Shape;104;p26"/>
          <p:cNvSpPr txBox="1">
            <a:spLocks noGrp="1"/>
          </p:cNvSpPr>
          <p:nvPr>
            <p:ph type="body" idx="1"/>
          </p:nvPr>
        </p:nvSpPr>
        <p:spPr>
          <a:xfrm>
            <a:off x="323528"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Analogy: Architecture of Buildings </a:t>
            </a:r>
          </a:p>
          <a:p>
            <a:pPr marL="342900" lvl="0" indent="-342900" algn="l" rtl="0">
              <a:spcBef>
                <a:spcPts val="480"/>
              </a:spcBef>
              <a:spcAft>
                <a:spcPts val="0"/>
              </a:spcAft>
              <a:buClr>
                <a:srgbClr val="666666"/>
              </a:buClr>
              <a:buSzPts val="2400"/>
              <a:buChar char="•"/>
            </a:pPr>
            <a:r>
              <a:rPr lang="en-US"/>
              <a:t>We all live in them </a:t>
            </a:r>
          </a:p>
          <a:p>
            <a:pPr marL="342900" lvl="0" indent="-342900" algn="l" rtl="0">
              <a:spcBef>
                <a:spcPts val="480"/>
              </a:spcBef>
              <a:spcAft>
                <a:spcPts val="0"/>
              </a:spcAft>
              <a:buClr>
                <a:srgbClr val="666666"/>
              </a:buClr>
              <a:buSzPts val="2400"/>
              <a:buChar char="•"/>
            </a:pPr>
            <a:r>
              <a:rPr lang="en-US"/>
              <a:t> (We think) We know how they are built </a:t>
            </a:r>
          </a:p>
          <a:p>
            <a:pPr marL="742950" lvl="1" indent="-285750" algn="l" rtl="0">
              <a:spcBef>
                <a:spcPts val="440"/>
              </a:spcBef>
              <a:spcAft>
                <a:spcPts val="0"/>
              </a:spcAft>
              <a:buClr>
                <a:srgbClr val="666666"/>
              </a:buClr>
              <a:buSzPts val="2200"/>
              <a:buChar char="–"/>
            </a:pPr>
            <a:r>
              <a:rPr lang="en-US"/>
              <a:t>Requirements </a:t>
            </a:r>
          </a:p>
          <a:p>
            <a:pPr marL="742950" lvl="1" indent="-285750" algn="l" rtl="0">
              <a:spcBef>
                <a:spcPts val="440"/>
              </a:spcBef>
              <a:spcAft>
                <a:spcPts val="0"/>
              </a:spcAft>
              <a:buClr>
                <a:srgbClr val="666666"/>
              </a:buClr>
              <a:buSzPts val="2200"/>
              <a:buChar char="–"/>
            </a:pPr>
            <a:r>
              <a:rPr lang="en-US"/>
              <a:t> Designs (blueprints) </a:t>
            </a:r>
          </a:p>
          <a:p>
            <a:pPr marL="742950" lvl="1" indent="-285750" algn="l" rtl="0">
              <a:spcBef>
                <a:spcPts val="440"/>
              </a:spcBef>
              <a:spcAft>
                <a:spcPts val="0"/>
              </a:spcAft>
              <a:buClr>
                <a:srgbClr val="666666"/>
              </a:buClr>
              <a:buSzPts val="2200"/>
              <a:buChar char="–"/>
            </a:pPr>
            <a:r>
              <a:rPr lang="en-US"/>
              <a:t>Construction </a:t>
            </a:r>
          </a:p>
          <a:p>
            <a:pPr marL="742950" lvl="1" indent="-285750" algn="l" rtl="0">
              <a:spcBef>
                <a:spcPts val="440"/>
              </a:spcBef>
              <a:spcAft>
                <a:spcPts val="0"/>
              </a:spcAft>
              <a:buClr>
                <a:srgbClr val="666666"/>
              </a:buClr>
              <a:buSzPts val="2200"/>
              <a:buChar char="–"/>
            </a:pPr>
            <a:r>
              <a:rPr lang="en-US"/>
              <a:t>Use </a:t>
            </a:r>
          </a:p>
          <a:p>
            <a:pPr marL="342900" lvl="0" indent="-342900" algn="l" rtl="0">
              <a:spcBef>
                <a:spcPts val="480"/>
              </a:spcBef>
              <a:spcAft>
                <a:spcPts val="0"/>
              </a:spcAft>
              <a:buClr>
                <a:srgbClr val="666666"/>
              </a:buClr>
              <a:buSzPts val="2400"/>
              <a:buChar char="•"/>
            </a:pPr>
            <a:r>
              <a:rPr lang="en-US"/>
              <a:t>This is similar (though not identical) to how we build software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7"/>
          <p:cNvSpPr txBox="1">
            <a:spLocks noGrp="1"/>
          </p:cNvSpPr>
          <p:nvPr>
            <p:ph type="ctrTitle"/>
          </p:nvPr>
        </p:nvSpPr>
        <p:spPr>
          <a:xfrm>
            <a:off x="395536"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Some Obvious Parallels</a:t>
            </a:r>
          </a:p>
        </p:txBody>
      </p:sp>
      <p:sp>
        <p:nvSpPr>
          <p:cNvPr id="110" name="Google Shape;110;p27"/>
          <p:cNvSpPr txBox="1">
            <a:spLocks noGrp="1"/>
          </p:cNvSpPr>
          <p:nvPr>
            <p:ph type="body" idx="1"/>
          </p:nvPr>
        </p:nvSpPr>
        <p:spPr>
          <a:xfrm>
            <a:off x="107504"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Satisfaction of customers’ needs</a:t>
            </a:r>
          </a:p>
          <a:p>
            <a:pPr marL="342900" lvl="0" indent="-342900" algn="l" rtl="0">
              <a:spcBef>
                <a:spcPts val="480"/>
              </a:spcBef>
              <a:spcAft>
                <a:spcPts val="0"/>
              </a:spcAft>
              <a:buClr>
                <a:srgbClr val="666666"/>
              </a:buClr>
              <a:buSzPts val="2400"/>
              <a:buChar char="•"/>
            </a:pPr>
            <a:r>
              <a:rPr lang="en-US"/>
              <a:t> Specialization of labor </a:t>
            </a:r>
          </a:p>
          <a:p>
            <a:pPr marL="342900" lvl="0" indent="-342900" algn="l" rtl="0">
              <a:spcBef>
                <a:spcPts val="480"/>
              </a:spcBef>
              <a:spcAft>
                <a:spcPts val="0"/>
              </a:spcAft>
              <a:buClr>
                <a:srgbClr val="666666"/>
              </a:buClr>
              <a:buSzPts val="2400"/>
              <a:buChar char="•"/>
            </a:pPr>
            <a:r>
              <a:rPr lang="en-US"/>
              <a:t>Multiple perspectives</a:t>
            </a:r>
          </a:p>
          <a:p>
            <a:pPr marL="342900" lvl="0" indent="-342900" algn="l" rtl="0">
              <a:spcBef>
                <a:spcPts val="480"/>
              </a:spcBef>
              <a:spcAft>
                <a:spcPts val="0"/>
              </a:spcAft>
              <a:buClr>
                <a:srgbClr val="666666"/>
              </a:buClr>
              <a:buSzPts val="2400"/>
              <a:buChar char="•"/>
            </a:pPr>
            <a:r>
              <a:rPr lang="en-US"/>
              <a:t>Intermediate points where plans and progress are reviewed</a:t>
            </a:r>
          </a:p>
          <a:p>
            <a:pPr marL="742950" lvl="1" indent="-285750" algn="l" rtl="0">
              <a:spcBef>
                <a:spcPts val="440"/>
              </a:spcBef>
              <a:spcAft>
                <a:spcPts val="0"/>
              </a:spcAft>
              <a:buClr>
                <a:srgbClr val="666666"/>
              </a:buClr>
              <a:buSzPts val="2200"/>
              <a:buChar char="–"/>
            </a:pPr>
            <a:r>
              <a:rPr lang="en-US"/>
              <a:t>System requirements specs, designs, mockups, prototypes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8"/>
          <p:cNvSpPr txBox="1">
            <a:spLocks noGrp="1"/>
          </p:cNvSpPr>
          <p:nvPr>
            <p:ph type="ctrTitle"/>
          </p:nvPr>
        </p:nvSpPr>
        <p:spPr>
          <a:xfrm>
            <a:off x="395536" y="1124744"/>
            <a:ext cx="6768752" cy="576064"/>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Deeper Parallels</a:t>
            </a:r>
          </a:p>
        </p:txBody>
      </p:sp>
      <p:sp>
        <p:nvSpPr>
          <p:cNvPr id="116" name="Google Shape;116;p28"/>
          <p:cNvSpPr txBox="1">
            <a:spLocks noGrp="1"/>
          </p:cNvSpPr>
          <p:nvPr>
            <p:ph type="body" idx="1"/>
          </p:nvPr>
        </p:nvSpPr>
        <p:spPr>
          <a:xfrm>
            <a:off x="251520" y="1700808"/>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Architecture is different from, but linked with the product/structure </a:t>
            </a:r>
          </a:p>
          <a:p>
            <a:pPr marL="342900" lvl="0" indent="-342900" algn="l" rtl="0">
              <a:spcBef>
                <a:spcPts val="480"/>
              </a:spcBef>
              <a:spcAft>
                <a:spcPts val="0"/>
              </a:spcAft>
              <a:buClr>
                <a:srgbClr val="666666"/>
              </a:buClr>
              <a:buSzPts val="2400"/>
              <a:buChar char="•"/>
            </a:pPr>
            <a:r>
              <a:rPr lang="en-US"/>
              <a:t>Properties of structures are induced by the design of the architecture </a:t>
            </a:r>
          </a:p>
          <a:p>
            <a:pPr marL="742950" lvl="1" indent="-285750" algn="l" rtl="0">
              <a:spcBef>
                <a:spcPts val="440"/>
              </a:spcBef>
              <a:spcAft>
                <a:spcPts val="0"/>
              </a:spcAft>
              <a:buClr>
                <a:srgbClr val="666666"/>
              </a:buClr>
              <a:buSzPts val="2200"/>
              <a:buChar char="–"/>
            </a:pPr>
            <a:r>
              <a:rPr lang="en-US"/>
              <a:t>E.g medieval castle had </a:t>
            </a:r>
            <a:r>
              <a:rPr lang="en-US" u="sng"/>
              <a:t>high</a:t>
            </a:r>
            <a:r>
              <a:rPr lang="en-US"/>
              <a:t> and </a:t>
            </a:r>
            <a:r>
              <a:rPr lang="en-US" u="sng"/>
              <a:t>thick walls</a:t>
            </a:r>
            <a:r>
              <a:rPr lang="en-US"/>
              <a:t> and </a:t>
            </a:r>
            <a:r>
              <a:rPr lang="en-US" u="sng"/>
              <a:t>narrow windows</a:t>
            </a:r>
          </a:p>
          <a:p>
            <a:pPr marL="742950" lvl="1" indent="-285750" algn="l" rtl="0">
              <a:spcBef>
                <a:spcPts val="440"/>
              </a:spcBef>
              <a:spcAft>
                <a:spcPts val="0"/>
              </a:spcAft>
              <a:buClr>
                <a:srgbClr val="666666"/>
              </a:buClr>
              <a:buSzPts val="2200"/>
              <a:buChar char="–"/>
            </a:pPr>
            <a:r>
              <a:rPr lang="en-US"/>
              <a:t>Analogous to resilient software in the face of cyber attacks</a:t>
            </a:r>
          </a:p>
          <a:p>
            <a:pPr marL="342900" lvl="0" indent="-342900" algn="l" rtl="0">
              <a:spcBef>
                <a:spcPts val="480"/>
              </a:spcBef>
              <a:spcAft>
                <a:spcPts val="0"/>
              </a:spcAft>
              <a:buClr>
                <a:srgbClr val="666666"/>
              </a:buClr>
              <a:buSzPts val="2400"/>
              <a:buChar char="•"/>
            </a:pPr>
            <a:r>
              <a:rPr lang="en-US"/>
              <a:t>The architect has a distinctive role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0"/>
          <p:cNvSpPr txBox="1">
            <a:spLocks noGrp="1"/>
          </p:cNvSpPr>
          <p:nvPr>
            <p:ph type="ctrTitle"/>
          </p:nvPr>
        </p:nvSpPr>
        <p:spPr>
          <a:xfrm>
            <a:off x="467544" y="1124744"/>
            <a:ext cx="6768752" cy="432048"/>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More about the Architect</a:t>
            </a:r>
          </a:p>
        </p:txBody>
      </p:sp>
      <p:sp>
        <p:nvSpPr>
          <p:cNvPr id="128" name="Google Shape;128;p30"/>
          <p:cNvSpPr txBox="1">
            <a:spLocks noGrp="1"/>
          </p:cNvSpPr>
          <p:nvPr>
            <p:ph type="body" idx="1"/>
          </p:nvPr>
        </p:nvSpPr>
        <p:spPr>
          <a:xfrm>
            <a:off x="323528" y="1628800"/>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Very broad training </a:t>
            </a:r>
          </a:p>
          <a:p>
            <a:pPr marL="342900" lvl="0" indent="-342900" algn="l" rtl="0">
              <a:spcBef>
                <a:spcPts val="480"/>
              </a:spcBef>
              <a:spcAft>
                <a:spcPts val="0"/>
              </a:spcAft>
              <a:buClr>
                <a:srgbClr val="666666"/>
              </a:buClr>
              <a:buSzPts val="2400"/>
              <a:buChar char="•"/>
            </a:pPr>
            <a:r>
              <a:rPr lang="en-US"/>
              <a:t> Amasses and leverages extensive experience </a:t>
            </a:r>
          </a:p>
          <a:p>
            <a:pPr marL="342900" lvl="0" indent="-342900" algn="l" rtl="0">
              <a:spcBef>
                <a:spcPts val="480"/>
              </a:spcBef>
              <a:spcAft>
                <a:spcPts val="0"/>
              </a:spcAft>
              <a:buClr>
                <a:srgbClr val="666666"/>
              </a:buClr>
              <a:buSzPts val="2400"/>
              <a:buChar char="•"/>
            </a:pPr>
            <a:r>
              <a:rPr lang="en-US"/>
              <a:t>A keen sense of aesthetics </a:t>
            </a:r>
          </a:p>
          <a:p>
            <a:pPr marL="342900" lvl="0" indent="-342900" algn="l" rtl="0">
              <a:spcBef>
                <a:spcPts val="480"/>
              </a:spcBef>
              <a:spcAft>
                <a:spcPts val="0"/>
              </a:spcAft>
              <a:buClr>
                <a:srgbClr val="666666"/>
              </a:buClr>
              <a:buSzPts val="2400"/>
              <a:buChar char="•"/>
            </a:pPr>
            <a:r>
              <a:rPr lang="en-US"/>
              <a:t>Deep understanding of the domain </a:t>
            </a:r>
          </a:p>
          <a:p>
            <a:pPr marL="742950" lvl="1" indent="-285750" algn="l" rtl="0">
              <a:spcBef>
                <a:spcPts val="440"/>
              </a:spcBef>
              <a:spcAft>
                <a:spcPts val="0"/>
              </a:spcAft>
              <a:buClr>
                <a:srgbClr val="666666"/>
              </a:buClr>
              <a:buSzPts val="2200"/>
              <a:buChar char="–"/>
            </a:pPr>
            <a:r>
              <a:rPr lang="en-US"/>
              <a:t>Properties of structures, materials, and environments </a:t>
            </a:r>
          </a:p>
          <a:p>
            <a:pPr marL="742950" lvl="1" indent="-285750" algn="l" rtl="0">
              <a:spcBef>
                <a:spcPts val="440"/>
              </a:spcBef>
              <a:spcAft>
                <a:spcPts val="0"/>
              </a:spcAft>
              <a:buClr>
                <a:srgbClr val="666666"/>
              </a:buClr>
              <a:buSzPts val="2200"/>
              <a:buChar char="–"/>
            </a:pPr>
            <a:r>
              <a:rPr lang="en-US"/>
              <a:t>Needs of customers </a:t>
            </a:r>
          </a:p>
          <a:p>
            <a:pPr marL="342900" lvl="0" indent="-342900" algn="l" rtl="0">
              <a:spcBef>
                <a:spcPts val="480"/>
              </a:spcBef>
              <a:spcAft>
                <a:spcPts val="0"/>
              </a:spcAft>
              <a:buClr>
                <a:srgbClr val="666666"/>
              </a:buClr>
              <a:buSzPts val="2400"/>
              <a:buChar char="•"/>
            </a:pPr>
            <a:r>
              <a:rPr lang="en-US"/>
              <a:t>Even first-rate programming skills are insufficient for the creation of complex software applications </a:t>
            </a:r>
          </a:p>
          <a:p>
            <a:pPr marL="342900" lvl="0" indent="-190500" algn="l" rtl="0">
              <a:spcBef>
                <a:spcPts val="480"/>
              </a:spcBef>
              <a:spcAft>
                <a:spcPts val="0"/>
              </a:spcAft>
              <a:buClr>
                <a:srgbClr val="666666"/>
              </a:buClr>
              <a:buSzPts val="2400"/>
              <a:buNone/>
            </a:pP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1"/>
          <p:cNvSpPr txBox="1">
            <a:spLocks noGrp="1"/>
          </p:cNvSpPr>
          <p:nvPr>
            <p:ph type="ctrTitle"/>
          </p:nvPr>
        </p:nvSpPr>
        <p:spPr>
          <a:xfrm>
            <a:off x="611560" y="1052736"/>
            <a:ext cx="6768752" cy="504056"/>
          </a:xfrm>
          <a:prstGeom prst="rect">
            <a:avLst/>
          </a:prstGeom>
          <a:noFill/>
          <a:ln>
            <a:noFill/>
          </a:ln>
        </p:spPr>
        <p:txBody>
          <a:bodyPr spcFirstLastPara="1" wrap="square" lIns="91425" tIns="45700" rIns="91425" bIns="45700" anchor="t" anchorCtr="0">
            <a:noAutofit/>
          </a:bodyPr>
          <a:lstStyle/>
          <a:p>
            <a:pPr marL="0" lvl="0" indent="0" algn="l" rtl="0">
              <a:lnSpc>
                <a:spcPct val="146000"/>
              </a:lnSpc>
              <a:spcBef>
                <a:spcPts val="0"/>
              </a:spcBef>
              <a:spcAft>
                <a:spcPts val="0"/>
              </a:spcAft>
              <a:buClr>
                <a:srgbClr val="B5121B"/>
              </a:buClr>
              <a:buSzPts val="2400"/>
              <a:buFont typeface="Calibri" panose="020F0502020204030204"/>
              <a:buNone/>
            </a:pPr>
            <a:r>
              <a:rPr lang="en-US" sz="2400"/>
              <a:t>Limitations of the Analogy</a:t>
            </a:r>
          </a:p>
        </p:txBody>
      </p:sp>
      <p:sp>
        <p:nvSpPr>
          <p:cNvPr id="134" name="Google Shape;134;p31"/>
          <p:cNvSpPr txBox="1">
            <a:spLocks noGrp="1"/>
          </p:cNvSpPr>
          <p:nvPr>
            <p:ph type="body" idx="1"/>
          </p:nvPr>
        </p:nvSpPr>
        <p:spPr>
          <a:xfrm>
            <a:off x="251520" y="1700808"/>
            <a:ext cx="8425184" cy="47529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666666"/>
              </a:buClr>
              <a:buSzPts val="2400"/>
              <a:buChar char="•"/>
            </a:pPr>
            <a:r>
              <a:rPr lang="en-US"/>
              <a:t>We know a lot about buildings, much less about software </a:t>
            </a:r>
          </a:p>
          <a:p>
            <a:pPr marL="342900" lvl="0" indent="-342900" algn="l" rtl="0">
              <a:spcBef>
                <a:spcPts val="480"/>
              </a:spcBef>
              <a:spcAft>
                <a:spcPts val="0"/>
              </a:spcAft>
              <a:buClr>
                <a:srgbClr val="666666"/>
              </a:buClr>
              <a:buSzPts val="2400"/>
              <a:buChar char="•"/>
            </a:pPr>
            <a:r>
              <a:rPr lang="en-US"/>
              <a:t> The nature of software is different from that of building architecture </a:t>
            </a:r>
          </a:p>
          <a:p>
            <a:pPr marL="342900" lvl="0" indent="-342900" algn="l" rtl="0">
              <a:spcBef>
                <a:spcPts val="480"/>
              </a:spcBef>
              <a:spcAft>
                <a:spcPts val="0"/>
              </a:spcAft>
              <a:buClr>
                <a:srgbClr val="666666"/>
              </a:buClr>
              <a:buSzPts val="2400"/>
              <a:buChar char="•"/>
            </a:pPr>
            <a:r>
              <a:rPr lang="en-US"/>
              <a:t>Software is much more malleable than physical materials </a:t>
            </a:r>
          </a:p>
          <a:p>
            <a:pPr marL="342900" lvl="0" indent="-342900" algn="l" rtl="0">
              <a:spcBef>
                <a:spcPts val="480"/>
              </a:spcBef>
              <a:spcAft>
                <a:spcPts val="0"/>
              </a:spcAft>
              <a:buClr>
                <a:srgbClr val="666666"/>
              </a:buClr>
              <a:buSzPts val="2400"/>
              <a:buChar char="•"/>
            </a:pPr>
            <a:r>
              <a:rPr lang="en-US"/>
              <a:t>The two “construction industries” are very different </a:t>
            </a:r>
          </a:p>
          <a:p>
            <a:pPr marL="342900" lvl="0" indent="-342900" algn="l" rtl="0">
              <a:spcBef>
                <a:spcPts val="480"/>
              </a:spcBef>
              <a:spcAft>
                <a:spcPts val="0"/>
              </a:spcAft>
              <a:buClr>
                <a:srgbClr val="666666"/>
              </a:buClr>
              <a:buSzPts val="2400"/>
              <a:buChar char="•"/>
            </a:pPr>
            <a:r>
              <a:rPr lang="en-US"/>
              <a:t> Software deployment has no counterpart in building architecture </a:t>
            </a:r>
          </a:p>
          <a:p>
            <a:pPr marL="342900" lvl="0" indent="-342900" algn="l" rtl="0">
              <a:spcBef>
                <a:spcPts val="480"/>
              </a:spcBef>
              <a:spcAft>
                <a:spcPts val="0"/>
              </a:spcAft>
              <a:buClr>
                <a:srgbClr val="666666"/>
              </a:buClr>
              <a:buSzPts val="2400"/>
              <a:buChar char="•"/>
            </a:pPr>
            <a:r>
              <a:rPr lang="en-US"/>
              <a:t>Software is a machine; a building is not</a:t>
            </a:r>
          </a:p>
        </p:txBody>
      </p:sp>
    </p:spTree>
  </p:cSld>
  <p:clrMapOvr>
    <a:masterClrMapping/>
  </p:clrMapOvr>
</p:sld>
</file>

<file path=ppt/theme/theme1.xml><?xml version="1.0" encoding="utf-8"?>
<a:theme xmlns:a="http://schemas.openxmlformats.org/drawingml/2006/main" name="Office Theme">
  <a:themeElements>
    <a:clrScheme name="Custom 1">
      <a:dk1>
        <a:srgbClr val="8C0E1D"/>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lide 2: Text Only">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lide 2: Text Only">
  <a:themeElements>
    <a:clrScheme name="Custom 4">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2193</Words>
  <Application>Microsoft Office PowerPoint</Application>
  <PresentationFormat>On-screen Show (4:3)</PresentationFormat>
  <Paragraphs>295</Paragraphs>
  <Slides>34</Slides>
  <Notes>33</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34</vt:i4>
      </vt:variant>
    </vt:vector>
  </HeadingPairs>
  <TitlesOfParts>
    <vt:vector size="40" baseType="lpstr">
      <vt:lpstr>Times New Roman</vt:lpstr>
      <vt:lpstr>Calibri</vt:lpstr>
      <vt:lpstr>Arial</vt:lpstr>
      <vt:lpstr>Office Theme</vt:lpstr>
      <vt:lpstr>Slide 2: Text Only</vt:lpstr>
      <vt:lpstr>1_Slide 2: Text Only</vt:lpstr>
      <vt:lpstr>CSC4311: SOFTWARE ENGINEERING</vt:lpstr>
      <vt:lpstr>Inheritance </vt:lpstr>
      <vt:lpstr>Polymorphism</vt:lpstr>
      <vt:lpstr>Interface polymorphism in hardware for all smart devices - News</vt:lpstr>
      <vt:lpstr>Interface Polymorphism</vt:lpstr>
      <vt:lpstr>Interface Polymorphism</vt:lpstr>
      <vt:lpstr>Interface Polymorphism</vt:lpstr>
      <vt:lpstr>…Interface Polymorphism</vt:lpstr>
      <vt:lpstr>DESIGN PATTERN</vt:lpstr>
      <vt:lpstr>Strategy pattern</vt:lpstr>
      <vt:lpstr>Strategy Pattern</vt:lpstr>
      <vt:lpstr>Strategy Pattern: when to use</vt:lpstr>
      <vt:lpstr>Quiz</vt:lpstr>
      <vt:lpstr>Observer pattern</vt:lpstr>
      <vt:lpstr>Observer pattern</vt:lpstr>
      <vt:lpstr>Observer pattern: when to use </vt:lpstr>
      <vt:lpstr>Decorator pattern: class explosion</vt:lpstr>
      <vt:lpstr>Decorator pattern definition</vt:lpstr>
      <vt:lpstr>Decorating SallahMeal</vt:lpstr>
      <vt:lpstr>Decorating Registration Charges</vt:lpstr>
      <vt:lpstr>Another example</vt:lpstr>
      <vt:lpstr>Decorating Registration Charges</vt:lpstr>
      <vt:lpstr>Decorator pattern: when to use</vt:lpstr>
      <vt:lpstr>State pattern: Car central lock</vt:lpstr>
      <vt:lpstr>State pattern</vt:lpstr>
      <vt:lpstr>State pattern: when to use</vt:lpstr>
      <vt:lpstr>What is software architecture?</vt:lpstr>
      <vt:lpstr>What is software architecture?</vt:lpstr>
      <vt:lpstr>Main point</vt:lpstr>
      <vt:lpstr>Analogy: Architecture of Buildings</vt:lpstr>
      <vt:lpstr>Some Obvious Parallels</vt:lpstr>
      <vt:lpstr>Deeper Parallels</vt:lpstr>
      <vt:lpstr>More about the Architect</vt:lpstr>
      <vt:lpstr>Limitations of the Analogy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CSC4311: SOFTWARE ENGINEERING</dc:title>
  <dc:creator/>
  <cp:lastModifiedBy>umar farouq salisu</cp:lastModifiedBy>
  <cp:revision>12</cp:revision>
  <dcterms:created xsi:type="dcterms:W3CDTF">2024-03-22T08:21:22Z</dcterms:created>
  <dcterms:modified xsi:type="dcterms:W3CDTF">2024-04-30T19:58:26Z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1033-10.2.0.5996</vt:lpwstr>
  </property>
</Properties>
</file>