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81" r:id="rId24"/>
    <p:sldId id="282" r:id="rId25"/>
    <p:sldId id="283" r:id="rId26"/>
    <p:sldId id="284" r:id="rId27"/>
    <p:sldId id="285" r:id="rId28"/>
    <p:sldId id="286" r:id="rId29"/>
    <p:sldId id="278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2CF2BD-2A7F-4C48-932C-0A74253462D2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9B25E-B1FA-4ECD-AB6E-848E2C797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16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5FDC4F86-E5C3-42A7-A570-C9B75EBA5E03}" type="slidenum">
              <a:rPr lang="en-US" altLang="en-US" smtClean="0">
                <a:latin typeface="Arial" charset="0"/>
              </a:rPr>
              <a:pPr/>
              <a:t>9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A9FB8202-119C-46B3-B3BA-53660074A397}" type="slidenum">
              <a:rPr lang="en-US" altLang="en-US" smtClean="0">
                <a:latin typeface="Arial" charset="0"/>
              </a:rPr>
              <a:pPr/>
              <a:t>10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68ACD38F-6188-4C07-A4CE-DADD8CE1B0BE}" type="slidenum">
              <a:rPr lang="en-US" altLang="en-US" smtClean="0">
                <a:latin typeface="Arial" charset="0"/>
              </a:rPr>
              <a:pPr/>
              <a:t>11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D546A6FC-2D6F-40CC-91F6-4CA51757C453}" type="slidenum">
              <a:rPr lang="en-US" altLang="en-US" smtClean="0">
                <a:latin typeface="Arial" charset="0"/>
              </a:rPr>
              <a:pPr/>
              <a:t>12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34144D93-FF1F-45B5-AA07-2FAA33579EDC}" type="slidenum">
              <a:rPr lang="en-US" altLang="en-US" smtClean="0">
                <a:latin typeface="Arial" charset="0"/>
              </a:rPr>
              <a:pPr/>
              <a:t>14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4B4984B7-1E67-4686-B5AA-896E5E1D2A8A}" type="slidenum">
              <a:rPr lang="en-US" altLang="en-US" smtClean="0">
                <a:latin typeface="Arial" charset="0"/>
              </a:rPr>
              <a:pPr/>
              <a:t>16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4650319D-642E-4BF5-8436-71D1FFABA64F}" type="slidenum">
              <a:rPr lang="en-US" altLang="en-US" smtClean="0">
                <a:latin typeface="Arial" charset="0"/>
              </a:rPr>
              <a:pPr/>
              <a:t>23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1590F588-D5E2-4CEE-BDD6-3A21DBE0C6E4}" type="slidenum">
              <a:rPr lang="en-US" altLang="en-US" smtClean="0">
                <a:latin typeface="Arial" charset="0"/>
              </a:rPr>
              <a:pPr/>
              <a:t>24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6E603119-B79F-4553-9135-A166077CD6F9}" type="slidenum">
              <a:rPr lang="en-US" altLang="en-US" smtClean="0">
                <a:latin typeface="Arial" charset="0"/>
              </a:rPr>
              <a:pPr/>
              <a:t>25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6646A663-6D35-44EF-8ED9-E6835DE54806}" type="slidenum">
              <a:rPr lang="en-US" altLang="en-US" smtClean="0">
                <a:latin typeface="Arial" charset="0"/>
              </a:rPr>
              <a:pPr/>
              <a:t>26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C305A12A-7E5E-4942-BD9E-C456AE430DC2}" type="slidenum">
              <a:rPr lang="en-US" altLang="en-US" smtClean="0">
                <a:latin typeface="Arial" charset="0"/>
              </a:rPr>
              <a:pPr/>
              <a:t>27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1pPr>
            <a:lvl2pPr marL="702756" indent="-270291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2pPr>
            <a:lvl3pPr marL="1081164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3pPr>
            <a:lvl4pPr marL="1513629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4pPr>
            <a:lvl5pPr marL="1946095" indent="-216233"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charset="-128"/>
              </a:defRPr>
            </a:lvl9pPr>
          </a:lstStyle>
          <a:p>
            <a:fld id="{4DD31752-4632-471E-8DA3-93967B152008}" type="slidenum">
              <a:rPr lang="en-US" altLang="en-US" smtClean="0">
                <a:latin typeface="Arial" charset="0"/>
              </a:rPr>
              <a:pPr/>
              <a:t>28</a:t>
            </a:fld>
            <a:endParaRPr lang="en-US" altLang="en-US" smtClean="0">
              <a:latin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73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4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00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4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0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6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0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40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66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54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38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89A67-0587-4001-BC80-5CB0C3E762CA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AFA66-473A-4F12-93AA-327FAAD8F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77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66"/>
                </a:solidFill>
                <a:latin typeface="Verdana"/>
                <a:cs typeface="Verdana"/>
              </a:rPr>
              <a:t>Informed</a:t>
            </a:r>
            <a:r>
              <a:rPr lang="en-US" spc="-55" dirty="0" smtClean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lang="en-US" dirty="0" smtClean="0">
                <a:solidFill>
                  <a:srgbClr val="000066"/>
                </a:solidFill>
                <a:latin typeface="Verdana"/>
                <a:cs typeface="Verdana"/>
              </a:rPr>
              <a:t>Search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091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66"/>
                </a:solidFill>
                <a:latin typeface="Verdana"/>
                <a:cs typeface="Verdana"/>
              </a:rPr>
              <a:t>Informed</a:t>
            </a:r>
            <a:r>
              <a:rPr lang="en-US" spc="-55" dirty="0" smtClean="0">
                <a:solidFill>
                  <a:srgbClr val="000066"/>
                </a:solidFill>
                <a:latin typeface="Verdana"/>
                <a:cs typeface="Verdana"/>
              </a:rPr>
              <a:t> </a:t>
            </a:r>
            <a:r>
              <a:rPr lang="en-US" dirty="0" smtClean="0">
                <a:solidFill>
                  <a:srgbClr val="000066"/>
                </a:solidFill>
                <a:latin typeface="Verdana"/>
                <a:cs typeface="Verdana"/>
              </a:rPr>
              <a:t>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5600" indent="-343535">
              <a:lnSpc>
                <a:spcPct val="100000"/>
              </a:lnSpc>
              <a:spcBef>
                <a:spcPts val="770"/>
              </a:spcBef>
              <a:buClr>
                <a:srgbClr val="C3709A"/>
              </a:buClr>
              <a:buSzPct val="58928"/>
              <a:buFont typeface="Wingdings"/>
              <a:buChar char=""/>
              <a:tabLst>
                <a:tab pos="354965" algn="l"/>
                <a:tab pos="356235" algn="l"/>
              </a:tabLst>
            </a:pPr>
            <a:r>
              <a:rPr lang="en-US" sz="2800" spc="-10" dirty="0" smtClean="0">
                <a:latin typeface="Verdana"/>
                <a:cs typeface="Verdana"/>
              </a:rPr>
              <a:t>Definition:</a:t>
            </a:r>
            <a:endParaRPr lang="en-US" sz="2800" dirty="0" smtClean="0">
              <a:latin typeface="Verdana"/>
              <a:cs typeface="Verdan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80"/>
              </a:spcBef>
              <a:buClr>
                <a:srgbClr val="1385ED"/>
              </a:buClr>
              <a:buSzPct val="60416"/>
              <a:buFont typeface="Wingdings"/>
              <a:buChar char=""/>
              <a:tabLst>
                <a:tab pos="756920" algn="l"/>
              </a:tabLst>
            </a:pPr>
            <a:r>
              <a:rPr lang="en-US" sz="2400" spc="-5" dirty="0" smtClean="0">
                <a:latin typeface="Verdana"/>
                <a:cs typeface="Verdana"/>
              </a:rPr>
              <a:t>Use problem-specific</a:t>
            </a:r>
            <a:r>
              <a:rPr lang="en-US" sz="2400" spc="55" dirty="0" smtClean="0">
                <a:latin typeface="Verdana"/>
                <a:cs typeface="Verdana"/>
              </a:rPr>
              <a:t> </a:t>
            </a:r>
            <a:r>
              <a:rPr lang="en-US" sz="2400" spc="-5" dirty="0" smtClean="0">
                <a:latin typeface="Verdana"/>
                <a:cs typeface="Verdana"/>
              </a:rPr>
              <a:t>knowledge</a:t>
            </a:r>
            <a:r>
              <a:rPr lang="en-US" sz="2400" spc="20" dirty="0" smtClean="0">
                <a:latin typeface="Verdana"/>
                <a:cs typeface="Verdana"/>
              </a:rPr>
              <a:t> </a:t>
            </a:r>
            <a:r>
              <a:rPr lang="en-US" sz="2400" spc="-5" dirty="0" smtClean="0">
                <a:latin typeface="Verdana"/>
                <a:cs typeface="Verdana"/>
              </a:rPr>
              <a:t>beyond</a:t>
            </a:r>
            <a:r>
              <a:rPr lang="en-US" sz="2400" spc="25" dirty="0" smtClean="0">
                <a:latin typeface="Verdana"/>
                <a:cs typeface="Verdana"/>
              </a:rPr>
              <a:t> </a:t>
            </a:r>
            <a:r>
              <a:rPr lang="en-US" sz="2400" dirty="0" smtClean="0">
                <a:latin typeface="Verdana"/>
                <a:cs typeface="Verdana"/>
              </a:rPr>
              <a:t>the </a:t>
            </a:r>
            <a:r>
              <a:rPr lang="en-US" sz="2400" spc="-830" dirty="0" smtClean="0">
                <a:latin typeface="Verdana"/>
                <a:cs typeface="Verdana"/>
              </a:rPr>
              <a:t> </a:t>
            </a:r>
            <a:r>
              <a:rPr lang="en-US" sz="2400" spc="-10" dirty="0" smtClean="0">
                <a:latin typeface="Verdana"/>
                <a:cs typeface="Verdana"/>
              </a:rPr>
              <a:t>definition</a:t>
            </a:r>
            <a:r>
              <a:rPr lang="en-US" sz="2400" spc="80" dirty="0" smtClean="0">
                <a:latin typeface="Verdana"/>
                <a:cs typeface="Verdana"/>
              </a:rPr>
              <a:t> </a:t>
            </a:r>
            <a:r>
              <a:rPr lang="en-US" sz="2400" spc="-10" dirty="0" smtClean="0">
                <a:latin typeface="Verdana"/>
                <a:cs typeface="Verdana"/>
              </a:rPr>
              <a:t>of</a:t>
            </a:r>
            <a:r>
              <a:rPr lang="en-US" sz="2400" spc="40" dirty="0" smtClean="0">
                <a:latin typeface="Verdana"/>
                <a:cs typeface="Verdana"/>
              </a:rPr>
              <a:t> </a:t>
            </a:r>
            <a:r>
              <a:rPr lang="en-US" sz="2400" dirty="0" smtClean="0">
                <a:latin typeface="Verdana"/>
                <a:cs typeface="Verdana"/>
              </a:rPr>
              <a:t>the</a:t>
            </a:r>
            <a:r>
              <a:rPr lang="en-US" sz="2400" spc="5" dirty="0" smtClean="0">
                <a:latin typeface="Verdana"/>
                <a:cs typeface="Verdana"/>
              </a:rPr>
              <a:t> </a:t>
            </a:r>
            <a:r>
              <a:rPr lang="en-US" sz="2400" spc="-10" dirty="0" smtClean="0">
                <a:latin typeface="Verdana"/>
                <a:cs typeface="Verdana"/>
              </a:rPr>
              <a:t>problem</a:t>
            </a:r>
            <a:r>
              <a:rPr lang="en-US" sz="2400" spc="35" dirty="0" smtClean="0">
                <a:latin typeface="Verdana"/>
                <a:cs typeface="Verdana"/>
              </a:rPr>
              <a:t> </a:t>
            </a:r>
            <a:r>
              <a:rPr lang="en-US" sz="2400" spc="-10" dirty="0" smtClean="0">
                <a:latin typeface="Verdana"/>
                <a:cs typeface="Verdana"/>
              </a:rPr>
              <a:t>itself</a:t>
            </a:r>
            <a:endParaRPr lang="en-US" sz="2400" dirty="0" smtClean="0">
              <a:latin typeface="Verdana"/>
              <a:cs typeface="Verdana"/>
            </a:endParaRPr>
          </a:p>
          <a:p>
            <a:pPr marL="756285" lvl="1" indent="-287655">
              <a:lnSpc>
                <a:spcPct val="100000"/>
              </a:lnSpc>
              <a:spcBef>
                <a:spcPts val="575"/>
              </a:spcBef>
              <a:buClr>
                <a:srgbClr val="1385ED"/>
              </a:buClr>
              <a:buSzPct val="60416"/>
              <a:buFont typeface="Wingdings"/>
              <a:buChar char=""/>
              <a:tabLst>
                <a:tab pos="756920" algn="l"/>
              </a:tabLst>
            </a:pPr>
            <a:r>
              <a:rPr lang="en-US" sz="2400" spc="-5" dirty="0" smtClean="0">
                <a:latin typeface="Verdana"/>
                <a:cs typeface="Verdana"/>
              </a:rPr>
              <a:t>Can</a:t>
            </a:r>
            <a:r>
              <a:rPr lang="en-US" sz="2400" spc="-20" dirty="0" smtClean="0">
                <a:latin typeface="Verdana"/>
                <a:cs typeface="Verdana"/>
              </a:rPr>
              <a:t> </a:t>
            </a:r>
            <a:r>
              <a:rPr lang="en-US" sz="2400" spc="-5" dirty="0" smtClean="0">
                <a:latin typeface="Verdana"/>
                <a:cs typeface="Verdana"/>
              </a:rPr>
              <a:t>find</a:t>
            </a:r>
            <a:r>
              <a:rPr lang="en-US" sz="2400" spc="30" dirty="0" smtClean="0">
                <a:latin typeface="Verdana"/>
                <a:cs typeface="Verdana"/>
              </a:rPr>
              <a:t> </a:t>
            </a:r>
            <a:r>
              <a:rPr lang="en-US" sz="2400" spc="-10" dirty="0" smtClean="0">
                <a:latin typeface="Verdana"/>
                <a:cs typeface="Verdana"/>
              </a:rPr>
              <a:t>solutions</a:t>
            </a:r>
            <a:r>
              <a:rPr lang="en-US" sz="2400" spc="60" dirty="0" smtClean="0">
                <a:latin typeface="Verdana"/>
                <a:cs typeface="Verdana"/>
              </a:rPr>
              <a:t> </a:t>
            </a:r>
            <a:r>
              <a:rPr lang="en-US" sz="2400" dirty="0" smtClean="0">
                <a:latin typeface="Verdana"/>
                <a:cs typeface="Verdana"/>
              </a:rPr>
              <a:t>more </a:t>
            </a:r>
            <a:r>
              <a:rPr lang="en-US" sz="2400" spc="-5" dirty="0" smtClean="0">
                <a:latin typeface="Verdana"/>
                <a:cs typeface="Verdana"/>
              </a:rPr>
              <a:t>efficiently</a:t>
            </a:r>
            <a:endParaRPr lang="en-US" sz="2400" dirty="0" smtClean="0">
              <a:latin typeface="Verdana"/>
              <a:cs typeface="Verdana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Clr>
                <a:srgbClr val="C3709A"/>
              </a:buClr>
              <a:buSzPct val="58928"/>
              <a:buFont typeface="Wingdings"/>
              <a:buChar char=""/>
              <a:tabLst>
                <a:tab pos="354965" algn="l"/>
                <a:tab pos="356235" algn="l"/>
              </a:tabLst>
            </a:pPr>
            <a:r>
              <a:rPr lang="en-US" sz="2800" spc="-10" dirty="0" smtClean="0">
                <a:latin typeface="Verdana"/>
                <a:cs typeface="Verdana"/>
              </a:rPr>
              <a:t>Best-first</a:t>
            </a:r>
            <a:r>
              <a:rPr lang="en-US" sz="2800" spc="15" dirty="0" smtClean="0">
                <a:latin typeface="Verdana"/>
                <a:cs typeface="Verdana"/>
              </a:rPr>
              <a:t> </a:t>
            </a:r>
            <a:r>
              <a:rPr lang="en-US" sz="2800" spc="-10" dirty="0" smtClean="0">
                <a:latin typeface="Verdana"/>
                <a:cs typeface="Verdana"/>
              </a:rPr>
              <a:t>search</a:t>
            </a:r>
            <a:endParaRPr lang="en-US" sz="2800" dirty="0" smtClean="0">
              <a:latin typeface="Verdana"/>
              <a:cs typeface="Verdana"/>
            </a:endParaRPr>
          </a:p>
          <a:p>
            <a:pPr marL="756285" lvl="1" indent="-287655">
              <a:lnSpc>
                <a:spcPct val="100000"/>
              </a:lnSpc>
              <a:spcBef>
                <a:spcPts val="580"/>
              </a:spcBef>
              <a:buClr>
                <a:srgbClr val="1385ED"/>
              </a:buClr>
              <a:buSzPct val="60416"/>
              <a:buFont typeface="Wingdings"/>
              <a:buChar char=""/>
              <a:tabLst>
                <a:tab pos="756920" algn="l"/>
              </a:tabLst>
            </a:pPr>
            <a:r>
              <a:rPr lang="en-US" sz="2400" spc="-5" dirty="0" smtClean="0">
                <a:latin typeface="Verdana"/>
                <a:cs typeface="Verdana"/>
              </a:rPr>
              <a:t>Greedy</a:t>
            </a:r>
            <a:r>
              <a:rPr lang="en-US" sz="2400" spc="-10" dirty="0" smtClean="0">
                <a:latin typeface="Verdana"/>
                <a:cs typeface="Verdana"/>
              </a:rPr>
              <a:t> </a:t>
            </a:r>
            <a:r>
              <a:rPr lang="en-US" sz="2400" spc="-5" dirty="0" smtClean="0">
                <a:latin typeface="Verdana"/>
                <a:cs typeface="Verdana"/>
              </a:rPr>
              <a:t>best-first</a:t>
            </a:r>
            <a:r>
              <a:rPr lang="en-US" sz="2400" spc="10" dirty="0" smtClean="0">
                <a:latin typeface="Verdana"/>
                <a:cs typeface="Verdana"/>
              </a:rPr>
              <a:t> </a:t>
            </a:r>
            <a:r>
              <a:rPr lang="en-US" sz="2400" spc="-5" dirty="0" smtClean="0">
                <a:latin typeface="Verdana"/>
                <a:cs typeface="Verdana"/>
              </a:rPr>
              <a:t>search</a:t>
            </a:r>
            <a:endParaRPr lang="en-US" sz="2400" dirty="0" smtClean="0">
              <a:latin typeface="Verdana"/>
              <a:cs typeface="Verdana"/>
            </a:endParaRPr>
          </a:p>
          <a:p>
            <a:pPr marL="756285" lvl="1" indent="-287655">
              <a:lnSpc>
                <a:spcPct val="100000"/>
              </a:lnSpc>
              <a:spcBef>
                <a:spcPts val="575"/>
              </a:spcBef>
              <a:buClr>
                <a:srgbClr val="1385ED"/>
              </a:buClr>
              <a:buSzPct val="60416"/>
              <a:buFont typeface="Wingdings"/>
              <a:buChar char=""/>
              <a:tabLst>
                <a:tab pos="756920" algn="l"/>
              </a:tabLst>
            </a:pPr>
            <a:r>
              <a:rPr lang="en-US" sz="2400" spc="-5" dirty="0" smtClean="0">
                <a:latin typeface="Verdana"/>
                <a:cs typeface="Verdana"/>
              </a:rPr>
              <a:t>A*</a:t>
            </a:r>
            <a:endParaRPr lang="en-US" sz="2400" dirty="0" smtClean="0">
              <a:latin typeface="Verdana"/>
              <a:cs typeface="Verdan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2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55600">
              <a:spcBef>
                <a:spcPts val="130"/>
              </a:spcBef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lang="en-US" sz="2400" b="1" spc="-5" dirty="0" smtClean="0">
                <a:latin typeface="Arial"/>
                <a:cs typeface="Arial"/>
              </a:rPr>
              <a:t>Node</a:t>
            </a:r>
            <a:r>
              <a:rPr lang="en-US" sz="2400" b="1" dirty="0" smtClean="0">
                <a:latin typeface="Arial"/>
                <a:cs typeface="Arial"/>
              </a:rPr>
              <a:t> </a:t>
            </a:r>
            <a:r>
              <a:rPr lang="en-US" sz="2400" b="1" spc="-5" dirty="0" smtClean="0">
                <a:latin typeface="Arial"/>
                <a:cs typeface="Arial"/>
              </a:rPr>
              <a:t>expansion</a:t>
            </a:r>
            <a:r>
              <a:rPr lang="en-US" sz="2400" b="1" dirty="0" smtClean="0">
                <a:latin typeface="Arial"/>
                <a:cs typeface="Arial"/>
              </a:rPr>
              <a:t> </a:t>
            </a:r>
            <a:r>
              <a:rPr lang="en-US" sz="2400" b="1" spc="-5" dirty="0" smtClean="0">
                <a:latin typeface="Arial"/>
                <a:cs typeface="Arial"/>
              </a:rPr>
              <a:t>based </a:t>
            </a:r>
            <a:r>
              <a:rPr lang="en-US" sz="2400" b="1" dirty="0" smtClean="0">
                <a:latin typeface="Arial"/>
                <a:cs typeface="Arial"/>
              </a:rPr>
              <a:t>on</a:t>
            </a:r>
            <a:r>
              <a:rPr lang="en-US" sz="2400" b="1" spc="-5" dirty="0" smtClean="0">
                <a:latin typeface="Arial"/>
                <a:cs typeface="Arial"/>
              </a:rPr>
              <a:t> </a:t>
            </a:r>
            <a:r>
              <a:rPr lang="en-US" sz="24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an</a:t>
            </a:r>
            <a:r>
              <a:rPr lang="en-US" sz="2400" b="1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500" i="1" spc="-65" dirty="0" smtClean="0">
                <a:solidFill>
                  <a:srgbClr val="C00000"/>
                </a:solidFill>
                <a:latin typeface="Arial Black"/>
                <a:cs typeface="Arial Black"/>
              </a:rPr>
              <a:t>estimate</a:t>
            </a:r>
            <a:r>
              <a:rPr lang="en-US" sz="2500" i="1" spc="-175" dirty="0" smtClean="0">
                <a:solidFill>
                  <a:srgbClr val="C00000"/>
                </a:solidFill>
                <a:latin typeface="Arial Black"/>
                <a:cs typeface="Arial Black"/>
              </a:rPr>
              <a:t> </a:t>
            </a:r>
            <a:r>
              <a:rPr lang="en-US" sz="2400" b="1" dirty="0" smtClean="0">
                <a:latin typeface="Arial"/>
                <a:cs typeface="Arial"/>
              </a:rPr>
              <a:t>which</a:t>
            </a:r>
            <a:endParaRPr lang="en-US" sz="2400" dirty="0" smtClean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0"/>
              </a:spcBef>
            </a:pPr>
            <a:r>
              <a:rPr lang="en-US" sz="24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includes</a:t>
            </a:r>
            <a:r>
              <a:rPr lang="en-US" sz="2400" b="1" i="1" spc="-2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4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distance</a:t>
            </a:r>
            <a:r>
              <a:rPr lang="en-US" sz="2400" b="1" i="1" spc="-1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400" b="1" i="1" dirty="0" smtClean="0">
                <a:solidFill>
                  <a:srgbClr val="0000FF"/>
                </a:solidFill>
                <a:latin typeface="Arial"/>
                <a:cs typeface="Arial"/>
              </a:rPr>
              <a:t>to </a:t>
            </a:r>
            <a:r>
              <a:rPr lang="en-US" sz="24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the</a:t>
            </a:r>
            <a:r>
              <a:rPr lang="en-US" sz="2400" b="1" i="1" spc="-1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4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goal</a:t>
            </a:r>
            <a:endParaRPr lang="en-US" sz="2400" dirty="0" smtClean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sz="3500" dirty="0" smtClean="0">
              <a:latin typeface="Arial"/>
              <a:cs typeface="Arial"/>
            </a:endParaRPr>
          </a:p>
          <a:p>
            <a:pPr marL="355600"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lang="en-US" sz="2400" b="1" spc="-5" dirty="0" smtClean="0">
                <a:latin typeface="Arial"/>
                <a:cs typeface="Arial"/>
              </a:rPr>
              <a:t>General</a:t>
            </a:r>
            <a:r>
              <a:rPr lang="en-US" sz="2400" b="1" dirty="0" smtClean="0">
                <a:latin typeface="Arial"/>
                <a:cs typeface="Arial"/>
              </a:rPr>
              <a:t> </a:t>
            </a:r>
            <a:r>
              <a:rPr lang="en-US" sz="2400" b="1" spc="-5" dirty="0" smtClean="0">
                <a:latin typeface="Arial"/>
                <a:cs typeface="Arial"/>
              </a:rPr>
              <a:t>approach</a:t>
            </a:r>
            <a:r>
              <a:rPr lang="en-US" sz="2400" b="1" spc="5" dirty="0" smtClean="0">
                <a:latin typeface="Arial"/>
                <a:cs typeface="Arial"/>
              </a:rPr>
              <a:t> </a:t>
            </a:r>
            <a:r>
              <a:rPr lang="en-US" sz="2400" b="1" dirty="0" smtClean="0">
                <a:latin typeface="Arial"/>
                <a:cs typeface="Arial"/>
              </a:rPr>
              <a:t>of </a:t>
            </a:r>
            <a:r>
              <a:rPr lang="en-US" sz="2400" b="1" spc="-5" dirty="0" smtClean="0">
                <a:latin typeface="Arial"/>
                <a:cs typeface="Arial"/>
              </a:rPr>
              <a:t>informed</a:t>
            </a:r>
            <a:r>
              <a:rPr lang="en-US" sz="2400" b="1" spc="-15" dirty="0" smtClean="0">
                <a:latin typeface="Arial"/>
                <a:cs typeface="Arial"/>
              </a:rPr>
              <a:t> </a:t>
            </a:r>
            <a:r>
              <a:rPr lang="en-US" sz="2400" b="1" spc="-5" dirty="0" smtClean="0">
                <a:latin typeface="Arial"/>
                <a:cs typeface="Arial"/>
              </a:rPr>
              <a:t>search:</a:t>
            </a:r>
            <a:endParaRPr lang="en-US" sz="2400" dirty="0" smtClean="0">
              <a:latin typeface="Arial"/>
              <a:cs typeface="Arial"/>
            </a:endParaRPr>
          </a:p>
          <a:p>
            <a:pPr marL="756285" marR="62230" lvl="1" indent="-287020">
              <a:lnSpc>
                <a:spcPts val="2860"/>
              </a:lnSpc>
              <a:spcBef>
                <a:spcPts val="690"/>
              </a:spcBef>
              <a:buClr>
                <a:srgbClr val="000099"/>
              </a:buClr>
              <a:buFont typeface="Arial"/>
              <a:buChar char="•"/>
              <a:tabLst>
                <a:tab pos="756285" algn="l"/>
                <a:tab pos="756920" algn="l"/>
              </a:tabLst>
            </a:pPr>
            <a:r>
              <a:rPr lang="en-US" sz="2400" i="1" spc="-5" dirty="0" smtClean="0">
                <a:solidFill>
                  <a:srgbClr val="0000FF"/>
                </a:solidFill>
                <a:latin typeface="Arial"/>
                <a:cs typeface="Arial"/>
              </a:rPr>
              <a:t>Best-first search</a:t>
            </a:r>
            <a:r>
              <a:rPr lang="en-US" sz="2400" spc="-5" dirty="0" smtClean="0">
                <a:latin typeface="Arial"/>
                <a:cs typeface="Arial"/>
              </a:rPr>
              <a:t>:</a:t>
            </a:r>
            <a:r>
              <a:rPr lang="en-US" sz="2400" spc="15" dirty="0" smtClean="0">
                <a:latin typeface="Arial"/>
                <a:cs typeface="Arial"/>
              </a:rPr>
              <a:t> </a:t>
            </a:r>
            <a:r>
              <a:rPr lang="en-US" sz="2400" spc="-5" dirty="0" smtClean="0">
                <a:latin typeface="Arial"/>
                <a:cs typeface="Arial"/>
              </a:rPr>
              <a:t>node</a:t>
            </a:r>
            <a:r>
              <a:rPr lang="en-US" sz="2400" spc="25" dirty="0" smtClean="0">
                <a:latin typeface="Arial"/>
                <a:cs typeface="Arial"/>
              </a:rPr>
              <a:t> </a:t>
            </a:r>
            <a:r>
              <a:rPr lang="en-US" sz="2400" spc="-5" dirty="0" smtClean="0">
                <a:latin typeface="Arial"/>
                <a:cs typeface="Arial"/>
              </a:rPr>
              <a:t>selected</a:t>
            </a:r>
            <a:r>
              <a:rPr lang="en-US" sz="2400" spc="25" dirty="0" smtClean="0">
                <a:latin typeface="Arial"/>
                <a:cs typeface="Arial"/>
              </a:rPr>
              <a:t> </a:t>
            </a:r>
            <a:r>
              <a:rPr lang="en-US" sz="2400" spc="-5" dirty="0" smtClean="0">
                <a:latin typeface="Arial"/>
                <a:cs typeface="Arial"/>
              </a:rPr>
              <a:t>for</a:t>
            </a:r>
            <a:r>
              <a:rPr lang="en-US" sz="2400" spc="20" dirty="0" smtClean="0">
                <a:latin typeface="Arial"/>
                <a:cs typeface="Arial"/>
              </a:rPr>
              <a:t> </a:t>
            </a:r>
            <a:r>
              <a:rPr lang="en-US" sz="2400" spc="-10" dirty="0" smtClean="0">
                <a:latin typeface="Arial"/>
                <a:cs typeface="Arial"/>
              </a:rPr>
              <a:t>expansion</a:t>
            </a:r>
            <a:r>
              <a:rPr lang="en-US" sz="2400" spc="60" dirty="0" smtClean="0">
                <a:latin typeface="Arial"/>
                <a:cs typeface="Arial"/>
              </a:rPr>
              <a:t> </a:t>
            </a:r>
            <a:r>
              <a:rPr lang="en-US" sz="2400" spc="-5" dirty="0" smtClean="0">
                <a:latin typeface="Arial"/>
                <a:cs typeface="Arial"/>
              </a:rPr>
              <a:t>based </a:t>
            </a:r>
            <a:r>
              <a:rPr lang="en-US" sz="2400" spc="-655" dirty="0" smtClean="0">
                <a:latin typeface="Arial"/>
                <a:cs typeface="Arial"/>
              </a:rPr>
              <a:t> </a:t>
            </a:r>
            <a:r>
              <a:rPr lang="en-US" sz="2400" spc="-5" dirty="0" smtClean="0">
                <a:latin typeface="Arial"/>
                <a:cs typeface="Arial"/>
              </a:rPr>
              <a:t>on an</a:t>
            </a:r>
            <a:r>
              <a:rPr lang="en-US" sz="2400" dirty="0" smtClean="0">
                <a:latin typeface="Arial"/>
                <a:cs typeface="Arial"/>
              </a:rPr>
              <a:t> </a:t>
            </a:r>
            <a:r>
              <a:rPr lang="en-US" sz="2400" i="1" spc="-5" dirty="0" smtClean="0">
                <a:solidFill>
                  <a:srgbClr val="0000FF"/>
                </a:solidFill>
                <a:latin typeface="Arial"/>
                <a:cs typeface="Arial"/>
              </a:rPr>
              <a:t>evaluation</a:t>
            </a:r>
            <a:r>
              <a:rPr lang="en-US" sz="2400" i="1" spc="3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400" i="1" spc="-5" dirty="0" smtClean="0">
                <a:solidFill>
                  <a:srgbClr val="0000FF"/>
                </a:solidFill>
                <a:latin typeface="Arial"/>
                <a:cs typeface="Arial"/>
              </a:rPr>
              <a:t>function</a:t>
            </a:r>
            <a:r>
              <a:rPr lang="en-US" sz="2400" i="1" spc="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400" b="1" i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f(n)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1155065" marR="523875" indent="-228600">
              <a:lnSpc>
                <a:spcPct val="100000"/>
              </a:lnSpc>
              <a:spcBef>
                <a:spcPts val="480"/>
              </a:spcBef>
            </a:pPr>
            <a:r>
              <a:rPr lang="en-US" sz="2400" dirty="0" smtClean="0">
                <a:solidFill>
                  <a:srgbClr val="000099"/>
                </a:solidFill>
                <a:latin typeface="Times New Roman"/>
                <a:cs typeface="Times New Roman"/>
              </a:rPr>
              <a:t>—</a:t>
            </a:r>
            <a:r>
              <a:rPr lang="en-US" sz="2400" b="1" i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f(n)</a:t>
            </a:r>
            <a:r>
              <a:rPr lang="en-US" sz="2400" b="1" i="1" spc="-15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 smtClean="0">
                <a:latin typeface="Arial"/>
                <a:cs typeface="Arial"/>
              </a:rPr>
              <a:t>includes</a:t>
            </a:r>
            <a:r>
              <a:rPr lang="en-US" sz="2400" spc="30" dirty="0" smtClean="0">
                <a:latin typeface="Arial"/>
                <a:cs typeface="Arial"/>
              </a:rPr>
              <a:t> </a:t>
            </a:r>
            <a:r>
              <a:rPr lang="en-US" sz="2400" i="1" spc="-5" dirty="0" smtClean="0">
                <a:latin typeface="Arial"/>
                <a:cs typeface="Arial"/>
              </a:rPr>
              <a:t>estimate</a:t>
            </a:r>
            <a:r>
              <a:rPr lang="en-US" sz="2400" i="1" spc="25" dirty="0" smtClean="0">
                <a:latin typeface="Arial"/>
                <a:cs typeface="Arial"/>
              </a:rPr>
              <a:t> </a:t>
            </a:r>
            <a:r>
              <a:rPr lang="en-US" sz="2400" dirty="0" smtClean="0">
                <a:latin typeface="Arial"/>
                <a:cs typeface="Arial"/>
              </a:rPr>
              <a:t>of</a:t>
            </a:r>
            <a:r>
              <a:rPr lang="en-US" sz="2400" spc="-20" dirty="0" smtClean="0">
                <a:latin typeface="Arial"/>
                <a:cs typeface="Arial"/>
              </a:rPr>
              <a:t> </a:t>
            </a:r>
            <a:r>
              <a:rPr lang="en-US" sz="2400" spc="-5" dirty="0" smtClean="0">
                <a:latin typeface="Arial"/>
                <a:cs typeface="Arial"/>
              </a:rPr>
              <a:t>distance</a:t>
            </a:r>
            <a:r>
              <a:rPr lang="en-US" sz="2400" spc="5" dirty="0" smtClean="0">
                <a:latin typeface="Arial"/>
                <a:cs typeface="Arial"/>
              </a:rPr>
              <a:t> </a:t>
            </a:r>
            <a:r>
              <a:rPr lang="en-US" sz="2400" dirty="0" smtClean="0">
                <a:latin typeface="Arial"/>
                <a:cs typeface="Arial"/>
              </a:rPr>
              <a:t>to </a:t>
            </a:r>
            <a:r>
              <a:rPr lang="en-US" sz="2400" spc="-5" dirty="0" smtClean="0">
                <a:latin typeface="Arial"/>
                <a:cs typeface="Arial"/>
              </a:rPr>
              <a:t>goal</a:t>
            </a:r>
            <a:r>
              <a:rPr lang="en-US" sz="2400" spc="15" dirty="0" smtClean="0">
                <a:latin typeface="Arial"/>
                <a:cs typeface="Arial"/>
              </a:rPr>
              <a:t> </a:t>
            </a:r>
            <a:r>
              <a:rPr lang="en-US" sz="2400" b="1" i="1" dirty="0" smtClean="0">
                <a:solidFill>
                  <a:srgbClr val="C00000"/>
                </a:solidFill>
                <a:latin typeface="Times New Roman"/>
                <a:cs typeface="Times New Roman"/>
              </a:rPr>
              <a:t>(new </a:t>
            </a:r>
            <a:r>
              <a:rPr lang="en-US" sz="2400" b="1" i="1" spc="-585" dirty="0" smtClean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en-US" sz="2400" b="1" i="1" spc="-5" dirty="0" smtClean="0">
                <a:solidFill>
                  <a:srgbClr val="C00000"/>
                </a:solidFill>
                <a:latin typeface="Times New Roman"/>
                <a:cs typeface="Times New Roman"/>
              </a:rPr>
              <a:t>idea!)</a:t>
            </a:r>
            <a:endParaRPr lang="en-US" sz="2400" dirty="0" smtClean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sz="3500" dirty="0" smtClean="0">
              <a:latin typeface="Times New Roman"/>
              <a:cs typeface="Times New Roman"/>
            </a:endParaRPr>
          </a:p>
          <a:p>
            <a:pPr marL="355600"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lang="en-US" sz="2400" b="1" dirty="0" smtClean="0">
                <a:latin typeface="Arial"/>
                <a:cs typeface="Arial"/>
              </a:rPr>
              <a:t>Implementation:</a:t>
            </a:r>
            <a:r>
              <a:rPr lang="en-US" sz="2400" b="1" spc="-40" dirty="0" smtClean="0">
                <a:latin typeface="Arial"/>
                <a:cs typeface="Arial"/>
              </a:rPr>
              <a:t> </a:t>
            </a:r>
            <a:r>
              <a:rPr lang="en-US" sz="2400" b="1" dirty="0" smtClean="0">
                <a:latin typeface="Arial"/>
                <a:cs typeface="Arial"/>
              </a:rPr>
              <a:t>Sort</a:t>
            </a:r>
            <a:r>
              <a:rPr lang="en-US" sz="2400" b="1" spc="-60" dirty="0" smtClean="0">
                <a:latin typeface="Arial"/>
                <a:cs typeface="Arial"/>
              </a:rPr>
              <a:t> </a:t>
            </a:r>
            <a:r>
              <a:rPr lang="en-US" sz="2400" b="1" spc="-5" dirty="0" smtClean="0">
                <a:latin typeface="Arial"/>
                <a:cs typeface="Arial"/>
              </a:rPr>
              <a:t>frontier</a:t>
            </a:r>
            <a:r>
              <a:rPr lang="en-US" sz="2400" b="1" spc="-15" dirty="0" smtClean="0">
                <a:latin typeface="Arial"/>
                <a:cs typeface="Arial"/>
              </a:rPr>
              <a:t> </a:t>
            </a:r>
            <a:r>
              <a:rPr lang="en-US" sz="2400" b="1" spc="-5" dirty="0" smtClean="0">
                <a:latin typeface="Arial"/>
                <a:cs typeface="Arial"/>
              </a:rPr>
              <a:t>queue</a:t>
            </a:r>
            <a:r>
              <a:rPr lang="en-US" sz="2400" b="1" dirty="0" smtClean="0">
                <a:latin typeface="Arial"/>
                <a:cs typeface="Arial"/>
              </a:rPr>
              <a:t> </a:t>
            </a:r>
            <a:r>
              <a:rPr lang="en-US" sz="2400" b="1" spc="-5" dirty="0" smtClean="0">
                <a:latin typeface="Arial"/>
                <a:cs typeface="Arial"/>
              </a:rPr>
              <a:t>by</a:t>
            </a:r>
            <a:r>
              <a:rPr lang="en-US" sz="2400" b="1" spc="-10" dirty="0" smtClean="0">
                <a:latin typeface="Arial"/>
                <a:cs typeface="Arial"/>
              </a:rPr>
              <a:t> </a:t>
            </a:r>
            <a:r>
              <a:rPr lang="en-US" sz="2400" b="1" spc="-5" dirty="0" smtClean="0">
                <a:latin typeface="Arial"/>
                <a:cs typeface="Arial"/>
              </a:rPr>
              <a:t>this</a:t>
            </a:r>
            <a:r>
              <a:rPr lang="en-US" sz="2400" b="1" spc="-15" dirty="0" smtClean="0">
                <a:latin typeface="Arial"/>
                <a:cs typeface="Arial"/>
              </a:rPr>
              <a:t> </a:t>
            </a:r>
            <a:r>
              <a:rPr lang="en-US" sz="2400" b="1" dirty="0" smtClean="0">
                <a:latin typeface="Arial"/>
                <a:cs typeface="Arial"/>
              </a:rPr>
              <a:t>new</a:t>
            </a:r>
            <a:r>
              <a:rPr lang="en-US" sz="2400" b="1" spc="-5" dirty="0" smtClean="0">
                <a:latin typeface="Arial"/>
                <a:cs typeface="Arial"/>
              </a:rPr>
              <a:t> </a:t>
            </a:r>
            <a:r>
              <a:rPr lang="en-US" sz="2400" b="1" i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f(n)</a:t>
            </a:r>
            <a:r>
              <a:rPr lang="en-US" sz="2400" b="1" dirty="0" smtClean="0">
                <a:latin typeface="Arial"/>
                <a:cs typeface="Arial"/>
              </a:rPr>
              <a:t>.</a:t>
            </a:r>
            <a:endParaRPr lang="en-US" sz="2400" dirty="0" smtClean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Char char="•"/>
              <a:tabLst>
                <a:tab pos="756285" algn="l"/>
                <a:tab pos="756920" algn="l"/>
              </a:tabLst>
            </a:pPr>
            <a:r>
              <a:rPr lang="en-US" sz="2400" spc="-5" dirty="0" smtClean="0">
                <a:latin typeface="Arial"/>
                <a:cs typeface="Arial"/>
              </a:rPr>
              <a:t>Special</a:t>
            </a:r>
            <a:r>
              <a:rPr lang="en-US" sz="2400" spc="15" dirty="0" smtClean="0">
                <a:latin typeface="Arial"/>
                <a:cs typeface="Arial"/>
              </a:rPr>
              <a:t> </a:t>
            </a:r>
            <a:r>
              <a:rPr lang="en-US" sz="2400" spc="-5" dirty="0" smtClean="0">
                <a:latin typeface="Arial"/>
                <a:cs typeface="Arial"/>
              </a:rPr>
              <a:t>cases:</a:t>
            </a:r>
            <a:r>
              <a:rPr lang="en-US" sz="2400" dirty="0" smtClean="0">
                <a:latin typeface="Arial"/>
                <a:cs typeface="Arial"/>
              </a:rPr>
              <a:t> </a:t>
            </a:r>
            <a:r>
              <a:rPr lang="en-US" sz="2400" spc="-5" dirty="0" smtClean="0">
                <a:latin typeface="Arial"/>
                <a:cs typeface="Arial"/>
              </a:rPr>
              <a:t>greedy</a:t>
            </a:r>
            <a:r>
              <a:rPr lang="en-US" sz="2400" spc="15" dirty="0" smtClean="0">
                <a:latin typeface="Arial"/>
                <a:cs typeface="Arial"/>
              </a:rPr>
              <a:t> </a:t>
            </a:r>
            <a:r>
              <a:rPr lang="en-US" sz="2400" spc="-5" dirty="0" smtClean="0">
                <a:latin typeface="Arial"/>
                <a:cs typeface="Arial"/>
              </a:rPr>
              <a:t>search,</a:t>
            </a:r>
            <a:r>
              <a:rPr lang="en-US" sz="2400" spc="5" dirty="0" smtClean="0">
                <a:latin typeface="Arial"/>
                <a:cs typeface="Arial"/>
              </a:rPr>
              <a:t> </a:t>
            </a:r>
            <a:r>
              <a:rPr lang="en-US" sz="2400" b="1" i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A*</a:t>
            </a:r>
            <a:r>
              <a:rPr lang="en-US" sz="2400" b="1" i="1" spc="-5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2400" b="1" i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search</a:t>
            </a:r>
            <a:endParaRPr lang="en-US" sz="2400" dirty="0" smtClean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579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 smtClean="0"/>
              <a:t>Best-First</a:t>
            </a:r>
            <a:r>
              <a:rPr lang="en-US" spc="5" dirty="0" smtClean="0"/>
              <a:t> </a:t>
            </a:r>
            <a:r>
              <a:rPr lang="en-US" spc="-5" dirty="0" smtClean="0"/>
              <a:t>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354965">
              <a:spcBef>
                <a:spcPts val="530"/>
              </a:spcBef>
              <a:buClr>
                <a:srgbClr val="C3709A"/>
              </a:buClr>
              <a:buSzPct val="58333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lang="en-US" sz="1900" spc="-5" dirty="0" smtClean="0">
                <a:solidFill>
                  <a:srgbClr val="1385ED"/>
                </a:solidFill>
                <a:latin typeface="Verdana"/>
                <a:cs typeface="Verdana"/>
              </a:rPr>
              <a:t>Idea</a:t>
            </a:r>
            <a:r>
              <a:rPr lang="en-US" sz="1900" spc="-5" dirty="0" smtClean="0">
                <a:latin typeface="Verdana"/>
                <a:cs typeface="Verdana"/>
              </a:rPr>
              <a:t>:</a:t>
            </a:r>
            <a:r>
              <a:rPr lang="en-US" sz="1900" spc="5" dirty="0" smtClean="0">
                <a:latin typeface="Verdana"/>
                <a:cs typeface="Verdana"/>
              </a:rPr>
              <a:t> </a:t>
            </a:r>
            <a:r>
              <a:rPr lang="en-US" sz="1900" dirty="0" smtClean="0">
                <a:latin typeface="Verdana"/>
                <a:cs typeface="Verdana"/>
              </a:rPr>
              <a:t>use </a:t>
            </a:r>
            <a:r>
              <a:rPr lang="en-US" sz="1900" spc="-5" dirty="0" smtClean="0">
                <a:latin typeface="Verdana"/>
                <a:cs typeface="Verdana"/>
              </a:rPr>
              <a:t>an </a:t>
            </a:r>
            <a:r>
              <a:rPr lang="en-US" sz="1900" spc="-5" dirty="0" smtClean="0">
                <a:solidFill>
                  <a:srgbClr val="FF0000"/>
                </a:solidFill>
                <a:latin typeface="Verdana"/>
                <a:cs typeface="Verdana"/>
              </a:rPr>
              <a:t>evaluation</a:t>
            </a:r>
            <a:r>
              <a:rPr lang="en-US" sz="1900" spc="-10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1900" spc="-5" dirty="0" smtClean="0">
                <a:solidFill>
                  <a:srgbClr val="FF0000"/>
                </a:solidFill>
                <a:latin typeface="Verdana"/>
                <a:cs typeface="Verdana"/>
              </a:rPr>
              <a:t>function </a:t>
            </a:r>
            <a:r>
              <a:rPr lang="en-US" sz="1900" i="1" spc="-5" dirty="0" smtClean="0">
                <a:latin typeface="Verdana"/>
                <a:cs typeface="Verdana"/>
              </a:rPr>
              <a:t>f</a:t>
            </a:r>
            <a:r>
              <a:rPr lang="en-US" sz="1900" spc="-5" dirty="0" smtClean="0">
                <a:latin typeface="Verdana"/>
                <a:cs typeface="Verdana"/>
              </a:rPr>
              <a:t>(</a:t>
            </a:r>
            <a:r>
              <a:rPr lang="en-US" sz="1900" i="1" spc="-5" dirty="0" smtClean="0">
                <a:latin typeface="Verdana"/>
                <a:cs typeface="Verdana"/>
              </a:rPr>
              <a:t>n</a:t>
            </a:r>
            <a:r>
              <a:rPr lang="en-US" sz="1900" spc="-5" dirty="0" smtClean="0">
                <a:latin typeface="Verdana"/>
                <a:cs typeface="Verdana"/>
              </a:rPr>
              <a:t>)</a:t>
            </a:r>
            <a:r>
              <a:rPr lang="en-US" sz="1900" spc="5" dirty="0" smtClean="0">
                <a:latin typeface="Verdana"/>
                <a:cs typeface="Verdana"/>
              </a:rPr>
              <a:t> </a:t>
            </a:r>
            <a:r>
              <a:rPr lang="en-US" sz="1900" dirty="0" smtClean="0">
                <a:latin typeface="Verdana"/>
                <a:cs typeface="Verdana"/>
              </a:rPr>
              <a:t>for</a:t>
            </a:r>
            <a:r>
              <a:rPr lang="en-US" sz="1900" spc="-10" dirty="0" smtClean="0">
                <a:latin typeface="Verdana"/>
                <a:cs typeface="Verdana"/>
              </a:rPr>
              <a:t> each</a:t>
            </a:r>
            <a:r>
              <a:rPr lang="en-US" sz="1900" spc="10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node</a:t>
            </a:r>
            <a:endParaRPr lang="en-US" sz="1900" dirty="0" smtClean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384"/>
              </a:spcBef>
              <a:buClr>
                <a:srgbClr val="1385ED"/>
              </a:buClr>
              <a:buSzPct val="59375"/>
              <a:buFont typeface="Wingdings"/>
              <a:buChar char=""/>
              <a:tabLst>
                <a:tab pos="755650" algn="l"/>
                <a:tab pos="756920" algn="l"/>
              </a:tabLst>
            </a:pPr>
            <a:r>
              <a:rPr lang="en-US" sz="1700" spc="-10" dirty="0" smtClean="0">
                <a:latin typeface="Verdana"/>
                <a:cs typeface="Verdana"/>
              </a:rPr>
              <a:t>estimate</a:t>
            </a:r>
            <a:r>
              <a:rPr lang="en-US" sz="1700" spc="25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of</a:t>
            </a:r>
            <a:r>
              <a:rPr lang="en-US" sz="1700" spc="-10" dirty="0" smtClean="0">
                <a:latin typeface="Verdana"/>
                <a:cs typeface="Verdana"/>
              </a:rPr>
              <a:t> "desirability"</a:t>
            </a:r>
            <a:endParaRPr lang="en-US" sz="1700" dirty="0" smtClean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380"/>
              </a:spcBef>
              <a:buClr>
                <a:srgbClr val="1385ED"/>
              </a:buClr>
              <a:buSzPct val="59375"/>
              <a:buFont typeface="Wingdings"/>
              <a:buChar char=""/>
              <a:tabLst>
                <a:tab pos="755650" algn="l"/>
                <a:tab pos="756920" algn="l"/>
              </a:tabLst>
            </a:pPr>
            <a:r>
              <a:rPr lang="en-US" sz="1700" spc="-5" dirty="0" smtClean="0">
                <a:latin typeface="Verdana"/>
                <a:cs typeface="Verdana"/>
              </a:rPr>
              <a:t>Expand</a:t>
            </a:r>
            <a:r>
              <a:rPr lang="en-US" sz="1700" spc="30" dirty="0" smtClean="0">
                <a:latin typeface="Verdana"/>
                <a:cs typeface="Verdana"/>
              </a:rPr>
              <a:t> </a:t>
            </a:r>
            <a:r>
              <a:rPr lang="en-US" sz="1700" spc="-10" dirty="0" smtClean="0">
                <a:latin typeface="Verdana"/>
                <a:cs typeface="Verdana"/>
              </a:rPr>
              <a:t>most</a:t>
            </a:r>
            <a:r>
              <a:rPr lang="en-US" sz="1700" spc="15" dirty="0" smtClean="0">
                <a:latin typeface="Verdana"/>
                <a:cs typeface="Verdana"/>
              </a:rPr>
              <a:t> </a:t>
            </a:r>
            <a:r>
              <a:rPr lang="en-US" sz="1700" spc="-10" dirty="0" smtClean="0">
                <a:latin typeface="Verdana"/>
                <a:cs typeface="Verdana"/>
              </a:rPr>
              <a:t>desirable</a:t>
            </a:r>
            <a:r>
              <a:rPr lang="en-US" sz="1700" spc="25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unexpanded</a:t>
            </a:r>
            <a:r>
              <a:rPr lang="en-US" sz="1700" spc="35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node</a:t>
            </a:r>
            <a:endParaRPr lang="en-US" sz="1700" dirty="0" smtClean="0">
              <a:latin typeface="Verdana"/>
              <a:cs typeface="Verdana"/>
            </a:endParaRPr>
          </a:p>
          <a:p>
            <a:pPr marL="354965" marR="113030">
              <a:spcBef>
                <a:spcPts val="434"/>
              </a:spcBef>
              <a:buClr>
                <a:srgbClr val="C3709A"/>
              </a:buClr>
              <a:buSzPct val="58333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lang="en-US" sz="1900" spc="-5" dirty="0" smtClean="0">
                <a:solidFill>
                  <a:srgbClr val="1385ED"/>
                </a:solidFill>
                <a:latin typeface="Verdana"/>
                <a:cs typeface="Verdana"/>
              </a:rPr>
              <a:t>Implementation</a:t>
            </a:r>
            <a:r>
              <a:rPr lang="en-US" sz="1900" spc="-5" dirty="0" smtClean="0">
                <a:latin typeface="Verdana"/>
                <a:cs typeface="Verdana"/>
              </a:rPr>
              <a:t>:</a:t>
            </a:r>
            <a:r>
              <a:rPr lang="en-US" sz="1900" spc="10" dirty="0" smtClean="0">
                <a:latin typeface="Verdana"/>
                <a:cs typeface="Verdana"/>
              </a:rPr>
              <a:t> </a:t>
            </a:r>
            <a:r>
              <a:rPr lang="en-US" sz="1900" dirty="0" smtClean="0">
                <a:latin typeface="Verdana"/>
                <a:cs typeface="Verdana"/>
              </a:rPr>
              <a:t>use</a:t>
            </a:r>
            <a:r>
              <a:rPr lang="en-US" sz="1900" spc="-5" dirty="0" smtClean="0">
                <a:latin typeface="Verdana"/>
                <a:cs typeface="Verdana"/>
              </a:rPr>
              <a:t> </a:t>
            </a:r>
            <a:r>
              <a:rPr lang="en-US" sz="1900" dirty="0" smtClean="0">
                <a:latin typeface="Verdana"/>
                <a:cs typeface="Verdana"/>
              </a:rPr>
              <a:t>a</a:t>
            </a:r>
            <a:r>
              <a:rPr lang="en-US" sz="1900" spc="20" dirty="0" smtClean="0">
                <a:latin typeface="Verdana"/>
                <a:cs typeface="Verdana"/>
              </a:rPr>
              <a:t> </a:t>
            </a:r>
            <a:r>
              <a:rPr lang="en-US" sz="1900" spc="-10" dirty="0" smtClean="0">
                <a:latin typeface="Verdana"/>
                <a:cs typeface="Verdana"/>
              </a:rPr>
              <a:t>data</a:t>
            </a:r>
            <a:r>
              <a:rPr lang="en-US" sz="1900" spc="15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structure that</a:t>
            </a:r>
            <a:r>
              <a:rPr lang="en-US" sz="1900" spc="15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maintains</a:t>
            </a:r>
            <a:r>
              <a:rPr lang="en-US" sz="1900" spc="5" dirty="0" smtClean="0">
                <a:latin typeface="Verdana"/>
                <a:cs typeface="Verdana"/>
              </a:rPr>
              <a:t> </a:t>
            </a:r>
            <a:r>
              <a:rPr lang="en-US" sz="1900" spc="-10" dirty="0" smtClean="0">
                <a:latin typeface="Verdana"/>
                <a:cs typeface="Verdana"/>
              </a:rPr>
              <a:t>the</a:t>
            </a:r>
            <a:r>
              <a:rPr lang="en-US" sz="1900" spc="25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frontier</a:t>
            </a:r>
            <a:r>
              <a:rPr lang="en-US" sz="1900" spc="10" dirty="0" smtClean="0">
                <a:latin typeface="Verdana"/>
                <a:cs typeface="Verdana"/>
              </a:rPr>
              <a:t> </a:t>
            </a:r>
            <a:r>
              <a:rPr lang="en-US" sz="1900" spc="5" dirty="0" smtClean="0">
                <a:latin typeface="Verdana"/>
                <a:cs typeface="Verdana"/>
              </a:rPr>
              <a:t>in </a:t>
            </a:r>
            <a:r>
              <a:rPr lang="en-US" sz="1900" spc="-620" dirty="0" smtClean="0">
                <a:latin typeface="Verdana"/>
                <a:cs typeface="Verdana"/>
              </a:rPr>
              <a:t> </a:t>
            </a:r>
            <a:r>
              <a:rPr lang="en-US" sz="1900" dirty="0" smtClean="0">
                <a:latin typeface="Verdana"/>
                <a:cs typeface="Verdana"/>
              </a:rPr>
              <a:t>a</a:t>
            </a:r>
            <a:r>
              <a:rPr lang="en-US" sz="1900" spc="-10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decreasing</a:t>
            </a:r>
            <a:r>
              <a:rPr lang="en-US" sz="1900" spc="5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order</a:t>
            </a:r>
            <a:r>
              <a:rPr lang="en-US" sz="1900" dirty="0" smtClean="0">
                <a:latin typeface="Verdana"/>
                <a:cs typeface="Verdana"/>
              </a:rPr>
              <a:t> of</a:t>
            </a:r>
            <a:r>
              <a:rPr lang="en-US" sz="1900" spc="-10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desirability</a:t>
            </a:r>
            <a:endParaRPr lang="en-US" sz="1900" dirty="0" smtClean="0">
              <a:latin typeface="Verdana"/>
              <a:cs typeface="Verdana"/>
            </a:endParaRPr>
          </a:p>
          <a:p>
            <a:pPr marL="354965">
              <a:spcBef>
                <a:spcPts val="434"/>
              </a:spcBef>
              <a:buClr>
                <a:srgbClr val="C3709A"/>
              </a:buClr>
              <a:buSzPct val="58333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lang="en-US" sz="1900" spc="-5" dirty="0" smtClean="0">
                <a:latin typeface="Verdana"/>
                <a:cs typeface="Verdana"/>
              </a:rPr>
              <a:t>Is </a:t>
            </a:r>
            <a:r>
              <a:rPr lang="en-US" sz="1900" spc="5" dirty="0" smtClean="0">
                <a:latin typeface="Verdana"/>
                <a:cs typeface="Verdana"/>
              </a:rPr>
              <a:t>it</a:t>
            </a:r>
            <a:r>
              <a:rPr lang="en-US" sz="1900" spc="-10" dirty="0" smtClean="0">
                <a:latin typeface="Verdana"/>
                <a:cs typeface="Verdana"/>
              </a:rPr>
              <a:t> </a:t>
            </a:r>
            <a:r>
              <a:rPr lang="en-US" sz="1900" dirty="0" smtClean="0">
                <a:latin typeface="Verdana"/>
                <a:cs typeface="Verdana"/>
              </a:rPr>
              <a:t>really</a:t>
            </a:r>
            <a:r>
              <a:rPr lang="en-US" sz="1900" spc="-25" dirty="0" smtClean="0">
                <a:latin typeface="Verdana"/>
                <a:cs typeface="Verdana"/>
              </a:rPr>
              <a:t> </a:t>
            </a:r>
            <a:r>
              <a:rPr lang="en-US" sz="1900" spc="-10" dirty="0" smtClean="0">
                <a:latin typeface="Verdana"/>
                <a:cs typeface="Verdana"/>
              </a:rPr>
              <a:t>the</a:t>
            </a:r>
            <a:r>
              <a:rPr lang="en-US" sz="1900" spc="5" dirty="0" smtClean="0">
                <a:latin typeface="Verdana"/>
                <a:cs typeface="Verdana"/>
              </a:rPr>
              <a:t> </a:t>
            </a:r>
            <a:r>
              <a:rPr lang="en-US" sz="1900" spc="-10" dirty="0" smtClean="0">
                <a:latin typeface="Verdana"/>
                <a:cs typeface="Verdana"/>
              </a:rPr>
              <a:t>best?</a:t>
            </a:r>
            <a:endParaRPr lang="en-US" sz="1900" dirty="0" smtClean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C3709A"/>
              </a:buClr>
              <a:buFont typeface="Wingdings"/>
              <a:buChar char=""/>
            </a:pPr>
            <a:endParaRPr lang="en-US" sz="2600" dirty="0" smtClean="0">
              <a:latin typeface="Verdana"/>
              <a:cs typeface="Verdana"/>
            </a:endParaRPr>
          </a:p>
          <a:p>
            <a:pPr marL="354965" marR="276860">
              <a:buClr>
                <a:srgbClr val="C3709A"/>
              </a:buClr>
              <a:buSzPct val="58333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lang="en-US" sz="1900" spc="-5" dirty="0" smtClean="0">
                <a:solidFill>
                  <a:srgbClr val="1385ED"/>
                </a:solidFill>
                <a:latin typeface="Verdana"/>
                <a:cs typeface="Verdana"/>
              </a:rPr>
              <a:t>Special</a:t>
            </a:r>
            <a:r>
              <a:rPr lang="en-US" sz="1900" spc="15" dirty="0" smtClean="0">
                <a:solidFill>
                  <a:srgbClr val="1385ED"/>
                </a:solidFill>
                <a:latin typeface="Verdana"/>
                <a:cs typeface="Verdana"/>
              </a:rPr>
              <a:t> </a:t>
            </a:r>
            <a:r>
              <a:rPr lang="en-US" sz="1900" spc="-5" dirty="0" smtClean="0">
                <a:solidFill>
                  <a:srgbClr val="1385ED"/>
                </a:solidFill>
                <a:latin typeface="Verdana"/>
                <a:cs typeface="Verdana"/>
              </a:rPr>
              <a:t>cases</a:t>
            </a:r>
            <a:r>
              <a:rPr lang="en-US" sz="1900" spc="-5" dirty="0" smtClean="0">
                <a:latin typeface="Verdana"/>
                <a:cs typeface="Verdana"/>
              </a:rPr>
              <a:t>:</a:t>
            </a:r>
            <a:r>
              <a:rPr lang="en-US" sz="1900" spc="20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uniform-cost</a:t>
            </a:r>
            <a:r>
              <a:rPr lang="en-US" sz="1900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(Dijkstra’s</a:t>
            </a:r>
            <a:r>
              <a:rPr lang="en-US" sz="1900" spc="10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algorithm),</a:t>
            </a:r>
            <a:r>
              <a:rPr lang="en-US" sz="1900" spc="-15" dirty="0" smtClean="0">
                <a:latin typeface="Verdana"/>
                <a:cs typeface="Verdana"/>
              </a:rPr>
              <a:t> </a:t>
            </a:r>
            <a:r>
              <a:rPr lang="en-US" sz="1900" spc="-10" dirty="0" smtClean="0">
                <a:latin typeface="Verdana"/>
                <a:cs typeface="Verdana"/>
              </a:rPr>
              <a:t>greedy</a:t>
            </a:r>
            <a:r>
              <a:rPr lang="en-US" sz="1900" spc="45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search, </a:t>
            </a:r>
            <a:r>
              <a:rPr lang="en-US" sz="1900" spc="-620" dirty="0" smtClean="0">
                <a:latin typeface="Verdana"/>
                <a:cs typeface="Verdana"/>
              </a:rPr>
              <a:t> </a:t>
            </a:r>
            <a:r>
              <a:rPr lang="en-US" sz="1900" spc="5" dirty="0" smtClean="0">
                <a:latin typeface="Verdana"/>
                <a:cs typeface="Verdana"/>
              </a:rPr>
              <a:t>A*</a:t>
            </a:r>
            <a:r>
              <a:rPr lang="en-US" sz="1900" spc="-20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search</a:t>
            </a:r>
            <a:endParaRPr lang="en-US" sz="1900" dirty="0" smtClean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C3709A"/>
              </a:buClr>
              <a:buFont typeface="Wingdings"/>
              <a:buChar char=""/>
            </a:pPr>
            <a:endParaRPr lang="en-US" sz="2600" dirty="0" smtClean="0">
              <a:latin typeface="Verdana"/>
              <a:cs typeface="Verdana"/>
            </a:endParaRPr>
          </a:p>
          <a:p>
            <a:pPr marL="354965">
              <a:buClr>
                <a:srgbClr val="C3709A"/>
              </a:buClr>
              <a:buSzPct val="58333"/>
              <a:buFont typeface="Wingdings"/>
              <a:buChar char=""/>
              <a:tabLst>
                <a:tab pos="354965" algn="l"/>
                <a:tab pos="355600" algn="l"/>
              </a:tabLst>
            </a:pPr>
            <a:r>
              <a:rPr lang="en-US" sz="1900" dirty="0" smtClean="0">
                <a:latin typeface="Verdana"/>
                <a:cs typeface="Verdana"/>
              </a:rPr>
              <a:t>A</a:t>
            </a:r>
            <a:r>
              <a:rPr lang="en-US" sz="1900" spc="-10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latin typeface="Verdana"/>
                <a:cs typeface="Verdana"/>
              </a:rPr>
              <a:t>key</a:t>
            </a:r>
            <a:r>
              <a:rPr lang="en-US" sz="1900" spc="15" dirty="0" smtClean="0">
                <a:latin typeface="Verdana"/>
                <a:cs typeface="Verdana"/>
              </a:rPr>
              <a:t> </a:t>
            </a:r>
            <a:r>
              <a:rPr lang="en-US" sz="1900" spc="-10" dirty="0" smtClean="0">
                <a:latin typeface="Verdana"/>
                <a:cs typeface="Verdana"/>
              </a:rPr>
              <a:t>component</a:t>
            </a:r>
            <a:r>
              <a:rPr lang="en-US" sz="1900" spc="30" dirty="0" smtClean="0">
                <a:latin typeface="Verdana"/>
                <a:cs typeface="Verdana"/>
              </a:rPr>
              <a:t> </a:t>
            </a:r>
            <a:r>
              <a:rPr lang="en-US" sz="1900" spc="5" dirty="0" smtClean="0">
                <a:latin typeface="Verdana"/>
                <a:cs typeface="Verdana"/>
              </a:rPr>
              <a:t>is</a:t>
            </a:r>
            <a:r>
              <a:rPr lang="en-US" sz="1900" dirty="0" smtClean="0">
                <a:latin typeface="Verdana"/>
                <a:cs typeface="Verdana"/>
              </a:rPr>
              <a:t> a</a:t>
            </a:r>
            <a:r>
              <a:rPr lang="en-US" sz="1900" spc="-10" dirty="0" smtClean="0">
                <a:latin typeface="Verdana"/>
                <a:cs typeface="Verdana"/>
              </a:rPr>
              <a:t> </a:t>
            </a:r>
            <a:r>
              <a:rPr lang="en-US" sz="1900" spc="-5" dirty="0" smtClean="0">
                <a:solidFill>
                  <a:srgbClr val="FF0000"/>
                </a:solidFill>
                <a:latin typeface="Verdana"/>
                <a:cs typeface="Verdana"/>
              </a:rPr>
              <a:t>heuristic</a:t>
            </a:r>
            <a:r>
              <a:rPr lang="en-US" sz="1900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1900" spc="-5" dirty="0" smtClean="0">
                <a:solidFill>
                  <a:srgbClr val="FF0000"/>
                </a:solidFill>
                <a:latin typeface="Verdana"/>
                <a:cs typeface="Verdana"/>
              </a:rPr>
              <a:t>function</a:t>
            </a:r>
            <a:r>
              <a:rPr lang="en-US" sz="1900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1900" i="1" spc="-5" dirty="0" smtClean="0">
                <a:latin typeface="Verdana"/>
                <a:cs typeface="Verdana"/>
              </a:rPr>
              <a:t>h</a:t>
            </a:r>
            <a:r>
              <a:rPr lang="en-US" sz="1900" spc="-5" dirty="0" smtClean="0">
                <a:latin typeface="Verdana"/>
                <a:cs typeface="Verdana"/>
              </a:rPr>
              <a:t>(</a:t>
            </a:r>
            <a:r>
              <a:rPr lang="en-US" sz="1900" i="1" spc="-5" dirty="0" smtClean="0">
                <a:latin typeface="Verdana"/>
                <a:cs typeface="Verdana"/>
              </a:rPr>
              <a:t>n</a:t>
            </a:r>
            <a:r>
              <a:rPr lang="en-US" sz="1900" spc="-5" dirty="0" smtClean="0">
                <a:latin typeface="Verdana"/>
                <a:cs typeface="Verdana"/>
              </a:rPr>
              <a:t>):</a:t>
            </a:r>
            <a:endParaRPr lang="en-US" sz="1900" dirty="0" smtClean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384"/>
              </a:spcBef>
              <a:buClr>
                <a:srgbClr val="1385ED"/>
              </a:buClr>
              <a:buSzPct val="59375"/>
              <a:buFont typeface="Wingdings"/>
              <a:buChar char=""/>
              <a:tabLst>
                <a:tab pos="755650" algn="l"/>
                <a:tab pos="756920" algn="l"/>
              </a:tabLst>
            </a:pPr>
            <a:r>
              <a:rPr lang="en-US" sz="1700" i="1" spc="-10" dirty="0" smtClean="0">
                <a:latin typeface="Verdana"/>
                <a:cs typeface="Verdana"/>
              </a:rPr>
              <a:t>h</a:t>
            </a:r>
            <a:r>
              <a:rPr lang="en-US" sz="1700" spc="-10" dirty="0" smtClean="0">
                <a:latin typeface="Verdana"/>
                <a:cs typeface="Verdana"/>
              </a:rPr>
              <a:t>(</a:t>
            </a:r>
            <a:r>
              <a:rPr lang="en-US" sz="1700" i="1" spc="-10" dirty="0" smtClean="0">
                <a:latin typeface="Verdana"/>
                <a:cs typeface="Verdana"/>
              </a:rPr>
              <a:t>n</a:t>
            </a:r>
            <a:r>
              <a:rPr lang="en-US" sz="1700" spc="-10" dirty="0" smtClean="0">
                <a:latin typeface="Verdana"/>
                <a:cs typeface="Verdana"/>
              </a:rPr>
              <a:t>)</a:t>
            </a:r>
            <a:r>
              <a:rPr lang="en-US" sz="1700" spc="5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=</a:t>
            </a:r>
            <a:r>
              <a:rPr lang="en-US" sz="1700" spc="10" dirty="0" smtClean="0">
                <a:latin typeface="Verdana"/>
                <a:cs typeface="Verdana"/>
              </a:rPr>
              <a:t> </a:t>
            </a:r>
            <a:r>
              <a:rPr lang="en-US" sz="1700" spc="-10" dirty="0" smtClean="0">
                <a:latin typeface="Verdana"/>
                <a:cs typeface="Verdana"/>
              </a:rPr>
              <a:t>estimated</a:t>
            </a:r>
            <a:r>
              <a:rPr lang="en-US" sz="1700" spc="35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cost</a:t>
            </a:r>
            <a:r>
              <a:rPr lang="en-US" sz="1700" spc="20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of</a:t>
            </a:r>
            <a:r>
              <a:rPr lang="en-US" sz="1700" spc="5" dirty="0" smtClean="0">
                <a:latin typeface="Verdana"/>
                <a:cs typeface="Verdana"/>
              </a:rPr>
              <a:t> </a:t>
            </a:r>
            <a:r>
              <a:rPr lang="en-US" sz="1700" spc="-10" dirty="0" smtClean="0">
                <a:latin typeface="Verdana"/>
                <a:cs typeface="Verdana"/>
              </a:rPr>
              <a:t>the</a:t>
            </a:r>
            <a:r>
              <a:rPr lang="en-US" sz="1700" dirty="0" smtClean="0">
                <a:latin typeface="Verdana"/>
                <a:cs typeface="Verdana"/>
              </a:rPr>
              <a:t> </a:t>
            </a:r>
            <a:r>
              <a:rPr lang="en-US" sz="1700" b="1" spc="-5" dirty="0" smtClean="0">
                <a:solidFill>
                  <a:srgbClr val="FF0000"/>
                </a:solidFill>
                <a:latin typeface="Verdana"/>
                <a:cs typeface="Verdana"/>
              </a:rPr>
              <a:t>cheapest</a:t>
            </a:r>
            <a:r>
              <a:rPr lang="en-US" sz="1700" b="1" spc="30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1700" b="1" spc="-5" dirty="0" smtClean="0">
                <a:solidFill>
                  <a:srgbClr val="FF0000"/>
                </a:solidFill>
                <a:latin typeface="Verdana"/>
                <a:cs typeface="Verdana"/>
              </a:rPr>
              <a:t>path</a:t>
            </a:r>
            <a:r>
              <a:rPr lang="en-US" sz="1700" b="1" spc="35" dirty="0" smtClean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from</a:t>
            </a:r>
            <a:r>
              <a:rPr lang="en-US" sz="1700" spc="5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node</a:t>
            </a:r>
            <a:r>
              <a:rPr lang="en-US" sz="1700" spc="5" dirty="0" smtClean="0">
                <a:latin typeface="Verdana"/>
                <a:cs typeface="Verdana"/>
              </a:rPr>
              <a:t> </a:t>
            </a:r>
            <a:r>
              <a:rPr lang="en-US" sz="1700" i="1" spc="-5" dirty="0" smtClean="0">
                <a:latin typeface="Verdana"/>
                <a:cs typeface="Verdana"/>
              </a:rPr>
              <a:t>n </a:t>
            </a:r>
            <a:r>
              <a:rPr lang="en-US" sz="1700" spc="-10" dirty="0" smtClean="0">
                <a:latin typeface="Verdana"/>
                <a:cs typeface="Verdana"/>
              </a:rPr>
              <a:t>to</a:t>
            </a:r>
            <a:r>
              <a:rPr lang="en-US" sz="1700" spc="20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a</a:t>
            </a:r>
            <a:r>
              <a:rPr lang="en-US" sz="1700" spc="10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goal</a:t>
            </a:r>
            <a:r>
              <a:rPr lang="en-US" sz="1700" spc="5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node</a:t>
            </a:r>
            <a:endParaRPr lang="en-US" sz="1700" dirty="0" smtClean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380"/>
              </a:spcBef>
              <a:buClr>
                <a:srgbClr val="1385ED"/>
              </a:buClr>
              <a:buSzPct val="59375"/>
              <a:buFont typeface="Wingdings"/>
              <a:buChar char=""/>
              <a:tabLst>
                <a:tab pos="755650" algn="l"/>
                <a:tab pos="756920" algn="l"/>
              </a:tabLst>
            </a:pPr>
            <a:r>
              <a:rPr lang="en-US" sz="1700" i="1" spc="-10" dirty="0" smtClean="0">
                <a:latin typeface="Verdana"/>
                <a:cs typeface="Verdana"/>
              </a:rPr>
              <a:t>h</a:t>
            </a:r>
            <a:r>
              <a:rPr lang="en-US" sz="1700" spc="-10" dirty="0" smtClean="0">
                <a:latin typeface="Verdana"/>
                <a:cs typeface="Verdana"/>
              </a:rPr>
              <a:t>(</a:t>
            </a:r>
            <a:r>
              <a:rPr lang="en-US" sz="1700" i="1" spc="-10" dirty="0" smtClean="0">
                <a:latin typeface="Verdana"/>
                <a:cs typeface="Verdana"/>
              </a:rPr>
              <a:t>n</a:t>
            </a:r>
            <a:r>
              <a:rPr lang="en-US" sz="1700" spc="-10" dirty="0" smtClean="0">
                <a:latin typeface="Verdana"/>
                <a:cs typeface="Verdana"/>
              </a:rPr>
              <a:t>)</a:t>
            </a:r>
            <a:r>
              <a:rPr lang="en-US" sz="1700" spc="-5" dirty="0" smtClean="0">
                <a:latin typeface="Verdana"/>
                <a:cs typeface="Verdana"/>
              </a:rPr>
              <a:t> =</a:t>
            </a:r>
            <a:r>
              <a:rPr lang="en-US" sz="1700" spc="5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0 </a:t>
            </a:r>
            <a:r>
              <a:rPr lang="en-US" sz="1700" spc="-10" dirty="0" smtClean="0">
                <a:latin typeface="Verdana"/>
                <a:cs typeface="Verdana"/>
              </a:rPr>
              <a:t>if </a:t>
            </a:r>
            <a:r>
              <a:rPr lang="en-US" sz="1700" i="1" spc="-5" dirty="0" smtClean="0">
                <a:latin typeface="Verdana"/>
                <a:cs typeface="Verdana"/>
              </a:rPr>
              <a:t>n</a:t>
            </a:r>
            <a:r>
              <a:rPr lang="en-US" sz="1700" i="1" spc="-10" dirty="0" smtClean="0">
                <a:latin typeface="Verdana"/>
                <a:cs typeface="Verdana"/>
              </a:rPr>
              <a:t> </a:t>
            </a:r>
            <a:r>
              <a:rPr lang="en-US" sz="1700" spc="-10" dirty="0" smtClean="0">
                <a:latin typeface="Verdana"/>
                <a:cs typeface="Verdana"/>
              </a:rPr>
              <a:t>is</a:t>
            </a:r>
            <a:r>
              <a:rPr lang="en-US" sz="1700" spc="20" dirty="0" smtClean="0">
                <a:latin typeface="Verdana"/>
                <a:cs typeface="Verdana"/>
              </a:rPr>
              <a:t> </a:t>
            </a:r>
            <a:r>
              <a:rPr lang="en-US" sz="1700" spc="-10" dirty="0" smtClean="0">
                <a:latin typeface="Verdana"/>
                <a:cs typeface="Verdana"/>
              </a:rPr>
              <a:t>the </a:t>
            </a:r>
            <a:r>
              <a:rPr lang="en-US" sz="1700" spc="-5" dirty="0" smtClean="0">
                <a:latin typeface="Verdana"/>
                <a:cs typeface="Verdana"/>
              </a:rPr>
              <a:t>goal</a:t>
            </a:r>
            <a:endParaRPr lang="en-US" sz="1700" dirty="0" smtClean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lr>
                <a:srgbClr val="1385ED"/>
              </a:buClr>
              <a:buSzPct val="59375"/>
              <a:buFont typeface="Wingdings"/>
              <a:buChar char=""/>
              <a:tabLst>
                <a:tab pos="755650" algn="l"/>
                <a:tab pos="756920" algn="l"/>
              </a:tabLst>
            </a:pPr>
            <a:r>
              <a:rPr lang="en-US" sz="1700" i="1" spc="-10" dirty="0" smtClean="0">
                <a:latin typeface="Verdana"/>
                <a:cs typeface="Verdana"/>
              </a:rPr>
              <a:t>h</a:t>
            </a:r>
            <a:r>
              <a:rPr lang="en-US" sz="1700" spc="-10" dirty="0" smtClean="0">
                <a:latin typeface="Verdana"/>
                <a:cs typeface="Verdana"/>
              </a:rPr>
              <a:t>(</a:t>
            </a:r>
            <a:r>
              <a:rPr lang="en-US" sz="1700" i="1" spc="-10" dirty="0" smtClean="0">
                <a:latin typeface="Verdana"/>
                <a:cs typeface="Verdana"/>
              </a:rPr>
              <a:t>n</a:t>
            </a:r>
            <a:r>
              <a:rPr lang="en-US" sz="1700" spc="-10" dirty="0" smtClean="0">
                <a:latin typeface="Verdana"/>
                <a:cs typeface="Verdana"/>
              </a:rPr>
              <a:t>)</a:t>
            </a:r>
            <a:r>
              <a:rPr lang="en-US" sz="1700" spc="-5" dirty="0" smtClean="0">
                <a:latin typeface="Verdana"/>
                <a:cs typeface="Verdana"/>
              </a:rPr>
              <a:t> </a:t>
            </a:r>
            <a:r>
              <a:rPr lang="en-US" sz="1700" spc="-10" dirty="0" smtClean="0">
                <a:latin typeface="Verdana"/>
                <a:cs typeface="Verdana"/>
              </a:rPr>
              <a:t>could</a:t>
            </a:r>
            <a:r>
              <a:rPr lang="en-US" sz="1700" spc="30" dirty="0" smtClean="0">
                <a:latin typeface="Verdana"/>
                <a:cs typeface="Verdana"/>
              </a:rPr>
              <a:t> </a:t>
            </a:r>
            <a:r>
              <a:rPr lang="en-US" sz="1700" dirty="0" smtClean="0">
                <a:latin typeface="Verdana"/>
                <a:cs typeface="Verdana"/>
              </a:rPr>
              <a:t>be</a:t>
            </a:r>
            <a:r>
              <a:rPr lang="en-US" sz="1700" spc="-20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general</a:t>
            </a:r>
            <a:r>
              <a:rPr lang="en-US" sz="1700" spc="15" dirty="0" smtClean="0">
                <a:latin typeface="Verdana"/>
                <a:cs typeface="Verdana"/>
              </a:rPr>
              <a:t> </a:t>
            </a:r>
            <a:r>
              <a:rPr lang="en-US" sz="1700" spc="-5" dirty="0" smtClean="0">
                <a:latin typeface="Verdana"/>
                <a:cs typeface="Verdana"/>
              </a:rPr>
              <a:t>or problem-specific</a:t>
            </a:r>
          </a:p>
          <a:p>
            <a:pPr marL="756285" lvl="1" indent="-287020">
              <a:spcBef>
                <a:spcPts val="385"/>
              </a:spcBef>
              <a:buClr>
                <a:srgbClr val="1385ED"/>
              </a:buClr>
              <a:buSzPct val="59375"/>
              <a:buFont typeface="Wingdings"/>
              <a:buChar char=""/>
              <a:tabLst>
                <a:tab pos="755650" algn="l"/>
                <a:tab pos="756920" algn="l"/>
              </a:tabLst>
            </a:pPr>
            <a:r>
              <a:rPr lang="en-US" altLang="en-US" sz="1900" i="1" dirty="0"/>
              <a:t>g</a:t>
            </a:r>
            <a:r>
              <a:rPr lang="en-US" altLang="en-US" sz="1900" i="1" dirty="0" smtClean="0"/>
              <a:t>(n) </a:t>
            </a:r>
            <a:r>
              <a:rPr lang="en-US" altLang="en-US" sz="1900" dirty="0" smtClean="0"/>
              <a:t>= known cost so far to reach </a:t>
            </a:r>
            <a:r>
              <a:rPr lang="en-US" altLang="en-US" sz="1900" i="1" dirty="0" smtClean="0"/>
              <a:t>n</a:t>
            </a:r>
          </a:p>
          <a:p>
            <a:pPr marL="756285" lvl="1" indent="-287020">
              <a:spcBef>
                <a:spcPts val="385"/>
              </a:spcBef>
              <a:buClr>
                <a:srgbClr val="1385ED"/>
              </a:buClr>
              <a:buSzPct val="59375"/>
              <a:buFont typeface="Wingdings"/>
              <a:buChar char=""/>
              <a:tabLst>
                <a:tab pos="755650" algn="l"/>
                <a:tab pos="756920" algn="l"/>
              </a:tabLst>
            </a:pPr>
            <a:r>
              <a:rPr lang="en-US" altLang="en-US" sz="1900" i="1" dirty="0" smtClean="0"/>
              <a:t>F(n) = g(n) + h(n)</a:t>
            </a:r>
          </a:p>
          <a:p>
            <a:pPr marL="469265" lvl="1" indent="0">
              <a:spcBef>
                <a:spcPts val="385"/>
              </a:spcBef>
              <a:buClr>
                <a:srgbClr val="1385ED"/>
              </a:buClr>
              <a:buSzPct val="59375"/>
              <a:buNone/>
              <a:tabLst>
                <a:tab pos="755650" algn="l"/>
                <a:tab pos="756920" algn="l"/>
              </a:tabLst>
            </a:pPr>
            <a:r>
              <a:rPr lang="en-US" altLang="en-US" sz="1900" dirty="0" smtClean="0"/>
              <a:t>	= estimated (optimal) total cost of path through </a:t>
            </a:r>
            <a:r>
              <a:rPr lang="en-US" altLang="en-US" sz="1900" i="1" dirty="0" smtClean="0"/>
              <a:t>n</a:t>
            </a:r>
            <a:r>
              <a:rPr lang="en-US" altLang="en-US" sz="1900" dirty="0" smtClean="0"/>
              <a:t> to goal</a:t>
            </a:r>
          </a:p>
          <a:p>
            <a:pPr marL="756285" lvl="1" indent="-287020">
              <a:spcBef>
                <a:spcPts val="385"/>
              </a:spcBef>
              <a:buClr>
                <a:srgbClr val="1385ED"/>
              </a:buClr>
              <a:buSzPct val="59375"/>
              <a:buFont typeface="Wingdings"/>
              <a:buChar char=""/>
              <a:tabLst>
                <a:tab pos="755650" algn="l"/>
                <a:tab pos="756920" algn="l"/>
              </a:tabLst>
            </a:pPr>
            <a:endParaRPr lang="en-US" altLang="en-US" sz="1600" i="1" dirty="0" smtClean="0"/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lr>
                <a:srgbClr val="1385ED"/>
              </a:buClr>
              <a:buSzPct val="59375"/>
              <a:buFont typeface="Wingdings"/>
              <a:buChar char=""/>
              <a:tabLst>
                <a:tab pos="755650" algn="l"/>
                <a:tab pos="756920" algn="l"/>
              </a:tabLst>
            </a:pPr>
            <a:endParaRPr lang="en-US" sz="1600" spc="-5" dirty="0" smtClean="0">
              <a:latin typeface="Verdana"/>
              <a:cs typeface="Verdana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lr>
                <a:srgbClr val="1385ED"/>
              </a:buClr>
              <a:buSzPct val="59375"/>
              <a:buFont typeface="Wingdings"/>
              <a:buChar char=""/>
              <a:tabLst>
                <a:tab pos="755650" algn="l"/>
                <a:tab pos="756920" algn="l"/>
              </a:tabLst>
            </a:pPr>
            <a:endParaRPr lang="en-US" sz="1600" dirty="0" smtClean="0">
              <a:latin typeface="Verdana"/>
              <a:cs typeface="Verdan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200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55600">
              <a:lnSpc>
                <a:spcPts val="2870"/>
              </a:lnSpc>
              <a:spcBef>
                <a:spcPts val="580"/>
              </a:spcBef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lang="en-US" sz="24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select</a:t>
            </a:r>
            <a:r>
              <a:rPr lang="en-US" sz="2400" b="1" i="1" dirty="0" smtClean="0">
                <a:solidFill>
                  <a:srgbClr val="0000FF"/>
                </a:solidFill>
                <a:latin typeface="Arial"/>
                <a:cs typeface="Arial"/>
              </a:rPr>
              <a:t> node</a:t>
            </a:r>
            <a:r>
              <a:rPr lang="en-US" sz="2400" b="1" i="1" spc="-1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4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lang="en-US" sz="2400" b="1" i="1" spc="-1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4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expansion</a:t>
            </a:r>
            <a:r>
              <a:rPr lang="en-US" sz="24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400" b="1" spc="5" dirty="0" smtClean="0">
                <a:latin typeface="Arial"/>
                <a:cs typeface="Arial"/>
              </a:rPr>
              <a:t>with</a:t>
            </a:r>
            <a:r>
              <a:rPr lang="en-US" sz="2400" b="1" spc="-50" dirty="0" smtClean="0">
                <a:latin typeface="Arial"/>
                <a:cs typeface="Arial"/>
              </a:rPr>
              <a:t> </a:t>
            </a:r>
            <a:r>
              <a:rPr lang="en-US" sz="2400" b="1" dirty="0" smtClean="0">
                <a:latin typeface="Arial"/>
                <a:cs typeface="Arial"/>
              </a:rPr>
              <a:t>minimal</a:t>
            </a:r>
            <a:endParaRPr lang="en-US" sz="2400" dirty="0" smtClean="0">
              <a:latin typeface="Arial"/>
              <a:cs typeface="Arial"/>
            </a:endParaRPr>
          </a:p>
          <a:p>
            <a:pPr marL="355600">
              <a:lnSpc>
                <a:spcPts val="2870"/>
              </a:lnSpc>
            </a:pPr>
            <a:r>
              <a:rPr lang="en-US" sz="24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evaluation</a:t>
            </a:r>
            <a:r>
              <a:rPr lang="en-US" sz="2400" b="1" i="1" spc="-1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4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function</a:t>
            </a:r>
            <a:r>
              <a:rPr lang="en-US" sz="2400" b="1" i="1" spc="-4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2400" b="1" i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f(n)</a:t>
            </a:r>
            <a:endParaRPr lang="en-US" sz="2400" dirty="0" smtClean="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Char char="•"/>
              <a:tabLst>
                <a:tab pos="756285" algn="l"/>
                <a:tab pos="756920" algn="l"/>
              </a:tabLst>
            </a:pPr>
            <a:r>
              <a:rPr lang="en-US" sz="2000" dirty="0" smtClean="0">
                <a:latin typeface="Arial"/>
                <a:cs typeface="Arial"/>
              </a:rPr>
              <a:t>where</a:t>
            </a:r>
            <a:r>
              <a:rPr lang="en-US" sz="2000" spc="-75" dirty="0" smtClean="0">
                <a:latin typeface="Arial"/>
                <a:cs typeface="Arial"/>
              </a:rPr>
              <a:t> </a:t>
            </a:r>
            <a:r>
              <a:rPr lang="en-US" sz="2000" b="1" i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f(n)</a:t>
            </a:r>
            <a:r>
              <a:rPr lang="en-US" sz="2000" b="1" i="1" spc="-25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is</a:t>
            </a:r>
            <a:r>
              <a:rPr lang="en-US" sz="2000" spc="-20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some</a:t>
            </a:r>
            <a:r>
              <a:rPr lang="en-US" sz="2000" spc="-15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function</a:t>
            </a:r>
            <a:r>
              <a:rPr lang="en-US" sz="2000" spc="-35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that</a:t>
            </a:r>
            <a:r>
              <a:rPr lang="en-US" sz="2000" spc="-20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includes</a:t>
            </a:r>
            <a:r>
              <a:rPr lang="en-US" sz="2000" spc="-15" dirty="0" smtClean="0">
                <a:latin typeface="Arial"/>
                <a:cs typeface="Arial"/>
              </a:rPr>
              <a:t> </a:t>
            </a:r>
            <a:r>
              <a:rPr lang="en-US" sz="2400" b="1" i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estimate</a:t>
            </a:r>
            <a:r>
              <a:rPr lang="en-US" sz="2400" b="1" i="1" spc="-50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2400" b="1" i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heuristic </a:t>
            </a:r>
            <a:r>
              <a:rPr lang="en-US" sz="2400" b="1" i="1" spc="-585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2400" b="1" i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h(n)</a:t>
            </a:r>
            <a:r>
              <a:rPr lang="en-US" sz="2400" b="1" i="1" spc="-105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of</a:t>
            </a:r>
            <a:r>
              <a:rPr lang="en-US" sz="2000" spc="-25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the</a:t>
            </a:r>
            <a:r>
              <a:rPr lang="en-US" sz="2000" spc="-20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remaining</a:t>
            </a:r>
            <a:r>
              <a:rPr lang="en-US" sz="2000" spc="-20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distance</a:t>
            </a:r>
            <a:r>
              <a:rPr lang="en-US" sz="2000" spc="-30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to</a:t>
            </a:r>
            <a:r>
              <a:rPr lang="en-US" sz="2000" spc="-10" dirty="0" smtClean="0">
                <a:latin typeface="Arial"/>
                <a:cs typeface="Arial"/>
              </a:rPr>
              <a:t> </a:t>
            </a:r>
            <a:r>
              <a:rPr lang="en-US" sz="2000" dirty="0" smtClean="0">
                <a:latin typeface="Arial"/>
                <a:cs typeface="Arial"/>
              </a:rPr>
              <a:t>goal</a:t>
            </a: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000099"/>
              </a:buClr>
              <a:buFont typeface="Arial"/>
              <a:buChar char="•"/>
            </a:pPr>
            <a:endParaRPr lang="en-US" sz="3000" dirty="0" smtClean="0">
              <a:latin typeface="Arial"/>
              <a:cs typeface="Arial"/>
            </a:endParaRPr>
          </a:p>
          <a:p>
            <a:pPr marL="355600"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lang="en-US" sz="2400" b="1" dirty="0" smtClean="0">
                <a:latin typeface="Arial"/>
                <a:cs typeface="Arial"/>
              </a:rPr>
              <a:t>Implement</a:t>
            </a:r>
            <a:r>
              <a:rPr lang="en-US" sz="2400" b="1" spc="-45" dirty="0" smtClean="0">
                <a:latin typeface="Arial"/>
                <a:cs typeface="Arial"/>
              </a:rPr>
              <a:t> </a:t>
            </a:r>
            <a:r>
              <a:rPr lang="en-US" sz="2400" b="1" dirty="0" smtClean="0">
                <a:latin typeface="Arial"/>
                <a:cs typeface="Arial"/>
              </a:rPr>
              <a:t>using</a:t>
            </a:r>
            <a:r>
              <a:rPr lang="en-US" sz="2400" b="1" spc="-35" dirty="0" smtClean="0">
                <a:latin typeface="Arial"/>
                <a:cs typeface="Arial"/>
              </a:rPr>
              <a:t> </a:t>
            </a:r>
            <a:r>
              <a:rPr lang="en-US" sz="2400" b="1" dirty="0" smtClean="0">
                <a:latin typeface="Arial"/>
                <a:cs typeface="Arial"/>
              </a:rPr>
              <a:t>priority</a:t>
            </a:r>
            <a:r>
              <a:rPr lang="en-US" sz="2400" b="1" spc="-45" dirty="0" smtClean="0">
                <a:latin typeface="Arial"/>
                <a:cs typeface="Arial"/>
              </a:rPr>
              <a:t> </a:t>
            </a:r>
            <a:r>
              <a:rPr lang="en-US" sz="2400" b="1" spc="-5" dirty="0" smtClean="0">
                <a:latin typeface="Arial"/>
                <a:cs typeface="Arial"/>
              </a:rPr>
              <a:t>queue</a:t>
            </a:r>
            <a:endParaRPr lang="en-US" sz="2400" dirty="0" smtClean="0">
              <a:latin typeface="Arial"/>
              <a:cs typeface="Arial"/>
            </a:endParaRPr>
          </a:p>
          <a:p>
            <a:pPr marL="393700" marR="55880">
              <a:spcBef>
                <a:spcPts val="100"/>
              </a:spcBef>
              <a:buClr>
                <a:srgbClr val="000099"/>
              </a:buClr>
              <a:buFont typeface="Symbol"/>
              <a:buChar char=""/>
              <a:tabLst>
                <a:tab pos="393065" algn="l"/>
                <a:tab pos="393700" algn="l"/>
              </a:tabLst>
            </a:pPr>
            <a:r>
              <a:rPr lang="en-US" b="1" spc="-5" dirty="0" smtClean="0">
                <a:latin typeface="Arial"/>
                <a:cs typeface="Arial"/>
              </a:rPr>
              <a:t>Expands the </a:t>
            </a:r>
            <a:r>
              <a:rPr lang="en-US" b="1" dirty="0" smtClean="0">
                <a:latin typeface="Arial"/>
                <a:cs typeface="Arial"/>
              </a:rPr>
              <a:t>node that </a:t>
            </a:r>
            <a:r>
              <a:rPr lang="en-US" b="1" i="1" spc="-5" dirty="0" smtClean="0">
                <a:solidFill>
                  <a:srgbClr val="0000FF"/>
                </a:solidFill>
                <a:latin typeface="Arial"/>
                <a:cs typeface="Arial"/>
              </a:rPr>
              <a:t>is </a:t>
            </a:r>
            <a:r>
              <a:rPr lang="en-US" b="1" i="1" dirty="0" smtClean="0">
                <a:solidFill>
                  <a:srgbClr val="0000FF"/>
                </a:solidFill>
                <a:latin typeface="Arial"/>
                <a:cs typeface="Arial"/>
              </a:rPr>
              <a:t>estimated </a:t>
            </a:r>
            <a:r>
              <a:rPr lang="en-US" b="1" dirty="0" smtClean="0">
                <a:latin typeface="Arial"/>
                <a:cs typeface="Arial"/>
              </a:rPr>
              <a:t>to </a:t>
            </a:r>
            <a:r>
              <a:rPr lang="en-US" b="1" spc="-5" dirty="0" smtClean="0">
                <a:latin typeface="Arial"/>
                <a:cs typeface="Arial"/>
              </a:rPr>
              <a:t>be closest </a:t>
            </a:r>
            <a:r>
              <a:rPr lang="en-US" b="1" spc="-660" dirty="0" smtClean="0">
                <a:latin typeface="Arial"/>
                <a:cs typeface="Arial"/>
              </a:rPr>
              <a:t> </a:t>
            </a:r>
            <a:r>
              <a:rPr lang="en-US" b="1" dirty="0" smtClean="0">
                <a:latin typeface="Arial"/>
                <a:cs typeface="Arial"/>
              </a:rPr>
              <a:t>to</a:t>
            </a:r>
            <a:r>
              <a:rPr lang="en-US" b="1" spc="-5" dirty="0" smtClean="0">
                <a:latin typeface="Arial"/>
                <a:cs typeface="Arial"/>
              </a:rPr>
              <a:t> goal</a:t>
            </a:r>
            <a:endParaRPr lang="en-US" dirty="0" smtClean="0">
              <a:latin typeface="Arial"/>
              <a:cs typeface="Arial"/>
            </a:endParaRPr>
          </a:p>
          <a:p>
            <a:pPr marL="393700">
              <a:spcBef>
                <a:spcPts val="575"/>
              </a:spcBef>
              <a:buClr>
                <a:srgbClr val="000099"/>
              </a:buClr>
              <a:buFont typeface="Symbol"/>
              <a:buChar char=""/>
              <a:tabLst>
                <a:tab pos="393065" algn="l"/>
                <a:tab pos="393700" algn="l"/>
              </a:tabLst>
            </a:pPr>
            <a:r>
              <a:rPr lang="en-US" b="1" spc="-5" dirty="0" smtClean="0">
                <a:latin typeface="Arial"/>
                <a:cs typeface="Arial"/>
              </a:rPr>
              <a:t>Completely</a:t>
            </a:r>
            <a:r>
              <a:rPr lang="en-US" b="1" spc="-15" dirty="0" smtClean="0">
                <a:latin typeface="Arial"/>
                <a:cs typeface="Arial"/>
              </a:rPr>
              <a:t> </a:t>
            </a:r>
            <a:r>
              <a:rPr lang="en-US" b="1" spc="-5" dirty="0" smtClean="0">
                <a:latin typeface="Arial"/>
                <a:cs typeface="Arial"/>
              </a:rPr>
              <a:t>ignores </a:t>
            </a:r>
            <a:r>
              <a:rPr lang="en-US" b="1" i="1" dirty="0" smtClean="0">
                <a:solidFill>
                  <a:srgbClr val="0000FF"/>
                </a:solidFill>
                <a:latin typeface="Arial"/>
                <a:cs typeface="Arial"/>
              </a:rPr>
              <a:t>g(n):</a:t>
            </a:r>
            <a:r>
              <a:rPr lang="en-US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b="1" spc="-5" dirty="0" smtClean="0">
                <a:latin typeface="Arial"/>
                <a:cs typeface="Arial"/>
              </a:rPr>
              <a:t>the</a:t>
            </a:r>
            <a:r>
              <a:rPr lang="en-US" b="1" spc="5" dirty="0" smtClean="0">
                <a:latin typeface="Arial"/>
                <a:cs typeface="Arial"/>
              </a:rPr>
              <a:t> </a:t>
            </a:r>
            <a:r>
              <a:rPr lang="en-US" b="1" spc="-5" dirty="0" smtClean="0">
                <a:latin typeface="Arial"/>
                <a:cs typeface="Arial"/>
              </a:rPr>
              <a:t>cost</a:t>
            </a:r>
            <a:r>
              <a:rPr lang="en-US" b="1" dirty="0" smtClean="0">
                <a:latin typeface="Arial"/>
                <a:cs typeface="Arial"/>
              </a:rPr>
              <a:t> to</a:t>
            </a:r>
            <a:r>
              <a:rPr lang="en-US" b="1" spc="-10" dirty="0" smtClean="0">
                <a:latin typeface="Arial"/>
                <a:cs typeface="Arial"/>
              </a:rPr>
              <a:t> </a:t>
            </a:r>
            <a:r>
              <a:rPr lang="en-US" b="1" dirty="0" smtClean="0">
                <a:latin typeface="Arial"/>
                <a:cs typeface="Arial"/>
              </a:rPr>
              <a:t>get to</a:t>
            </a:r>
            <a:r>
              <a:rPr lang="en-US" b="1" spc="-10" dirty="0" smtClean="0">
                <a:latin typeface="Arial"/>
                <a:cs typeface="Arial"/>
              </a:rPr>
              <a:t> </a:t>
            </a:r>
            <a:r>
              <a:rPr lang="en-US" b="1" i="1" dirty="0" smtClean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endParaRPr lang="en-US" dirty="0" smtClean="0">
              <a:latin typeface="Arial"/>
              <a:cs typeface="Arial"/>
            </a:endParaRPr>
          </a:p>
          <a:p>
            <a:pPr marL="393700">
              <a:spcBef>
                <a:spcPts val="555"/>
              </a:spcBef>
              <a:buClr>
                <a:srgbClr val="000099"/>
              </a:buClr>
              <a:buFont typeface="Symbol"/>
              <a:buChar char=""/>
              <a:tabLst>
                <a:tab pos="393065" algn="l"/>
                <a:tab pos="393700" algn="l"/>
              </a:tabLst>
            </a:pPr>
            <a:r>
              <a:rPr lang="en-US" b="1" spc="-5" dirty="0" smtClean="0">
                <a:latin typeface="Arial"/>
                <a:cs typeface="Arial"/>
              </a:rPr>
              <a:t>Here,</a:t>
            </a:r>
            <a:r>
              <a:rPr lang="en-US" b="1" spc="10" dirty="0" smtClean="0">
                <a:latin typeface="Arial"/>
                <a:cs typeface="Arial"/>
              </a:rPr>
              <a:t> </a:t>
            </a:r>
            <a:r>
              <a:rPr lang="en-US" b="1" i="1" spc="-5" dirty="0" smtClean="0">
                <a:latin typeface="Times New Roman"/>
                <a:cs typeface="Times New Roman"/>
              </a:rPr>
              <a:t>h(n)</a:t>
            </a:r>
            <a:r>
              <a:rPr lang="en-US" b="1" i="1" dirty="0" smtClean="0">
                <a:latin typeface="Times New Roman"/>
                <a:cs typeface="Times New Roman"/>
              </a:rPr>
              <a:t> =</a:t>
            </a:r>
            <a:r>
              <a:rPr lang="en-US" b="1" i="1" spc="5" dirty="0" smtClean="0">
                <a:latin typeface="Times New Roman"/>
                <a:cs typeface="Times New Roman"/>
              </a:rPr>
              <a:t> </a:t>
            </a:r>
            <a:r>
              <a:rPr lang="en-US" b="1" i="1" spc="-5" dirty="0" err="1" smtClean="0">
                <a:latin typeface="Times New Roman"/>
                <a:cs typeface="Times New Roman"/>
              </a:rPr>
              <a:t>h</a:t>
            </a:r>
            <a:r>
              <a:rPr lang="en-US" b="1" i="1" spc="-7" baseline="-20833" dirty="0" err="1" smtClean="0">
                <a:latin typeface="Times New Roman"/>
                <a:cs typeface="Times New Roman"/>
              </a:rPr>
              <a:t>SLD</a:t>
            </a:r>
            <a:r>
              <a:rPr lang="en-US" b="1" i="1" spc="-5" dirty="0" smtClean="0">
                <a:latin typeface="Times New Roman"/>
                <a:cs typeface="Times New Roman"/>
              </a:rPr>
              <a:t>(n)</a:t>
            </a:r>
            <a:r>
              <a:rPr lang="en-US" b="1" i="1" spc="75" dirty="0" smtClean="0">
                <a:latin typeface="Times New Roman"/>
                <a:cs typeface="Times New Roman"/>
              </a:rPr>
              <a:t> </a:t>
            </a:r>
            <a:r>
              <a:rPr lang="en-US" b="1" dirty="0" smtClean="0">
                <a:latin typeface="Arial"/>
                <a:cs typeface="Arial"/>
              </a:rPr>
              <a:t>=</a:t>
            </a:r>
            <a:r>
              <a:rPr lang="en-US" b="1" spc="-15" dirty="0" smtClean="0">
                <a:latin typeface="Arial"/>
                <a:cs typeface="Arial"/>
              </a:rPr>
              <a:t> </a:t>
            </a:r>
            <a:r>
              <a:rPr lang="en-US" b="1" dirty="0" smtClean="0">
                <a:latin typeface="Arial"/>
                <a:cs typeface="Arial"/>
              </a:rPr>
              <a:t>straight-line</a:t>
            </a:r>
            <a:r>
              <a:rPr lang="en-US" b="1" spc="-40" dirty="0" smtClean="0">
                <a:latin typeface="Arial"/>
                <a:cs typeface="Arial"/>
              </a:rPr>
              <a:t> </a:t>
            </a:r>
            <a:r>
              <a:rPr lang="en-US" b="1" spc="-5" dirty="0" smtClean="0">
                <a:latin typeface="Arial"/>
                <a:cs typeface="Arial"/>
              </a:rPr>
              <a:t>distance</a:t>
            </a:r>
            <a:r>
              <a:rPr lang="en-US" b="1" dirty="0" smtClean="0">
                <a:latin typeface="Arial"/>
                <a:cs typeface="Arial"/>
              </a:rPr>
              <a:t> </a:t>
            </a:r>
            <a:r>
              <a:rPr lang="en-US" b="1" spc="-5" dirty="0" smtClean="0">
                <a:latin typeface="Arial"/>
                <a:cs typeface="Arial"/>
              </a:rPr>
              <a:t>from </a:t>
            </a:r>
            <a:r>
              <a:rPr lang="en-US" b="1" i="1" dirty="0" smtClean="0">
                <a:solidFill>
                  <a:srgbClr val="0000FF"/>
                </a:solidFill>
                <a:latin typeface="Arial"/>
                <a:cs typeface="Arial"/>
              </a:rPr>
              <a:t>`</a:t>
            </a:r>
            <a:endParaRPr lang="en-US" dirty="0" smtClean="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25"/>
              </a:spcBef>
            </a:pPr>
            <a:r>
              <a:rPr lang="en-US" b="1" dirty="0" smtClean="0">
                <a:latin typeface="Arial"/>
                <a:cs typeface="Arial"/>
              </a:rPr>
              <a:t>to</a:t>
            </a:r>
            <a:r>
              <a:rPr lang="en-US" b="1" spc="-45" dirty="0" smtClean="0">
                <a:latin typeface="Arial"/>
                <a:cs typeface="Arial"/>
              </a:rPr>
              <a:t> </a:t>
            </a:r>
            <a:r>
              <a:rPr lang="en-US" b="1" spc="-5" dirty="0" smtClean="0">
                <a:latin typeface="Arial"/>
                <a:cs typeface="Arial"/>
              </a:rPr>
              <a:t>Bucharest</a:t>
            </a:r>
            <a:endParaRPr lang="en-US" dirty="0" smtClean="0">
              <a:latin typeface="Arial"/>
              <a:cs typeface="Arial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899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 smtClean="0"/>
              <a:t>Best</a:t>
            </a:r>
            <a:r>
              <a:rPr lang="en-US" spc="5" dirty="0" smtClean="0"/>
              <a:t> </a:t>
            </a:r>
            <a:r>
              <a:rPr lang="en-US" spc="-5" dirty="0" smtClean="0"/>
              <a:t>First</a:t>
            </a:r>
            <a:r>
              <a:rPr lang="en-US" spc="5" dirty="0" smtClean="0"/>
              <a:t> </a:t>
            </a:r>
            <a:r>
              <a:rPr lang="en-US" spc="-5" dirty="0" smtClean="0"/>
              <a:t>Search</a:t>
            </a:r>
            <a:r>
              <a:rPr lang="en-US" spc="10" dirty="0" smtClean="0"/>
              <a:t> </a:t>
            </a:r>
            <a:r>
              <a:rPr lang="en-US" spc="-5" dirty="0" smtClean="0"/>
              <a:t>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2300" indent="-609600">
              <a:lnSpc>
                <a:spcPct val="100000"/>
              </a:lnSpc>
              <a:spcBef>
                <a:spcPts val="675"/>
              </a:spcBef>
              <a:buClr>
                <a:srgbClr val="C3709A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lang="en-US" sz="2400" spc="-10" dirty="0" smtClean="0">
                <a:latin typeface="Verdana"/>
                <a:cs typeface="Verdana"/>
              </a:rPr>
              <a:t>initialize</a:t>
            </a:r>
            <a:r>
              <a:rPr lang="en-US" sz="2400" spc="70" dirty="0" smtClean="0">
                <a:latin typeface="Verdana"/>
                <a:cs typeface="Verdana"/>
              </a:rPr>
              <a:t> </a:t>
            </a:r>
            <a:r>
              <a:rPr lang="en-US" sz="2400" dirty="0" smtClean="0">
                <a:latin typeface="Verdana"/>
                <a:cs typeface="Verdana"/>
              </a:rPr>
              <a:t>the</a:t>
            </a:r>
            <a:r>
              <a:rPr lang="en-US" sz="2400" spc="5" dirty="0" smtClean="0">
                <a:latin typeface="Verdana"/>
                <a:cs typeface="Verdana"/>
              </a:rPr>
              <a:t> </a:t>
            </a:r>
            <a:r>
              <a:rPr lang="en-US" sz="2400" dirty="0" smtClean="0">
                <a:latin typeface="Verdana"/>
                <a:cs typeface="Verdana"/>
              </a:rPr>
              <a:t>Q</a:t>
            </a:r>
            <a:r>
              <a:rPr lang="en-US" sz="2400" spc="-30" dirty="0" smtClean="0">
                <a:latin typeface="Verdana"/>
                <a:cs typeface="Verdana"/>
              </a:rPr>
              <a:t> </a:t>
            </a:r>
            <a:r>
              <a:rPr lang="en-US" sz="2400" dirty="0" smtClean="0">
                <a:latin typeface="Verdana"/>
                <a:cs typeface="Verdana"/>
              </a:rPr>
              <a:t>with</a:t>
            </a:r>
            <a:r>
              <a:rPr lang="en-US" sz="2400" spc="10" dirty="0" smtClean="0">
                <a:latin typeface="Verdana"/>
                <a:cs typeface="Verdana"/>
              </a:rPr>
              <a:t> </a:t>
            </a:r>
            <a:r>
              <a:rPr lang="en-US" sz="2400" spc="5" dirty="0" smtClean="0">
                <a:latin typeface="Verdana"/>
                <a:cs typeface="Verdana"/>
              </a:rPr>
              <a:t>the</a:t>
            </a:r>
            <a:r>
              <a:rPr lang="en-US" sz="2400" dirty="0" smtClean="0">
                <a:latin typeface="Verdana"/>
                <a:cs typeface="Verdana"/>
              </a:rPr>
              <a:t> </a:t>
            </a:r>
            <a:r>
              <a:rPr lang="en-US" sz="2400" spc="-5" dirty="0" smtClean="0">
                <a:latin typeface="Verdana"/>
                <a:cs typeface="Verdana"/>
              </a:rPr>
              <a:t>starting</a:t>
            </a:r>
            <a:r>
              <a:rPr lang="en-US" sz="2400" spc="10" dirty="0" smtClean="0">
                <a:latin typeface="Verdana"/>
                <a:cs typeface="Verdana"/>
              </a:rPr>
              <a:t> </a:t>
            </a:r>
            <a:r>
              <a:rPr lang="en-US" sz="2400" spc="-5" dirty="0" smtClean="0">
                <a:latin typeface="Verdana"/>
                <a:cs typeface="Verdana"/>
              </a:rPr>
              <a:t>state</a:t>
            </a:r>
            <a:r>
              <a:rPr lang="en-US" sz="2400" spc="5" dirty="0" smtClean="0">
                <a:latin typeface="Verdana"/>
                <a:cs typeface="Verdana"/>
              </a:rPr>
              <a:t> </a:t>
            </a:r>
            <a:r>
              <a:rPr lang="en-US" sz="2400" dirty="0" smtClean="0">
                <a:latin typeface="Verdana"/>
                <a:cs typeface="Verdana"/>
              </a:rPr>
              <a:t>(node)</a:t>
            </a:r>
          </a:p>
          <a:p>
            <a:pPr marL="622300" indent="-609600">
              <a:lnSpc>
                <a:spcPct val="100000"/>
              </a:lnSpc>
              <a:spcBef>
                <a:spcPts val="575"/>
              </a:spcBef>
              <a:buClr>
                <a:srgbClr val="C3709A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lang="en-US" sz="2400" spc="-5" dirty="0" smtClean="0">
                <a:latin typeface="Verdana"/>
                <a:cs typeface="Verdana"/>
              </a:rPr>
              <a:t>while</a:t>
            </a:r>
            <a:r>
              <a:rPr lang="en-US" sz="2400" spc="15" dirty="0" smtClean="0">
                <a:latin typeface="Verdana"/>
                <a:cs typeface="Verdana"/>
              </a:rPr>
              <a:t> </a:t>
            </a:r>
            <a:r>
              <a:rPr lang="en-US" sz="2400" dirty="0" smtClean="0">
                <a:latin typeface="Verdana"/>
                <a:cs typeface="Verdana"/>
              </a:rPr>
              <a:t>Q</a:t>
            </a:r>
            <a:r>
              <a:rPr lang="en-US" sz="2400" spc="-10" dirty="0" smtClean="0">
                <a:latin typeface="Verdana"/>
                <a:cs typeface="Verdana"/>
              </a:rPr>
              <a:t> is</a:t>
            </a:r>
            <a:r>
              <a:rPr lang="en-US" sz="2400" dirty="0" smtClean="0">
                <a:latin typeface="Verdana"/>
                <a:cs typeface="Verdana"/>
              </a:rPr>
              <a:t> </a:t>
            </a:r>
            <a:r>
              <a:rPr lang="en-US" sz="2400" spc="-5" dirty="0" smtClean="0">
                <a:latin typeface="Verdana"/>
                <a:cs typeface="Verdana"/>
              </a:rPr>
              <a:t>not</a:t>
            </a:r>
            <a:r>
              <a:rPr lang="en-US" sz="2400" dirty="0" smtClean="0">
                <a:latin typeface="Verdana"/>
                <a:cs typeface="Verdana"/>
              </a:rPr>
              <a:t> empty, </a:t>
            </a:r>
            <a:r>
              <a:rPr lang="en-US" sz="2400" spc="5" dirty="0" smtClean="0">
                <a:latin typeface="Verdana"/>
                <a:cs typeface="Verdana"/>
              </a:rPr>
              <a:t>do</a:t>
            </a:r>
            <a:endParaRPr lang="en-US" sz="2400" dirty="0" smtClean="0">
              <a:latin typeface="Verdana"/>
              <a:cs typeface="Verdana"/>
            </a:endParaRPr>
          </a:p>
          <a:p>
            <a:pPr marL="1003300" lvl="1" indent="-534035">
              <a:lnSpc>
                <a:spcPct val="100000"/>
              </a:lnSpc>
              <a:spcBef>
                <a:spcPts val="475"/>
              </a:spcBef>
              <a:buClr>
                <a:srgbClr val="1385ED"/>
              </a:buClr>
              <a:buAutoNum type="arabicParenR"/>
              <a:tabLst>
                <a:tab pos="1002665" algn="l"/>
                <a:tab pos="1003935" algn="l"/>
              </a:tabLst>
            </a:pPr>
            <a:r>
              <a:rPr lang="en-US" sz="2000" spc="-5" dirty="0" smtClean="0">
                <a:latin typeface="Verdana"/>
                <a:cs typeface="Verdana"/>
              </a:rPr>
              <a:t>assign</a:t>
            </a:r>
            <a:r>
              <a:rPr lang="en-US" sz="2000" spc="-15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the</a:t>
            </a:r>
            <a:r>
              <a:rPr lang="en-US" sz="2000" spc="-20" dirty="0" smtClean="0">
                <a:latin typeface="Verdana"/>
                <a:cs typeface="Verdana"/>
              </a:rPr>
              <a:t> </a:t>
            </a:r>
            <a:r>
              <a:rPr lang="en-US" sz="2000" spc="-5" dirty="0" smtClean="0">
                <a:latin typeface="Verdana"/>
                <a:cs typeface="Verdana"/>
              </a:rPr>
              <a:t>first</a:t>
            </a:r>
            <a:r>
              <a:rPr lang="en-US" sz="2000" spc="-35" dirty="0" smtClean="0">
                <a:latin typeface="Verdana"/>
                <a:cs typeface="Verdana"/>
              </a:rPr>
              <a:t> </a:t>
            </a:r>
            <a:r>
              <a:rPr lang="en-US" sz="2000" spc="-5" dirty="0" smtClean="0">
                <a:latin typeface="Verdana"/>
                <a:cs typeface="Verdana"/>
              </a:rPr>
              <a:t>element</a:t>
            </a:r>
            <a:r>
              <a:rPr lang="en-US" sz="2000" spc="-15" dirty="0" smtClean="0">
                <a:latin typeface="Verdana"/>
                <a:cs typeface="Verdana"/>
              </a:rPr>
              <a:t> </a:t>
            </a:r>
            <a:r>
              <a:rPr lang="en-US" sz="2000" spc="-10" dirty="0" smtClean="0">
                <a:latin typeface="Verdana"/>
                <a:cs typeface="Verdana"/>
              </a:rPr>
              <a:t>of </a:t>
            </a:r>
            <a:r>
              <a:rPr lang="en-US" sz="2000" dirty="0" smtClean="0">
                <a:latin typeface="Verdana"/>
                <a:cs typeface="Verdana"/>
              </a:rPr>
              <a:t>Q </a:t>
            </a:r>
            <a:r>
              <a:rPr lang="en-US" sz="2000" spc="5" dirty="0" smtClean="0">
                <a:latin typeface="Verdana"/>
                <a:cs typeface="Verdana"/>
              </a:rPr>
              <a:t>to</a:t>
            </a:r>
            <a:r>
              <a:rPr lang="en-US" sz="2000" spc="-25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N</a:t>
            </a:r>
          </a:p>
          <a:p>
            <a:pPr marL="1003300" lvl="1" indent="-534035">
              <a:lnSpc>
                <a:spcPct val="100000"/>
              </a:lnSpc>
              <a:spcBef>
                <a:spcPts val="480"/>
              </a:spcBef>
              <a:buClr>
                <a:srgbClr val="1385ED"/>
              </a:buClr>
              <a:buAutoNum type="arabicParenR"/>
              <a:tabLst>
                <a:tab pos="1002665" algn="l"/>
                <a:tab pos="1003935" algn="l"/>
              </a:tabLst>
            </a:pPr>
            <a:r>
              <a:rPr lang="en-US" sz="2000" spc="-5" dirty="0" smtClean="0">
                <a:latin typeface="Verdana"/>
                <a:cs typeface="Verdana"/>
              </a:rPr>
              <a:t>if</a:t>
            </a:r>
            <a:r>
              <a:rPr lang="en-US" sz="2000" spc="-15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N</a:t>
            </a:r>
            <a:r>
              <a:rPr lang="en-US" sz="2000" spc="-5" dirty="0" smtClean="0">
                <a:latin typeface="Verdana"/>
                <a:cs typeface="Verdana"/>
              </a:rPr>
              <a:t> is</a:t>
            </a:r>
            <a:r>
              <a:rPr lang="en-US" sz="2000" spc="-10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the</a:t>
            </a:r>
            <a:r>
              <a:rPr lang="en-US" sz="2000" spc="-20" dirty="0" smtClean="0">
                <a:latin typeface="Verdana"/>
                <a:cs typeface="Verdana"/>
              </a:rPr>
              <a:t> </a:t>
            </a:r>
            <a:r>
              <a:rPr lang="en-US" sz="2000" spc="-5" dirty="0" smtClean="0">
                <a:latin typeface="Verdana"/>
                <a:cs typeface="Verdana"/>
              </a:rPr>
              <a:t>goal,</a:t>
            </a:r>
            <a:r>
              <a:rPr lang="en-US" sz="2000" spc="-20" dirty="0" smtClean="0">
                <a:latin typeface="Verdana"/>
                <a:cs typeface="Verdana"/>
              </a:rPr>
              <a:t> </a:t>
            </a:r>
            <a:r>
              <a:rPr lang="en-US" sz="2000" spc="-5" dirty="0" smtClean="0">
                <a:latin typeface="Verdana"/>
                <a:cs typeface="Verdana"/>
              </a:rPr>
              <a:t>return</a:t>
            </a:r>
            <a:r>
              <a:rPr lang="en-US" sz="2000" spc="-35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SUCCESS</a:t>
            </a:r>
          </a:p>
          <a:p>
            <a:pPr marL="1003300" lvl="1" indent="-534035">
              <a:lnSpc>
                <a:spcPct val="100000"/>
              </a:lnSpc>
              <a:spcBef>
                <a:spcPts val="475"/>
              </a:spcBef>
              <a:buClr>
                <a:srgbClr val="1385ED"/>
              </a:buClr>
              <a:buAutoNum type="arabicParenR"/>
              <a:tabLst>
                <a:tab pos="1002665" algn="l"/>
                <a:tab pos="1003935" algn="l"/>
              </a:tabLst>
            </a:pPr>
            <a:r>
              <a:rPr lang="en-US" sz="2000" spc="-5" dirty="0" smtClean="0">
                <a:latin typeface="Verdana"/>
                <a:cs typeface="Verdana"/>
              </a:rPr>
              <a:t>remove</a:t>
            </a:r>
            <a:r>
              <a:rPr lang="en-US" sz="2000" spc="-30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N</a:t>
            </a:r>
            <a:r>
              <a:rPr lang="en-US" sz="2000" spc="-15" dirty="0" smtClean="0">
                <a:latin typeface="Verdana"/>
                <a:cs typeface="Verdana"/>
              </a:rPr>
              <a:t> </a:t>
            </a:r>
            <a:r>
              <a:rPr lang="en-US" sz="2000" spc="-5" dirty="0" smtClean="0">
                <a:latin typeface="Verdana"/>
                <a:cs typeface="Verdana"/>
              </a:rPr>
              <a:t>from</a:t>
            </a:r>
            <a:r>
              <a:rPr lang="en-US" sz="2000" spc="-25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Q</a:t>
            </a:r>
          </a:p>
          <a:p>
            <a:pPr marL="1003300" lvl="1" indent="-534035">
              <a:lnSpc>
                <a:spcPct val="100000"/>
              </a:lnSpc>
              <a:spcBef>
                <a:spcPts val="480"/>
              </a:spcBef>
              <a:buClr>
                <a:srgbClr val="1385ED"/>
              </a:buClr>
              <a:buAutoNum type="arabicParenR"/>
              <a:tabLst>
                <a:tab pos="1002665" algn="l"/>
                <a:tab pos="1003935" algn="l"/>
              </a:tabLst>
            </a:pPr>
            <a:r>
              <a:rPr lang="en-US" sz="2000" spc="-5" dirty="0" smtClean="0">
                <a:latin typeface="Verdana"/>
                <a:cs typeface="Verdana"/>
              </a:rPr>
              <a:t>add</a:t>
            </a:r>
            <a:r>
              <a:rPr lang="en-US" sz="2000" dirty="0" smtClean="0">
                <a:latin typeface="Verdana"/>
                <a:cs typeface="Verdana"/>
              </a:rPr>
              <a:t> the</a:t>
            </a:r>
            <a:r>
              <a:rPr lang="en-US" sz="2000" spc="-40" dirty="0" smtClean="0">
                <a:latin typeface="Verdana"/>
                <a:cs typeface="Verdana"/>
              </a:rPr>
              <a:t> </a:t>
            </a:r>
            <a:r>
              <a:rPr lang="en-US" sz="2000" spc="-5" dirty="0" smtClean="0">
                <a:latin typeface="Verdana"/>
                <a:cs typeface="Verdana"/>
              </a:rPr>
              <a:t>children</a:t>
            </a:r>
            <a:r>
              <a:rPr lang="en-US" sz="2000" spc="-15" dirty="0" smtClean="0">
                <a:latin typeface="Verdana"/>
                <a:cs typeface="Verdana"/>
              </a:rPr>
              <a:t> </a:t>
            </a:r>
            <a:r>
              <a:rPr lang="en-US" sz="2000" spc="-10" dirty="0" smtClean="0">
                <a:latin typeface="Verdana"/>
                <a:cs typeface="Verdana"/>
              </a:rPr>
              <a:t>of</a:t>
            </a:r>
            <a:r>
              <a:rPr lang="en-US" sz="2000" spc="-15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N</a:t>
            </a:r>
            <a:r>
              <a:rPr lang="en-US" sz="2000" spc="-5" dirty="0" smtClean="0">
                <a:latin typeface="Verdana"/>
                <a:cs typeface="Verdana"/>
              </a:rPr>
              <a:t> </a:t>
            </a:r>
            <a:r>
              <a:rPr lang="en-US" sz="2000" spc="5" dirty="0" smtClean="0">
                <a:latin typeface="Verdana"/>
                <a:cs typeface="Verdana"/>
              </a:rPr>
              <a:t>to</a:t>
            </a:r>
            <a:r>
              <a:rPr lang="en-US" sz="2000" spc="-25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Q</a:t>
            </a:r>
          </a:p>
          <a:p>
            <a:pPr marL="1003300" lvl="1" indent="-534035">
              <a:lnSpc>
                <a:spcPct val="100000"/>
              </a:lnSpc>
              <a:spcBef>
                <a:spcPts val="480"/>
              </a:spcBef>
              <a:buClr>
                <a:srgbClr val="1385ED"/>
              </a:buClr>
              <a:buAutoNum type="arabicParenR"/>
              <a:tabLst>
                <a:tab pos="1002665" algn="l"/>
                <a:tab pos="1003935" algn="l"/>
              </a:tabLst>
            </a:pPr>
            <a:r>
              <a:rPr lang="en-US" sz="2000" spc="-5" dirty="0" smtClean="0">
                <a:latin typeface="Verdana"/>
                <a:cs typeface="Verdana"/>
              </a:rPr>
              <a:t>sort</a:t>
            </a:r>
            <a:r>
              <a:rPr lang="en-US" sz="2000" spc="-20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the</a:t>
            </a:r>
            <a:r>
              <a:rPr lang="en-US" sz="2000" spc="-40" dirty="0" smtClean="0">
                <a:latin typeface="Verdana"/>
                <a:cs typeface="Verdana"/>
              </a:rPr>
              <a:t> </a:t>
            </a:r>
            <a:r>
              <a:rPr lang="en-US" sz="2000" spc="-5" dirty="0" smtClean="0">
                <a:latin typeface="Verdana"/>
                <a:cs typeface="Verdana"/>
              </a:rPr>
              <a:t>entire</a:t>
            </a:r>
            <a:r>
              <a:rPr lang="en-US" sz="2000" spc="-20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Q</a:t>
            </a:r>
            <a:r>
              <a:rPr lang="en-US" sz="2000" spc="-5" dirty="0" smtClean="0">
                <a:latin typeface="Verdana"/>
                <a:cs typeface="Verdana"/>
              </a:rPr>
              <a:t> by</a:t>
            </a:r>
            <a:r>
              <a:rPr lang="en-US" sz="2000" spc="-20" dirty="0" smtClean="0">
                <a:latin typeface="Verdana"/>
                <a:cs typeface="Verdana"/>
              </a:rPr>
              <a:t> </a:t>
            </a:r>
            <a:r>
              <a:rPr lang="en-US" sz="2000" i="1" dirty="0" smtClean="0">
                <a:latin typeface="Verdana"/>
                <a:cs typeface="Verdana"/>
              </a:rPr>
              <a:t>f</a:t>
            </a:r>
            <a:r>
              <a:rPr lang="en-US" sz="2000" i="1" spc="-10" dirty="0" smtClean="0">
                <a:latin typeface="Verdana"/>
                <a:cs typeface="Verdana"/>
              </a:rPr>
              <a:t> </a:t>
            </a:r>
            <a:r>
              <a:rPr lang="en-US" sz="2000" dirty="0" smtClean="0">
                <a:latin typeface="Verdana"/>
                <a:cs typeface="Verdana"/>
              </a:rPr>
              <a:t>(</a:t>
            </a:r>
            <a:r>
              <a:rPr lang="en-US" sz="2000" i="1" dirty="0" smtClean="0">
                <a:latin typeface="Verdana"/>
                <a:cs typeface="Verdana"/>
              </a:rPr>
              <a:t>n</a:t>
            </a:r>
            <a:r>
              <a:rPr lang="en-US" sz="2000" dirty="0" smtClean="0">
                <a:latin typeface="Verdana"/>
                <a:cs typeface="Verdana"/>
              </a:rPr>
              <a:t>)</a:t>
            </a:r>
          </a:p>
          <a:p>
            <a:pPr marL="622300" indent="-609600">
              <a:lnSpc>
                <a:spcPct val="100000"/>
              </a:lnSpc>
              <a:spcBef>
                <a:spcPts val="585"/>
              </a:spcBef>
              <a:buClr>
                <a:srgbClr val="C3709A"/>
              </a:buClr>
              <a:buAutoNum type="arabicPeriod"/>
              <a:tabLst>
                <a:tab pos="621665" algn="l"/>
                <a:tab pos="622300" algn="l"/>
              </a:tabLst>
            </a:pPr>
            <a:r>
              <a:rPr lang="en-US" sz="2400" spc="-5" dirty="0" smtClean="0">
                <a:latin typeface="Verdana"/>
                <a:cs typeface="Verdana"/>
              </a:rPr>
              <a:t>return</a:t>
            </a:r>
            <a:r>
              <a:rPr lang="en-US" sz="2400" spc="-25" dirty="0" smtClean="0">
                <a:latin typeface="Verdana"/>
                <a:cs typeface="Verdana"/>
              </a:rPr>
              <a:t> </a:t>
            </a:r>
            <a:r>
              <a:rPr lang="en-US" sz="2400" spc="-5" dirty="0" smtClean="0">
                <a:latin typeface="Verdana"/>
                <a:cs typeface="Verdana"/>
              </a:rPr>
              <a:t>FAILURE</a:t>
            </a:r>
            <a:endParaRPr lang="en-US" sz="2400" dirty="0" smtClean="0">
              <a:latin typeface="Verdana"/>
              <a:cs typeface="Verdan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978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 smtClean="0"/>
              <a:t>Romania</a:t>
            </a:r>
            <a:r>
              <a:rPr lang="en-US" spc="15" dirty="0" smtClean="0"/>
              <a:t> </a:t>
            </a:r>
            <a:r>
              <a:rPr lang="en-US" dirty="0" smtClean="0"/>
              <a:t>Map</a:t>
            </a:r>
            <a:r>
              <a:rPr lang="en-US" spc="10" dirty="0" smtClean="0"/>
              <a:t> </a:t>
            </a:r>
            <a:r>
              <a:rPr lang="en-US" spc="-10" dirty="0" smtClean="0"/>
              <a:t>Example </a:t>
            </a:r>
            <a:r>
              <a:rPr lang="en-US" spc="-5" dirty="0" smtClean="0"/>
              <a:t>with</a:t>
            </a:r>
            <a:r>
              <a:rPr lang="en-US" spc="5" dirty="0" smtClean="0"/>
              <a:t> </a:t>
            </a:r>
            <a:r>
              <a:rPr lang="en-US" spc="-5" dirty="0" smtClean="0"/>
              <a:t>Costs</a:t>
            </a:r>
            <a:endParaRPr lang="en-US" dirty="0"/>
          </a:p>
        </p:txBody>
      </p:sp>
      <p:pic>
        <p:nvPicPr>
          <p:cNvPr id="4" name="object 2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1371600"/>
            <a:ext cx="8763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04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 smtClean="0"/>
              <a:t>h(n)</a:t>
            </a:r>
            <a:r>
              <a:rPr lang="en-US" altLang="en-US" dirty="0" smtClean="0"/>
              <a:t> = estimate of cost from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to </a:t>
            </a:r>
            <a:r>
              <a:rPr lang="en-US" altLang="en-US" i="1" dirty="0" smtClean="0"/>
              <a:t>goal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e.g., </a:t>
            </a:r>
            <a:r>
              <a:rPr lang="en-US" altLang="en-US" i="1" dirty="0" smtClean="0"/>
              <a:t>h(n)</a:t>
            </a:r>
            <a:r>
              <a:rPr lang="en-US" altLang="en-US" dirty="0" smtClean="0"/>
              <a:t> = straight-line distance from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to Bucharest</a:t>
            </a:r>
          </a:p>
          <a:p>
            <a:pPr lvl="1">
              <a:buNone/>
            </a:pPr>
            <a:endParaRPr lang="en-US" altLang="en-US" dirty="0" smtClean="0"/>
          </a:p>
          <a:p>
            <a:r>
              <a:rPr lang="en-US" altLang="en-US" dirty="0" smtClean="0"/>
              <a:t>Greedy best-first search expands the node that </a:t>
            </a:r>
            <a:r>
              <a:rPr lang="en-US" altLang="en-US" dirty="0" smtClean="0">
                <a:solidFill>
                  <a:srgbClr val="FF0000"/>
                </a:solidFill>
              </a:rPr>
              <a:t>appears</a:t>
            </a:r>
            <a:r>
              <a:rPr lang="en-US" altLang="en-US" dirty="0" smtClean="0"/>
              <a:t> to be closest to goal.</a:t>
            </a:r>
          </a:p>
          <a:p>
            <a:pPr lvl="1"/>
            <a:r>
              <a:rPr lang="en-US" altLang="en-US" i="1" dirty="0" smtClean="0"/>
              <a:t>Priority queue sort function = h(n)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03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Greedy best-first search example</a:t>
            </a:r>
          </a:p>
        </p:txBody>
      </p:sp>
      <p:pic>
        <p:nvPicPr>
          <p:cNvPr id="16387" name="Picture 4" descr="greedy-progress01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95400"/>
            <a:ext cx="623887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7" descr="romani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0"/>
            <a:ext cx="8229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966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4" descr="greedy-progress02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3058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Greedy best-first search example</a:t>
            </a:r>
          </a:p>
        </p:txBody>
      </p:sp>
      <p:pic>
        <p:nvPicPr>
          <p:cNvPr id="17412" name="Picture 5" descr="romani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33600"/>
            <a:ext cx="8763000" cy="471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413" name="Straight Connector 5"/>
          <p:cNvCxnSpPr>
            <a:cxnSpLocks noChangeShapeType="1"/>
          </p:cNvCxnSpPr>
          <p:nvPr/>
        </p:nvCxnSpPr>
        <p:spPr bwMode="auto">
          <a:xfrm>
            <a:off x="762000" y="3581400"/>
            <a:ext cx="1371600" cy="457200"/>
          </a:xfrm>
          <a:prstGeom prst="line">
            <a:avLst/>
          </a:prstGeom>
          <a:noFill/>
          <a:ln w="63500" cap="sq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5701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 descr="greedy-progress03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66800"/>
            <a:ext cx="80010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Greedy best-first search example</a:t>
            </a:r>
          </a:p>
        </p:txBody>
      </p:sp>
      <p:pic>
        <p:nvPicPr>
          <p:cNvPr id="18436" name="Picture 5" descr="romani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67000"/>
            <a:ext cx="8763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437" name="Straight Connector 4"/>
          <p:cNvCxnSpPr>
            <a:cxnSpLocks noChangeShapeType="1"/>
          </p:cNvCxnSpPr>
          <p:nvPr/>
        </p:nvCxnSpPr>
        <p:spPr bwMode="auto">
          <a:xfrm>
            <a:off x="685800" y="3886200"/>
            <a:ext cx="1447800" cy="457200"/>
          </a:xfrm>
          <a:prstGeom prst="line">
            <a:avLst/>
          </a:prstGeom>
          <a:noFill/>
          <a:ln w="63500" cap="sq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8" name="Straight Connector 6"/>
          <p:cNvCxnSpPr>
            <a:cxnSpLocks noChangeShapeType="1"/>
          </p:cNvCxnSpPr>
          <p:nvPr/>
        </p:nvCxnSpPr>
        <p:spPr bwMode="auto">
          <a:xfrm>
            <a:off x="2258961" y="4343400"/>
            <a:ext cx="1093839" cy="762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16759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 descr="greedy-progress04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784860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Greedy best-first search example</a:t>
            </a:r>
          </a:p>
        </p:txBody>
      </p:sp>
      <p:pic>
        <p:nvPicPr>
          <p:cNvPr id="19460" name="Picture 5" descr="romani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133725"/>
            <a:ext cx="8610600" cy="372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461" name="Straight Connector 4"/>
          <p:cNvCxnSpPr>
            <a:cxnSpLocks noChangeShapeType="1"/>
          </p:cNvCxnSpPr>
          <p:nvPr/>
        </p:nvCxnSpPr>
        <p:spPr bwMode="auto">
          <a:xfrm>
            <a:off x="685800" y="4267200"/>
            <a:ext cx="1524000" cy="419100"/>
          </a:xfrm>
          <a:prstGeom prst="line">
            <a:avLst/>
          </a:prstGeom>
          <a:noFill/>
          <a:ln w="63500" cap="sq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2" name="Straight Connector 5"/>
          <p:cNvCxnSpPr>
            <a:cxnSpLocks noChangeShapeType="1"/>
          </p:cNvCxnSpPr>
          <p:nvPr/>
        </p:nvCxnSpPr>
        <p:spPr bwMode="auto">
          <a:xfrm>
            <a:off x="2209800" y="4686300"/>
            <a:ext cx="1066800" cy="381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3" name="Straight Connector 7"/>
          <p:cNvCxnSpPr>
            <a:cxnSpLocks noChangeShapeType="1"/>
          </p:cNvCxnSpPr>
          <p:nvPr/>
        </p:nvCxnSpPr>
        <p:spPr bwMode="auto">
          <a:xfrm>
            <a:off x="3351571" y="4724400"/>
            <a:ext cx="1106129" cy="12954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825570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Optimal Path</a:t>
            </a:r>
          </a:p>
        </p:txBody>
      </p:sp>
      <p:pic>
        <p:nvPicPr>
          <p:cNvPr id="20483" name="Picture 5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7988"/>
            <a:ext cx="8610600" cy="4646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Line 11"/>
          <p:cNvSpPr>
            <a:spLocks noChangeShapeType="1"/>
          </p:cNvSpPr>
          <p:nvPr/>
        </p:nvSpPr>
        <p:spPr bwMode="auto">
          <a:xfrm>
            <a:off x="1035050" y="3011128"/>
            <a:ext cx="1784350" cy="513121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5" name="Line 12"/>
          <p:cNvSpPr>
            <a:spLocks noChangeShapeType="1"/>
          </p:cNvSpPr>
          <p:nvPr/>
        </p:nvSpPr>
        <p:spPr bwMode="auto">
          <a:xfrm>
            <a:off x="2838450" y="3479389"/>
            <a:ext cx="393700" cy="5969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6" name="Line 13"/>
          <p:cNvSpPr>
            <a:spLocks noChangeShapeType="1"/>
          </p:cNvSpPr>
          <p:nvPr/>
        </p:nvSpPr>
        <p:spPr bwMode="auto">
          <a:xfrm>
            <a:off x="3232150" y="4127499"/>
            <a:ext cx="1454150" cy="703263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87" name="Line 14"/>
          <p:cNvSpPr>
            <a:spLocks noChangeShapeType="1"/>
          </p:cNvSpPr>
          <p:nvPr/>
        </p:nvSpPr>
        <p:spPr bwMode="auto">
          <a:xfrm>
            <a:off x="4720713" y="4824949"/>
            <a:ext cx="1011238" cy="411163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0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/>
              <a:t>Properties of greedy best-first search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 typeface="Wingdings" charset="2"/>
              <a:buChar char="n"/>
              <a:defRPr/>
            </a:pPr>
            <a:r>
              <a:rPr lang="en-US" u="sng" dirty="0" smtClean="0">
                <a:solidFill>
                  <a:srgbClr val="CC0099"/>
                </a:solidFill>
              </a:rPr>
              <a:t>Complete?</a:t>
            </a:r>
            <a:r>
              <a:rPr lang="en-US" dirty="0" smtClean="0"/>
              <a:t> </a:t>
            </a:r>
          </a:p>
          <a:p>
            <a:pPr lvl="1" eaLnBrk="1" hangingPunct="1">
              <a:buFont typeface="Wingdings" charset="2"/>
              <a:buChar char="n"/>
              <a:defRPr/>
            </a:pPr>
            <a:r>
              <a:rPr lang="en-US" dirty="0" smtClean="0"/>
              <a:t>Tree version can get stuck in loops.</a:t>
            </a:r>
          </a:p>
          <a:p>
            <a:pPr lvl="1" eaLnBrk="1" hangingPunct="1">
              <a:buFont typeface="Wingdings" charset="2"/>
              <a:buChar char="n"/>
              <a:defRPr/>
            </a:pPr>
            <a:r>
              <a:rPr lang="en-US" dirty="0" smtClean="0"/>
              <a:t>Graph version is complete in finite spaces.</a:t>
            </a:r>
          </a:p>
          <a:p>
            <a:pPr eaLnBrk="1" hangingPunct="1">
              <a:buFont typeface="Wingdings" charset="2"/>
              <a:buChar char="n"/>
              <a:defRPr/>
            </a:pPr>
            <a:r>
              <a:rPr lang="en-US" u="sng" dirty="0" smtClean="0">
                <a:solidFill>
                  <a:srgbClr val="CC0099"/>
                </a:solidFill>
              </a:rPr>
              <a:t>Time?</a:t>
            </a:r>
            <a:r>
              <a:rPr lang="en-US" dirty="0" smtClean="0"/>
              <a:t> </a:t>
            </a:r>
            <a:r>
              <a:rPr lang="en-US" i="1" dirty="0" smtClean="0"/>
              <a:t>O(</a:t>
            </a:r>
            <a:r>
              <a:rPr lang="en-US" i="1" dirty="0" err="1" smtClean="0"/>
              <a:t>b</a:t>
            </a:r>
            <a:r>
              <a:rPr lang="en-US" i="1" baseline="30000" dirty="0" err="1" smtClean="0"/>
              <a:t>m</a:t>
            </a:r>
            <a:r>
              <a:rPr lang="en-US" i="1" dirty="0" smtClean="0"/>
              <a:t>)</a:t>
            </a:r>
            <a:endParaRPr lang="en-US" dirty="0" smtClean="0"/>
          </a:p>
          <a:p>
            <a:pPr lvl="1" eaLnBrk="1" hangingPunct="1">
              <a:buFont typeface="Wingdings" charset="2"/>
              <a:buChar char="n"/>
              <a:defRPr/>
            </a:pPr>
            <a:r>
              <a:rPr lang="en-US" dirty="0" smtClean="0"/>
              <a:t>A good heuristic can give </a:t>
            </a:r>
            <a:r>
              <a:rPr lang="en-US" b="1" dirty="0" smtClean="0"/>
              <a:t>dramatic</a:t>
            </a:r>
            <a:r>
              <a:rPr lang="en-US" dirty="0" smtClean="0"/>
              <a:t> improvement</a:t>
            </a:r>
          </a:p>
          <a:p>
            <a:pPr eaLnBrk="1" hangingPunct="1">
              <a:buFont typeface="Wingdings" charset="2"/>
              <a:buChar char="n"/>
              <a:defRPr/>
            </a:pPr>
            <a:r>
              <a:rPr lang="en-US" u="sng" dirty="0" smtClean="0">
                <a:solidFill>
                  <a:srgbClr val="CC0099"/>
                </a:solidFill>
              </a:rPr>
              <a:t>Space?</a:t>
            </a:r>
            <a:r>
              <a:rPr lang="en-US" dirty="0" smtClean="0"/>
              <a:t> </a:t>
            </a:r>
            <a:r>
              <a:rPr lang="en-US" i="1" dirty="0" smtClean="0"/>
              <a:t>O(</a:t>
            </a:r>
            <a:r>
              <a:rPr lang="en-US" i="1" dirty="0" err="1" smtClean="0"/>
              <a:t>b</a:t>
            </a:r>
            <a:r>
              <a:rPr lang="en-US" i="1" baseline="30000" dirty="0" err="1" smtClean="0"/>
              <a:t>m</a:t>
            </a:r>
            <a:r>
              <a:rPr lang="en-US" i="1" dirty="0" smtClean="0"/>
              <a:t>) </a:t>
            </a:r>
            <a:endParaRPr lang="en-US" dirty="0" smtClean="0"/>
          </a:p>
          <a:p>
            <a:pPr lvl="1" eaLnBrk="1" hangingPunct="1">
              <a:buFont typeface="Wingdings" charset="2"/>
              <a:buChar char="n"/>
              <a:defRPr/>
            </a:pPr>
            <a:r>
              <a:rPr lang="en-US" dirty="0" smtClean="0"/>
              <a:t>Keeps all nodes in memory</a:t>
            </a:r>
          </a:p>
          <a:p>
            <a:pPr eaLnBrk="1" hangingPunct="1">
              <a:buFont typeface="Wingdings" charset="2"/>
              <a:buChar char="n"/>
              <a:defRPr/>
            </a:pPr>
            <a:r>
              <a:rPr lang="en-US" u="sng" dirty="0" smtClean="0">
                <a:solidFill>
                  <a:srgbClr val="CC0099"/>
                </a:solidFill>
              </a:rPr>
              <a:t>Optimal?</a:t>
            </a:r>
            <a:r>
              <a:rPr lang="en-US" dirty="0" smtClean="0"/>
              <a:t> No</a:t>
            </a:r>
          </a:p>
          <a:p>
            <a:pPr eaLnBrk="1" hangingPunct="1">
              <a:buFont typeface="Wingdings" charset="2"/>
              <a:buNone/>
              <a:defRPr/>
            </a:pPr>
            <a:r>
              <a:rPr lang="en-US" dirty="0" smtClean="0"/>
              <a:t>   </a:t>
            </a:r>
            <a:r>
              <a:rPr lang="en-US" sz="2800" dirty="0" smtClean="0"/>
              <a:t>e.g., Arad </a:t>
            </a:r>
            <a:r>
              <a:rPr lang="en-US" sz="2800" dirty="0" smtClean="0">
                <a:sym typeface="Wingdings" charset="2"/>
              </a:rPr>
              <a:t> Sibiu  </a:t>
            </a:r>
            <a:r>
              <a:rPr lang="en-US" sz="2800" dirty="0" err="1" smtClean="0">
                <a:sym typeface="Wingdings" charset="2"/>
              </a:rPr>
              <a:t>Rimnicu</a:t>
            </a:r>
            <a:r>
              <a:rPr lang="en-US" sz="2800" dirty="0" smtClean="0">
                <a:sym typeface="Wingdings" charset="2"/>
              </a:rPr>
              <a:t> </a:t>
            </a:r>
            <a:r>
              <a:rPr lang="en-US" sz="2800" dirty="0" err="1" smtClean="0">
                <a:sym typeface="Wingdings" charset="2"/>
              </a:rPr>
              <a:t>Vilcea</a:t>
            </a:r>
            <a:r>
              <a:rPr lang="en-US" sz="2800" dirty="0" smtClean="0">
                <a:sym typeface="Wingdings" charset="2"/>
              </a:rPr>
              <a:t>  Pitesti  Bucharest is shorter!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03535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Properties of greedy best-first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307"/>
            <a:ext cx="8229600" cy="4525963"/>
          </a:xfrm>
        </p:spPr>
        <p:txBody>
          <a:bodyPr>
            <a:normAutofit/>
          </a:bodyPr>
          <a:lstStyle/>
          <a:p>
            <a:pPr marL="355600">
              <a:spcBef>
                <a:spcPts val="675"/>
              </a:spcBef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lang="en-US" sz="2000" b="1" i="1" u="sng" dirty="0" smtClean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Optimal?</a:t>
            </a:r>
            <a:endParaRPr lang="en-US" sz="2000" dirty="0" smtClean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lr>
                <a:srgbClr val="000099"/>
              </a:buClr>
              <a:buChar char="•"/>
              <a:tabLst>
                <a:tab pos="756285" algn="l"/>
                <a:tab pos="756920" algn="l"/>
              </a:tabLst>
            </a:pPr>
            <a:r>
              <a:rPr lang="en-US" sz="1800" dirty="0" smtClean="0">
                <a:latin typeface="Arial"/>
                <a:cs typeface="Arial"/>
              </a:rPr>
              <a:t>No!</a:t>
            </a:r>
          </a:p>
          <a:p>
            <a:pPr marL="1155700" lvl="2" indent="-229870">
              <a:lnSpc>
                <a:spcPct val="100000"/>
              </a:lnSpc>
              <a:spcBef>
                <a:spcPts val="590"/>
              </a:spcBef>
              <a:buClr>
                <a:srgbClr val="000099"/>
              </a:buClr>
              <a:buChar char="—"/>
              <a:tabLst>
                <a:tab pos="1156335" algn="l"/>
              </a:tabLst>
            </a:pPr>
            <a:r>
              <a:rPr lang="en-US" sz="1400" spc="-5" dirty="0" smtClean="0">
                <a:latin typeface="Arial"/>
                <a:cs typeface="Arial"/>
              </a:rPr>
              <a:t>Found:</a:t>
            </a:r>
            <a:r>
              <a:rPr lang="en-US" sz="1400" spc="10" dirty="0" smtClean="0">
                <a:latin typeface="Arial"/>
                <a:cs typeface="Arial"/>
              </a:rPr>
              <a:t> </a:t>
            </a:r>
            <a:r>
              <a:rPr lang="en-US" sz="1400" i="1" spc="-5" dirty="0" smtClean="0">
                <a:solidFill>
                  <a:srgbClr val="0000FF"/>
                </a:solidFill>
                <a:latin typeface="Arial"/>
                <a:cs typeface="Arial"/>
              </a:rPr>
              <a:t>Arad</a:t>
            </a:r>
            <a:r>
              <a:rPr lang="en-US" sz="1400" i="1" spc="1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600" i="1" spc="-55" dirty="0" smtClean="0">
                <a:solidFill>
                  <a:srgbClr val="0000FF"/>
                </a:solidFill>
                <a:latin typeface="Wingdings"/>
                <a:cs typeface="Wingdings"/>
              </a:rPr>
              <a:t></a:t>
            </a:r>
            <a:r>
              <a:rPr lang="en-US" sz="1600" i="1" spc="45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400" i="1" spc="-5" dirty="0" smtClean="0">
                <a:solidFill>
                  <a:srgbClr val="0000FF"/>
                </a:solidFill>
                <a:latin typeface="Arial"/>
                <a:cs typeface="Arial"/>
              </a:rPr>
              <a:t>Sibiu</a:t>
            </a:r>
            <a:r>
              <a:rPr lang="en-US" sz="1400" i="1" spc="-2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600" i="1" spc="-55" dirty="0" smtClean="0">
                <a:solidFill>
                  <a:srgbClr val="0000FF"/>
                </a:solidFill>
                <a:latin typeface="Wingdings"/>
                <a:cs typeface="Wingdings"/>
              </a:rPr>
              <a:t></a:t>
            </a:r>
            <a:r>
              <a:rPr lang="en-US" sz="1600" i="1" spc="45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400" i="1" spc="-5" dirty="0" err="1" smtClean="0">
                <a:solidFill>
                  <a:srgbClr val="0000FF"/>
                </a:solidFill>
                <a:latin typeface="Arial"/>
                <a:cs typeface="Arial"/>
              </a:rPr>
              <a:t>Fagaras</a:t>
            </a:r>
            <a:r>
              <a:rPr lang="en-US" sz="1400" i="1" spc="1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600" i="1" spc="-55" dirty="0" smtClean="0">
                <a:solidFill>
                  <a:srgbClr val="0000FF"/>
                </a:solidFill>
                <a:latin typeface="Wingdings"/>
                <a:cs typeface="Wingdings"/>
              </a:rPr>
              <a:t></a:t>
            </a:r>
            <a:r>
              <a:rPr lang="en-US" sz="1600" i="1" spc="30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400" i="1" spc="-5" dirty="0" smtClean="0">
                <a:solidFill>
                  <a:srgbClr val="0000FF"/>
                </a:solidFill>
                <a:latin typeface="Arial"/>
                <a:cs typeface="Arial"/>
              </a:rPr>
              <a:t>Bucharest</a:t>
            </a:r>
            <a:r>
              <a:rPr lang="en-US" sz="1400" i="1" spc="1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400" i="1" spc="-5" dirty="0" smtClean="0">
                <a:solidFill>
                  <a:srgbClr val="0000FF"/>
                </a:solidFill>
                <a:latin typeface="Arial"/>
                <a:cs typeface="Arial"/>
              </a:rPr>
              <a:t>(450km)</a:t>
            </a:r>
            <a:endParaRPr lang="en-US" sz="1400" dirty="0" smtClean="0">
              <a:latin typeface="Arial"/>
              <a:cs typeface="Arial"/>
            </a:endParaRPr>
          </a:p>
          <a:p>
            <a:pPr marL="1155700" lvl="2" indent="-229870">
              <a:lnSpc>
                <a:spcPct val="100000"/>
              </a:lnSpc>
              <a:spcBef>
                <a:spcPts val="465"/>
              </a:spcBef>
              <a:buClr>
                <a:srgbClr val="000099"/>
              </a:buClr>
              <a:buChar char="—"/>
              <a:tabLst>
                <a:tab pos="1156335" algn="l"/>
              </a:tabLst>
            </a:pPr>
            <a:r>
              <a:rPr lang="en-US" sz="1400" spc="-5" dirty="0" smtClean="0">
                <a:latin typeface="Arial"/>
                <a:cs typeface="Arial"/>
              </a:rPr>
              <a:t>Shorter:</a:t>
            </a:r>
            <a:r>
              <a:rPr lang="en-US" sz="1400" spc="25" dirty="0" smtClean="0">
                <a:latin typeface="Arial"/>
                <a:cs typeface="Arial"/>
              </a:rPr>
              <a:t> </a:t>
            </a:r>
            <a:r>
              <a:rPr lang="en-US" sz="1400" i="1" spc="-5" dirty="0" smtClean="0">
                <a:solidFill>
                  <a:srgbClr val="0000FF"/>
                </a:solidFill>
                <a:latin typeface="Arial"/>
                <a:cs typeface="Arial"/>
              </a:rPr>
              <a:t>Arad</a:t>
            </a:r>
            <a:r>
              <a:rPr lang="en-US" sz="1400" i="1" spc="1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600" i="1" spc="-55" dirty="0" smtClean="0">
                <a:solidFill>
                  <a:srgbClr val="0000FF"/>
                </a:solidFill>
                <a:latin typeface="Wingdings"/>
                <a:cs typeface="Wingdings"/>
              </a:rPr>
              <a:t></a:t>
            </a:r>
            <a:r>
              <a:rPr lang="en-US" sz="1600" i="1" spc="45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400" i="1" spc="-5" dirty="0" smtClean="0">
                <a:solidFill>
                  <a:srgbClr val="0000FF"/>
                </a:solidFill>
                <a:latin typeface="Arial"/>
                <a:cs typeface="Arial"/>
              </a:rPr>
              <a:t>Sibiu</a:t>
            </a:r>
            <a:r>
              <a:rPr lang="en-US" sz="1400" i="1" spc="-2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600" i="1" spc="-55" dirty="0" smtClean="0">
                <a:solidFill>
                  <a:srgbClr val="0000FF"/>
                </a:solidFill>
                <a:latin typeface="Wingdings"/>
                <a:cs typeface="Wingdings"/>
              </a:rPr>
              <a:t></a:t>
            </a:r>
            <a:r>
              <a:rPr lang="en-US" sz="1600" i="1" spc="45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400" i="1" spc="-5" dirty="0" err="1" smtClean="0">
                <a:solidFill>
                  <a:srgbClr val="0000FF"/>
                </a:solidFill>
                <a:latin typeface="Arial"/>
                <a:cs typeface="Arial"/>
              </a:rPr>
              <a:t>Rimnicu</a:t>
            </a:r>
            <a:r>
              <a:rPr lang="en-US" sz="14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400" i="1" spc="-5" dirty="0" err="1" smtClean="0">
                <a:solidFill>
                  <a:srgbClr val="0000FF"/>
                </a:solidFill>
                <a:latin typeface="Arial"/>
                <a:cs typeface="Arial"/>
              </a:rPr>
              <a:t>Vilcea</a:t>
            </a:r>
            <a:r>
              <a:rPr lang="en-US" sz="1400" i="1" spc="-1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600" i="1" spc="-55" dirty="0" smtClean="0">
                <a:solidFill>
                  <a:srgbClr val="0000FF"/>
                </a:solidFill>
                <a:latin typeface="Wingdings"/>
                <a:cs typeface="Wingdings"/>
              </a:rPr>
              <a:t></a:t>
            </a:r>
            <a:r>
              <a:rPr lang="en-US" sz="1600" i="1" spc="495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400" i="1" spc="-10" dirty="0" smtClean="0">
                <a:solidFill>
                  <a:srgbClr val="0000FF"/>
                </a:solidFill>
                <a:latin typeface="Arial"/>
                <a:cs typeface="Arial"/>
              </a:rPr>
              <a:t>Pitesti</a:t>
            </a:r>
            <a:r>
              <a:rPr lang="en-US" sz="1600" i="1" spc="-10" dirty="0" smtClean="0">
                <a:solidFill>
                  <a:srgbClr val="0000FF"/>
                </a:solidFill>
                <a:latin typeface="Wingdings"/>
                <a:cs typeface="Wingdings"/>
              </a:rPr>
              <a:t></a:t>
            </a:r>
            <a:r>
              <a:rPr lang="en-US" sz="1600" i="1" spc="20" dirty="0" smtClean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1400" i="1" spc="-5" dirty="0" smtClean="0">
                <a:solidFill>
                  <a:srgbClr val="0000FF"/>
                </a:solidFill>
                <a:latin typeface="Arial"/>
                <a:cs typeface="Arial"/>
              </a:rPr>
              <a:t>Bucharest</a:t>
            </a:r>
            <a:r>
              <a:rPr lang="en-US" sz="1400" i="1" spc="7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en-US" sz="1600" i="1" spc="-5" dirty="0" smtClean="0">
                <a:solidFill>
                  <a:srgbClr val="0000FF"/>
                </a:solidFill>
                <a:latin typeface="Arial"/>
                <a:cs typeface="Arial"/>
              </a:rPr>
              <a:t>(418km)</a:t>
            </a:r>
          </a:p>
          <a:p>
            <a:pPr marL="355600">
              <a:spcBef>
                <a:spcPts val="590"/>
              </a:spcBef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lang="en-US" sz="1800" b="1" i="1" u="sng" dirty="0" smtClean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Complete?</a:t>
            </a:r>
            <a:endParaRPr lang="en-US" sz="1800" dirty="0" smtClean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9"/>
              </a:spcBef>
              <a:buClr>
                <a:srgbClr val="000099"/>
              </a:buClr>
              <a:buChar char="•"/>
              <a:tabLst>
                <a:tab pos="756285" algn="l"/>
                <a:tab pos="756920" algn="l"/>
              </a:tabLst>
            </a:pPr>
            <a:r>
              <a:rPr lang="en-US" sz="1600" spc="-5" dirty="0" smtClean="0">
                <a:latin typeface="Arial"/>
                <a:cs typeface="Arial"/>
              </a:rPr>
              <a:t>No</a:t>
            </a:r>
            <a:r>
              <a:rPr lang="en-US" sz="1600" spc="-15" dirty="0" smtClean="0">
                <a:latin typeface="Arial"/>
                <a:cs typeface="Arial"/>
              </a:rPr>
              <a:t> </a:t>
            </a:r>
            <a:r>
              <a:rPr lang="en-US" sz="1600" dirty="0" smtClean="0">
                <a:latin typeface="Arial"/>
                <a:cs typeface="Arial"/>
              </a:rPr>
              <a:t>–</a:t>
            </a:r>
            <a:r>
              <a:rPr lang="en-US" sz="1600" spc="-10" dirty="0" smtClean="0">
                <a:latin typeface="Arial"/>
                <a:cs typeface="Arial"/>
              </a:rPr>
              <a:t> </a:t>
            </a:r>
            <a:r>
              <a:rPr lang="en-US" sz="1600" spc="-5" dirty="0" smtClean="0">
                <a:latin typeface="Arial"/>
                <a:cs typeface="Arial"/>
              </a:rPr>
              <a:t>can </a:t>
            </a:r>
            <a:r>
              <a:rPr lang="en-US" sz="1600" spc="-10" dirty="0" smtClean="0">
                <a:latin typeface="Arial"/>
                <a:cs typeface="Arial"/>
              </a:rPr>
              <a:t>get</a:t>
            </a:r>
            <a:r>
              <a:rPr lang="en-US" sz="1600" spc="-5" dirty="0" smtClean="0">
                <a:latin typeface="Arial"/>
                <a:cs typeface="Arial"/>
              </a:rPr>
              <a:t> stuck</a:t>
            </a:r>
            <a:r>
              <a:rPr lang="en-US" sz="1600" spc="-20" dirty="0" smtClean="0">
                <a:latin typeface="Arial"/>
                <a:cs typeface="Arial"/>
              </a:rPr>
              <a:t> </a:t>
            </a:r>
            <a:r>
              <a:rPr lang="en-US" sz="1600" dirty="0" smtClean="0">
                <a:latin typeface="Arial"/>
                <a:cs typeface="Arial"/>
              </a:rPr>
              <a:t>in</a:t>
            </a:r>
            <a:r>
              <a:rPr lang="en-US" sz="1600" spc="-5" dirty="0" smtClean="0">
                <a:latin typeface="Arial"/>
                <a:cs typeface="Arial"/>
              </a:rPr>
              <a:t> loops,</a:t>
            </a:r>
            <a:endParaRPr lang="en-US" sz="1600" dirty="0" smtClean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Clr>
                <a:srgbClr val="000099"/>
              </a:buClr>
              <a:buChar char="•"/>
              <a:tabLst>
                <a:tab pos="756285" algn="l"/>
                <a:tab pos="756920" algn="l"/>
              </a:tabLst>
            </a:pPr>
            <a:r>
              <a:rPr lang="en-US" sz="1600" spc="-5" dirty="0" smtClean="0">
                <a:latin typeface="Arial"/>
                <a:cs typeface="Arial"/>
              </a:rPr>
              <a:t>e.g.,</a:t>
            </a:r>
            <a:r>
              <a:rPr lang="en-US" sz="1600" spc="-15" dirty="0" smtClean="0">
                <a:latin typeface="Arial"/>
                <a:cs typeface="Arial"/>
              </a:rPr>
              <a:t> </a:t>
            </a:r>
            <a:r>
              <a:rPr lang="en-US" sz="1600" dirty="0" smtClean="0">
                <a:latin typeface="Arial"/>
                <a:cs typeface="Arial"/>
              </a:rPr>
              <a:t>Iasi</a:t>
            </a:r>
            <a:r>
              <a:rPr lang="en-US" sz="1600" spc="-5" dirty="0" smtClean="0">
                <a:latin typeface="Arial"/>
                <a:cs typeface="Arial"/>
              </a:rPr>
              <a:t> </a:t>
            </a:r>
            <a:r>
              <a:rPr lang="en-US" sz="1600" dirty="0" smtClean="0">
                <a:latin typeface="Wingdings"/>
                <a:cs typeface="Wingdings"/>
              </a:rPr>
              <a:t></a:t>
            </a:r>
            <a:r>
              <a:rPr lang="en-US" sz="1600" spc="45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err="1" smtClean="0">
                <a:latin typeface="Arial"/>
                <a:cs typeface="Arial"/>
              </a:rPr>
              <a:t>Neamt</a:t>
            </a:r>
            <a:r>
              <a:rPr lang="en-US" sz="1600" spc="-5" dirty="0" smtClean="0">
                <a:latin typeface="Arial"/>
                <a:cs typeface="Arial"/>
              </a:rPr>
              <a:t> </a:t>
            </a:r>
            <a:r>
              <a:rPr lang="en-US" sz="1600" dirty="0" smtClean="0">
                <a:latin typeface="Wingdings"/>
                <a:cs typeface="Wingdings"/>
              </a:rPr>
              <a:t></a:t>
            </a:r>
            <a:r>
              <a:rPr lang="en-US" sz="1600" spc="45" dirty="0" smtClean="0">
                <a:latin typeface="Times New Roman"/>
                <a:cs typeface="Times New Roman"/>
              </a:rPr>
              <a:t> </a:t>
            </a:r>
            <a:r>
              <a:rPr lang="en-US" sz="1600" dirty="0" smtClean="0">
                <a:latin typeface="Arial"/>
                <a:cs typeface="Arial"/>
              </a:rPr>
              <a:t>Iasi</a:t>
            </a:r>
            <a:r>
              <a:rPr lang="en-US" sz="1600" spc="-15" dirty="0" smtClean="0">
                <a:latin typeface="Arial"/>
                <a:cs typeface="Arial"/>
              </a:rPr>
              <a:t> </a:t>
            </a:r>
            <a:r>
              <a:rPr lang="en-US" sz="1600" dirty="0" smtClean="0">
                <a:latin typeface="Wingdings"/>
                <a:cs typeface="Wingdings"/>
              </a:rPr>
              <a:t></a:t>
            </a:r>
            <a:r>
              <a:rPr lang="en-US" sz="1600" spc="35" dirty="0" smtClean="0">
                <a:latin typeface="Times New Roman"/>
                <a:cs typeface="Times New Roman"/>
              </a:rPr>
              <a:t> </a:t>
            </a:r>
            <a:r>
              <a:rPr lang="en-US" sz="1600" spc="-5" dirty="0" err="1" smtClean="0">
                <a:latin typeface="Arial"/>
                <a:cs typeface="Arial"/>
              </a:rPr>
              <a:t>Neamt</a:t>
            </a:r>
            <a:r>
              <a:rPr lang="en-US" sz="1600" spc="5" dirty="0" smtClean="0">
                <a:latin typeface="Arial"/>
                <a:cs typeface="Arial"/>
              </a:rPr>
              <a:t> </a:t>
            </a:r>
            <a:r>
              <a:rPr lang="en-US" sz="1600" dirty="0" smtClean="0">
                <a:latin typeface="Wingdings"/>
                <a:cs typeface="Wingdings"/>
              </a:rPr>
              <a:t></a:t>
            </a:r>
            <a:endParaRPr lang="en-US" sz="1600" i="1" spc="-5" dirty="0" smtClean="0">
              <a:solidFill>
                <a:srgbClr val="0000FF"/>
              </a:solidFill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5800" y="3429000"/>
            <a:ext cx="8001000" cy="3352800"/>
            <a:chOff x="1752726" y="2627421"/>
            <a:chExt cx="6459220" cy="35890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2726" y="2627421"/>
              <a:ext cx="6458931" cy="35889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13224" y="3131184"/>
              <a:ext cx="2631440" cy="833119"/>
            </a:xfrm>
            <a:custGeom>
              <a:avLst/>
              <a:gdLst/>
              <a:ahLst/>
              <a:cxnLst/>
              <a:rect l="l" t="t" r="r" b="b"/>
              <a:pathLst>
                <a:path w="2631440" h="833120">
                  <a:moveTo>
                    <a:pt x="173736" y="657987"/>
                  </a:moveTo>
                  <a:lnTo>
                    <a:pt x="115874" y="658672"/>
                  </a:lnTo>
                  <a:lnTo>
                    <a:pt x="111760" y="297434"/>
                  </a:lnTo>
                  <a:lnTo>
                    <a:pt x="53848" y="298196"/>
                  </a:lnTo>
                  <a:lnTo>
                    <a:pt x="57950" y="659345"/>
                  </a:lnTo>
                  <a:lnTo>
                    <a:pt x="0" y="660019"/>
                  </a:lnTo>
                  <a:lnTo>
                    <a:pt x="88900" y="832739"/>
                  </a:lnTo>
                  <a:lnTo>
                    <a:pt x="158991" y="688340"/>
                  </a:lnTo>
                  <a:lnTo>
                    <a:pt x="173736" y="657987"/>
                  </a:lnTo>
                  <a:close/>
                </a:path>
                <a:path w="2631440" h="833120">
                  <a:moveTo>
                    <a:pt x="2631059" y="46990"/>
                  </a:moveTo>
                  <a:lnTo>
                    <a:pt x="2597277" y="0"/>
                  </a:lnTo>
                  <a:lnTo>
                    <a:pt x="2357259" y="172821"/>
                  </a:lnTo>
                  <a:lnTo>
                    <a:pt x="2323465" y="125857"/>
                  </a:lnTo>
                  <a:lnTo>
                    <a:pt x="2233168" y="297815"/>
                  </a:lnTo>
                  <a:lnTo>
                    <a:pt x="2424938" y="266827"/>
                  </a:lnTo>
                  <a:lnTo>
                    <a:pt x="2403271" y="236728"/>
                  </a:lnTo>
                  <a:lnTo>
                    <a:pt x="2391067" y="219786"/>
                  </a:lnTo>
                  <a:lnTo>
                    <a:pt x="2631059" y="4699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3411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</a:t>
            </a:r>
            <a:r>
              <a:rPr lang="en-US" altLang="en-US" baseline="30000" smtClean="0"/>
              <a:t>*</a:t>
            </a:r>
            <a:r>
              <a:rPr lang="en-US" altLang="en-US" smtClean="0"/>
              <a:t> search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Idea: avoid paths that are already expensive</a:t>
            </a:r>
          </a:p>
          <a:p>
            <a:pPr lvl="1" eaLnBrk="1" hangingPunct="1"/>
            <a:r>
              <a:rPr lang="en-US" altLang="en-US" sz="2400" smtClean="0">
                <a:solidFill>
                  <a:srgbClr val="FF0000"/>
                </a:solidFill>
              </a:rPr>
              <a:t>Generally the preferred simple heuristic search</a:t>
            </a:r>
          </a:p>
          <a:p>
            <a:pPr lvl="1" eaLnBrk="1" hangingPunct="1"/>
            <a:r>
              <a:rPr lang="en-US" altLang="en-US" sz="2400" smtClean="0"/>
              <a:t>Optimal if heuristic is: admissible(tree)/consistent(graph)</a:t>
            </a:r>
          </a:p>
          <a:p>
            <a:pPr eaLnBrk="1" hangingPunct="1"/>
            <a:r>
              <a:rPr lang="en-US" altLang="en-US" sz="2800" smtClean="0"/>
              <a:t>Evaluation function </a:t>
            </a:r>
            <a:r>
              <a:rPr lang="en-US" altLang="en-US" sz="2800" i="1" smtClean="0"/>
              <a:t>f(n) = g(n) + h(n)</a:t>
            </a:r>
            <a:endParaRPr lang="en-US" altLang="en-US" sz="24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/>
              <a:t>g(n) = known path cost so far to node 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/>
              <a:t>h(n) = </a:t>
            </a:r>
            <a:r>
              <a:rPr lang="en-US" altLang="en-US" sz="2000" u="sng" smtClean="0">
                <a:solidFill>
                  <a:srgbClr val="FF0000"/>
                </a:solidFill>
              </a:rPr>
              <a:t>estimate</a:t>
            </a:r>
            <a:r>
              <a:rPr lang="en-US" altLang="en-US" sz="2000" smtClean="0">
                <a:solidFill>
                  <a:srgbClr val="FF0000"/>
                </a:solidFill>
              </a:rPr>
              <a:t> </a:t>
            </a:r>
            <a:r>
              <a:rPr lang="en-US" altLang="en-US" sz="2000" smtClean="0"/>
              <a:t>of (optimal) cost to goal from node 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/>
              <a:t>f(n) = g(n)+h(n)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smtClean="0"/>
              <a:t>		    = </a:t>
            </a:r>
            <a:r>
              <a:rPr lang="en-US" altLang="en-US" sz="2000" u="sng" smtClean="0">
                <a:solidFill>
                  <a:srgbClr val="FF0000"/>
                </a:solidFill>
              </a:rPr>
              <a:t>estimate</a:t>
            </a:r>
            <a:r>
              <a:rPr lang="en-US" altLang="en-US" sz="2000" smtClean="0"/>
              <a:t> of total cost to goal through node n.</a:t>
            </a:r>
            <a:endParaRPr lang="en-US" altLang="en-US" sz="2400" i="1" smtClean="0"/>
          </a:p>
          <a:p>
            <a:pPr eaLnBrk="1" hangingPunct="1"/>
            <a:r>
              <a:rPr lang="en-US" altLang="en-US" sz="2800" i="1" smtClean="0"/>
              <a:t>Priority queue sort function = f(n)</a:t>
            </a:r>
            <a:endParaRPr lang="en-US" altLang="en-US" sz="2800" smtClean="0"/>
          </a:p>
        </p:txBody>
      </p:sp>
    </p:spTree>
    <p:extLst>
      <p:ext uri="{BB962C8B-B14F-4D97-AF65-F5344CB8AC3E}">
        <p14:creationId xmlns:p14="http://schemas.microsoft.com/office/powerpoint/2010/main" val="302839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A</a:t>
            </a:r>
            <a:r>
              <a:rPr sz="3150" spc="7" baseline="25132" dirty="0"/>
              <a:t>*</a:t>
            </a:r>
            <a:r>
              <a:rPr sz="3150" spc="382" baseline="25132" dirty="0"/>
              <a:t> </a:t>
            </a:r>
            <a:r>
              <a:rPr sz="3200" dirty="0"/>
              <a:t>search</a:t>
            </a:r>
            <a:r>
              <a:rPr sz="3200" spc="-40" dirty="0"/>
              <a:t> </a:t>
            </a:r>
            <a:r>
              <a:rPr sz="3200" spc="-5" dirty="0"/>
              <a:t>example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0100" y="1590663"/>
            <a:ext cx="685800" cy="2761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1140" y="1140307"/>
            <a:ext cx="12293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rontier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queue:  </a:t>
            </a:r>
            <a:r>
              <a:rPr sz="1400" dirty="0">
                <a:solidFill>
                  <a:srgbClr val="CC00CC"/>
                </a:solidFill>
                <a:latin typeface="Arial"/>
                <a:cs typeface="Arial"/>
              </a:rPr>
              <a:t>Arad</a:t>
            </a:r>
            <a:r>
              <a:rPr sz="1400" spc="-30" dirty="0">
                <a:solidFill>
                  <a:srgbClr val="CC00C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C00CC"/>
                </a:solidFill>
                <a:latin typeface="Arial"/>
                <a:cs typeface="Arial"/>
              </a:rPr>
              <a:t>366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2467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3225" y="1600186"/>
            <a:ext cx="4305300" cy="70472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A</a:t>
            </a:r>
            <a:r>
              <a:rPr sz="3150" spc="7" baseline="25132" dirty="0"/>
              <a:t>*</a:t>
            </a:r>
            <a:r>
              <a:rPr sz="3150" spc="382" baseline="25132" dirty="0"/>
              <a:t> </a:t>
            </a:r>
            <a:r>
              <a:rPr sz="3200" dirty="0"/>
              <a:t>search</a:t>
            </a:r>
            <a:r>
              <a:rPr sz="3200" spc="-40" dirty="0"/>
              <a:t> </a:t>
            </a:r>
            <a:r>
              <a:rPr sz="3200" spc="-5" dirty="0"/>
              <a:t>example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31140" y="1140307"/>
            <a:ext cx="1229360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rontier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queue:  </a:t>
            </a:r>
            <a:r>
              <a:rPr sz="1400" dirty="0">
                <a:solidFill>
                  <a:srgbClr val="3333CC"/>
                </a:solidFill>
                <a:latin typeface="Arial"/>
                <a:cs typeface="Arial"/>
              </a:rPr>
              <a:t>Sibiu</a:t>
            </a:r>
            <a:r>
              <a:rPr sz="1400" spc="-2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CC"/>
                </a:solidFill>
                <a:latin typeface="Arial"/>
                <a:cs typeface="Arial"/>
              </a:rPr>
              <a:t>393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3333CC"/>
                </a:solidFill>
                <a:latin typeface="Arial"/>
                <a:cs typeface="Arial"/>
              </a:rPr>
              <a:t>Timisoara</a:t>
            </a:r>
            <a:r>
              <a:rPr sz="14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CC"/>
                </a:solidFill>
                <a:latin typeface="Arial"/>
                <a:cs typeface="Arial"/>
              </a:rPr>
              <a:t>447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CC"/>
                </a:solidFill>
                <a:latin typeface="Arial"/>
                <a:cs typeface="Arial"/>
              </a:rPr>
              <a:t>Zerind</a:t>
            </a:r>
            <a:r>
              <a:rPr sz="14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CC"/>
                </a:solidFill>
                <a:latin typeface="Arial"/>
                <a:cs typeface="Arial"/>
              </a:rPr>
              <a:t>449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644" y="4844084"/>
            <a:ext cx="56953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3308985" algn="l"/>
                <a:tab pos="4255770" algn="l"/>
              </a:tabLst>
            </a:pPr>
            <a:r>
              <a:rPr sz="1800" spc="-20" dirty="0">
                <a:latin typeface="Arial"/>
                <a:cs typeface="Arial"/>
              </a:rPr>
              <a:t>We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add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three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nodes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we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found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the Frontier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queue.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We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sort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them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according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the	g()+h()	calculation.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932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A</a:t>
            </a:r>
            <a:r>
              <a:rPr sz="3150" spc="7" baseline="25132" dirty="0"/>
              <a:t>*</a:t>
            </a:r>
            <a:r>
              <a:rPr sz="3150" spc="382" baseline="25132" dirty="0"/>
              <a:t> </a:t>
            </a:r>
            <a:r>
              <a:rPr sz="3200" dirty="0"/>
              <a:t>search</a:t>
            </a:r>
            <a:r>
              <a:rPr sz="3200" spc="-40" dirty="0"/>
              <a:t> </a:t>
            </a:r>
            <a:r>
              <a:rPr sz="3200" spc="-5" dirty="0"/>
              <a:t>example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1675" y="1600186"/>
            <a:ext cx="5276850" cy="11428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1140" y="1130909"/>
            <a:ext cx="1464310" cy="2266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dirty="0">
                <a:latin typeface="Arial"/>
                <a:cs typeface="Arial"/>
              </a:rPr>
              <a:t>Frontier queue: 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Rimricu</a:t>
            </a:r>
            <a:r>
              <a:rPr sz="1400" spc="-4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Vicea</a:t>
            </a:r>
            <a:r>
              <a:rPr sz="1400" spc="-4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413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Fagaras</a:t>
            </a:r>
            <a:r>
              <a:rPr sz="14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415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3333CC"/>
                </a:solidFill>
                <a:latin typeface="Arial"/>
                <a:cs typeface="Arial"/>
              </a:rPr>
              <a:t>Timisoara</a:t>
            </a:r>
            <a:r>
              <a:rPr sz="14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CC"/>
                </a:solidFill>
                <a:latin typeface="Arial"/>
                <a:cs typeface="Arial"/>
              </a:rPr>
              <a:t>447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CC"/>
                </a:solidFill>
                <a:latin typeface="Arial"/>
                <a:cs typeface="Arial"/>
              </a:rPr>
              <a:t>Zerind</a:t>
            </a:r>
            <a:r>
              <a:rPr sz="14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CC"/>
                </a:solidFill>
                <a:latin typeface="Arial"/>
                <a:cs typeface="Arial"/>
              </a:rPr>
              <a:t>449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Arad</a:t>
            </a:r>
            <a:r>
              <a:rPr sz="14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646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Oradea</a:t>
            </a:r>
            <a:r>
              <a:rPr sz="14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671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644" y="5285994"/>
            <a:ext cx="66909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938395" algn="l"/>
              </a:tabLst>
            </a:pPr>
            <a:r>
              <a:rPr sz="1800" dirty="0">
                <a:latin typeface="Arial"/>
                <a:cs typeface="Arial"/>
              </a:rPr>
              <a:t>When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we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expand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Sibiu,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we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run</a:t>
            </a:r>
            <a:r>
              <a:rPr sz="1800" spc="-5" dirty="0">
                <a:latin typeface="Arial"/>
                <a:cs typeface="Arial"/>
              </a:rPr>
              <a:t> into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Arad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again.	</a:t>
            </a:r>
            <a:r>
              <a:rPr sz="1800" spc="-5" dirty="0">
                <a:latin typeface="Arial"/>
                <a:cs typeface="Arial"/>
              </a:rPr>
              <a:t>Note that </a:t>
            </a:r>
            <a:r>
              <a:rPr sz="1800" spc="-15" dirty="0">
                <a:latin typeface="Arial"/>
                <a:cs typeface="Arial"/>
              </a:rPr>
              <a:t>we’ve 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already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expanded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node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once;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but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we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still add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5" dirty="0">
                <a:latin typeface="Arial"/>
                <a:cs typeface="Arial"/>
              </a:rPr>
              <a:t> Frontier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queue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again.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62227" y="2891027"/>
            <a:ext cx="619125" cy="238125"/>
            <a:chOff x="1062227" y="2891027"/>
            <a:chExt cx="619125" cy="238125"/>
          </a:xfrm>
        </p:grpSpPr>
        <p:sp>
          <p:nvSpPr>
            <p:cNvPr id="7" name="object 7"/>
            <p:cNvSpPr/>
            <p:nvPr/>
          </p:nvSpPr>
          <p:spPr>
            <a:xfrm>
              <a:off x="1066799" y="2895599"/>
              <a:ext cx="609600" cy="228600"/>
            </a:xfrm>
            <a:custGeom>
              <a:avLst/>
              <a:gdLst/>
              <a:ahLst/>
              <a:cxnLst/>
              <a:rect l="l" t="t" r="r" b="b"/>
              <a:pathLst>
                <a:path w="609600" h="228600">
                  <a:moveTo>
                    <a:pt x="152400" y="0"/>
                  </a:moveTo>
                  <a:lnTo>
                    <a:pt x="0" y="114300"/>
                  </a:lnTo>
                  <a:lnTo>
                    <a:pt x="152400" y="228600"/>
                  </a:lnTo>
                  <a:lnTo>
                    <a:pt x="152400" y="171450"/>
                  </a:lnTo>
                  <a:lnTo>
                    <a:pt x="609600" y="171450"/>
                  </a:lnTo>
                  <a:lnTo>
                    <a:pt x="609600" y="57150"/>
                  </a:lnTo>
                  <a:lnTo>
                    <a:pt x="152400" y="5715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66799" y="2895599"/>
              <a:ext cx="609600" cy="228600"/>
            </a:xfrm>
            <a:custGeom>
              <a:avLst/>
              <a:gdLst/>
              <a:ahLst/>
              <a:cxnLst/>
              <a:rect l="l" t="t" r="r" b="b"/>
              <a:pathLst>
                <a:path w="609600" h="228600">
                  <a:moveTo>
                    <a:pt x="0" y="114300"/>
                  </a:moveTo>
                  <a:lnTo>
                    <a:pt x="152400" y="0"/>
                  </a:lnTo>
                  <a:lnTo>
                    <a:pt x="152400" y="57150"/>
                  </a:lnTo>
                  <a:lnTo>
                    <a:pt x="609600" y="57150"/>
                  </a:lnTo>
                  <a:lnTo>
                    <a:pt x="609600" y="171450"/>
                  </a:lnTo>
                  <a:lnTo>
                    <a:pt x="152400" y="171450"/>
                  </a:lnTo>
                  <a:lnTo>
                    <a:pt x="152400" y="228600"/>
                  </a:lnTo>
                  <a:lnTo>
                    <a:pt x="0" y="1143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39822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A</a:t>
            </a:r>
            <a:r>
              <a:rPr sz="3150" spc="7" baseline="25132" dirty="0"/>
              <a:t>*</a:t>
            </a:r>
            <a:r>
              <a:rPr sz="3150" spc="382" baseline="25132" dirty="0"/>
              <a:t> </a:t>
            </a:r>
            <a:r>
              <a:rPr sz="3200" dirty="0"/>
              <a:t>search</a:t>
            </a:r>
            <a:r>
              <a:rPr sz="3200" spc="-40" dirty="0"/>
              <a:t> </a:t>
            </a:r>
            <a:r>
              <a:rPr sz="3200" spc="-5" dirty="0"/>
              <a:t>example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1675" y="1600186"/>
            <a:ext cx="5276850" cy="15999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1140" y="1140307"/>
            <a:ext cx="1229360" cy="2906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rontier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queue:  </a:t>
            </a: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Fagaras</a:t>
            </a:r>
            <a:r>
              <a:rPr sz="1400" spc="-5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415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Pitesti</a:t>
            </a:r>
            <a:r>
              <a:rPr sz="1400" spc="-7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417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3333CC"/>
                </a:solidFill>
                <a:latin typeface="Arial"/>
                <a:cs typeface="Arial"/>
              </a:rPr>
              <a:t>Timisoara</a:t>
            </a:r>
            <a:r>
              <a:rPr sz="1400" spc="-6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CC"/>
                </a:solidFill>
                <a:latin typeface="Arial"/>
                <a:cs typeface="Arial"/>
              </a:rPr>
              <a:t>447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CC"/>
                </a:solidFill>
                <a:latin typeface="Arial"/>
                <a:cs typeface="Arial"/>
              </a:rPr>
              <a:t>Zerind</a:t>
            </a:r>
            <a:r>
              <a:rPr sz="14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CC"/>
                </a:solidFill>
                <a:latin typeface="Arial"/>
                <a:cs typeface="Arial"/>
              </a:rPr>
              <a:t>449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Craiova</a:t>
            </a:r>
            <a:r>
              <a:rPr sz="1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526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Sibiu</a:t>
            </a:r>
            <a:r>
              <a:rPr sz="1400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553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Arad</a:t>
            </a:r>
            <a:r>
              <a:rPr sz="14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646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Oradea</a:t>
            </a:r>
            <a:r>
              <a:rPr sz="1400" spc="-6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671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9644" y="4904994"/>
            <a:ext cx="2707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Arial"/>
                <a:cs typeface="Arial"/>
              </a:rPr>
              <a:t>We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expand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Rimricu</a:t>
            </a:r>
            <a:r>
              <a:rPr sz="1800" spc="-10" dirty="0">
                <a:latin typeface="Arial"/>
                <a:cs typeface="Arial"/>
              </a:rPr>
              <a:t> Vicea.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842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A</a:t>
            </a:r>
            <a:r>
              <a:rPr sz="3150" spc="7" baseline="25132" dirty="0"/>
              <a:t>*</a:t>
            </a:r>
            <a:r>
              <a:rPr sz="3150" spc="382" baseline="25132" dirty="0"/>
              <a:t> </a:t>
            </a:r>
            <a:r>
              <a:rPr sz="3200" dirty="0"/>
              <a:t>search</a:t>
            </a:r>
            <a:r>
              <a:rPr sz="3200" spc="-40" dirty="0"/>
              <a:t> </a:t>
            </a:r>
            <a:r>
              <a:rPr sz="3200" spc="-5" dirty="0"/>
              <a:t>example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1675" y="1600186"/>
            <a:ext cx="5276850" cy="15904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1140" y="1140307"/>
            <a:ext cx="8002905" cy="430847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400" dirty="0">
                <a:latin typeface="Arial"/>
                <a:cs typeface="Arial"/>
              </a:rPr>
              <a:t>Frontier</a:t>
            </a:r>
            <a:r>
              <a:rPr sz="1400" spc="-8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queue: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Pitesti</a:t>
            </a:r>
            <a:r>
              <a:rPr sz="1400" spc="-6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417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3333CC"/>
                </a:solidFill>
                <a:latin typeface="Arial"/>
                <a:cs typeface="Arial"/>
              </a:rPr>
              <a:t>Timisoara</a:t>
            </a:r>
            <a:r>
              <a:rPr sz="14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CC"/>
                </a:solidFill>
                <a:latin typeface="Arial"/>
                <a:cs typeface="Arial"/>
              </a:rPr>
              <a:t>447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CC"/>
                </a:solidFill>
                <a:latin typeface="Arial"/>
                <a:cs typeface="Arial"/>
              </a:rPr>
              <a:t>Zerind</a:t>
            </a:r>
            <a:r>
              <a:rPr sz="14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CC"/>
                </a:solidFill>
                <a:latin typeface="Arial"/>
                <a:cs typeface="Arial"/>
              </a:rPr>
              <a:t>449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6F2F9F"/>
                </a:solidFill>
                <a:latin typeface="Arial"/>
                <a:cs typeface="Arial"/>
              </a:rPr>
              <a:t>Bucharest</a:t>
            </a:r>
            <a:r>
              <a:rPr sz="1400" spc="-8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F2F9F"/>
                </a:solidFill>
                <a:latin typeface="Arial"/>
                <a:cs typeface="Arial"/>
              </a:rPr>
              <a:t>450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Craiova</a:t>
            </a:r>
            <a:r>
              <a:rPr sz="1400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526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Sibiu</a:t>
            </a:r>
            <a:r>
              <a:rPr sz="1400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553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dirty="0">
                <a:solidFill>
                  <a:srgbClr val="6F2F9F"/>
                </a:solidFill>
                <a:latin typeface="Arial"/>
                <a:cs typeface="Arial"/>
              </a:rPr>
              <a:t>Sibiu</a:t>
            </a:r>
            <a:r>
              <a:rPr sz="1400" spc="-10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F2F9F"/>
                </a:solidFill>
                <a:latin typeface="Arial"/>
                <a:cs typeface="Arial"/>
              </a:rPr>
              <a:t>591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Ara</a:t>
            </a: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d</a:t>
            </a:r>
            <a:r>
              <a:rPr sz="1400" spc="-2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646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Oradea</a:t>
            </a:r>
            <a:r>
              <a:rPr sz="14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671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>
              <a:latin typeface="Arial"/>
              <a:cs typeface="Arial"/>
            </a:endParaRPr>
          </a:p>
          <a:p>
            <a:pPr marL="1946910" marR="5080" algn="just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When </a:t>
            </a:r>
            <a:r>
              <a:rPr sz="1800" spc="-25" dirty="0">
                <a:latin typeface="Arial"/>
                <a:cs typeface="Arial"/>
              </a:rPr>
              <a:t>we </a:t>
            </a:r>
            <a:r>
              <a:rPr sz="1800" spc="-10" dirty="0">
                <a:latin typeface="Arial"/>
                <a:cs typeface="Arial"/>
              </a:rPr>
              <a:t>expand </a:t>
            </a:r>
            <a:r>
              <a:rPr sz="1800" spc="-5" dirty="0">
                <a:latin typeface="Arial"/>
                <a:cs typeface="Arial"/>
              </a:rPr>
              <a:t>Fagaras, </a:t>
            </a:r>
            <a:r>
              <a:rPr sz="1800" spc="-20" dirty="0">
                <a:latin typeface="Arial"/>
                <a:cs typeface="Arial"/>
              </a:rPr>
              <a:t>we </a:t>
            </a:r>
            <a:r>
              <a:rPr sz="1800" dirty="0">
                <a:latin typeface="Arial"/>
                <a:cs typeface="Arial"/>
              </a:rPr>
              <a:t>find </a:t>
            </a:r>
            <a:r>
              <a:rPr sz="1800" spc="-5" dirty="0">
                <a:latin typeface="Arial"/>
                <a:cs typeface="Arial"/>
              </a:rPr>
              <a:t>Bucharest, but </a:t>
            </a:r>
            <a:r>
              <a:rPr sz="1800" spc="-15" dirty="0">
                <a:latin typeface="Arial"/>
                <a:cs typeface="Arial"/>
              </a:rPr>
              <a:t>we’re </a:t>
            </a:r>
            <a:r>
              <a:rPr sz="1800" spc="-5" dirty="0">
                <a:latin typeface="Arial"/>
                <a:cs typeface="Arial"/>
              </a:rPr>
              <a:t>not </a:t>
            </a:r>
            <a:r>
              <a:rPr sz="1800" spc="-4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done.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algorithm </a:t>
            </a:r>
            <a:r>
              <a:rPr sz="1800" spc="-10" dirty="0">
                <a:latin typeface="Arial"/>
                <a:cs typeface="Arial"/>
              </a:rPr>
              <a:t>doesn’t </a:t>
            </a:r>
            <a:r>
              <a:rPr sz="1800" spc="-5" dirty="0">
                <a:latin typeface="Arial"/>
                <a:cs typeface="Arial"/>
              </a:rPr>
              <a:t>end until </a:t>
            </a:r>
            <a:r>
              <a:rPr sz="1800" spc="-20" dirty="0">
                <a:latin typeface="Arial"/>
                <a:cs typeface="Arial"/>
              </a:rPr>
              <a:t>we </a:t>
            </a:r>
            <a:r>
              <a:rPr sz="1800" spc="-10" dirty="0">
                <a:latin typeface="Arial"/>
                <a:cs typeface="Arial"/>
              </a:rPr>
              <a:t>“expand”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10" dirty="0">
                <a:latin typeface="Arial"/>
                <a:cs typeface="Arial"/>
              </a:rPr>
              <a:t>goal </a:t>
            </a:r>
            <a:r>
              <a:rPr sz="1800" spc="-5" dirty="0">
                <a:latin typeface="Arial"/>
                <a:cs typeface="Arial"/>
              </a:rPr>
              <a:t> node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–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has</a:t>
            </a:r>
            <a:r>
              <a:rPr sz="1800" dirty="0">
                <a:latin typeface="Arial"/>
                <a:cs typeface="Arial"/>
              </a:rPr>
              <a:t> to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be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Frontier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queue.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496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0054" y="569721"/>
            <a:ext cx="36353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A</a:t>
            </a:r>
            <a:r>
              <a:rPr sz="3150" spc="7" baseline="25132" dirty="0"/>
              <a:t>*</a:t>
            </a:r>
            <a:r>
              <a:rPr sz="3150" spc="382" baseline="25132" dirty="0"/>
              <a:t> </a:t>
            </a:r>
            <a:r>
              <a:rPr sz="3200" dirty="0"/>
              <a:t>search</a:t>
            </a:r>
            <a:r>
              <a:rPr sz="3200" spc="-40" dirty="0"/>
              <a:t> </a:t>
            </a:r>
            <a:r>
              <a:rPr sz="3200" spc="-5" dirty="0"/>
              <a:t>example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1675" y="1600186"/>
            <a:ext cx="5276850" cy="20189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69770" y="4005072"/>
            <a:ext cx="5940425" cy="153543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spc="-5" dirty="0">
                <a:latin typeface="Arial"/>
                <a:cs typeface="Arial"/>
              </a:rPr>
              <a:t>Note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that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we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just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found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better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value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 </a:t>
            </a:r>
            <a:r>
              <a:rPr sz="1800" spc="-5" dirty="0">
                <a:latin typeface="Arial"/>
                <a:cs typeface="Arial"/>
              </a:rPr>
              <a:t>Bucharest!</a:t>
            </a:r>
            <a:endParaRPr sz="18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85"/>
              </a:spcBef>
            </a:pPr>
            <a:r>
              <a:rPr sz="1800" spc="-5" dirty="0">
                <a:latin typeface="Arial"/>
                <a:cs typeface="Arial"/>
              </a:rPr>
              <a:t>Now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we</a:t>
            </a:r>
            <a:r>
              <a:rPr sz="1800" spc="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expand</a:t>
            </a:r>
            <a:r>
              <a:rPr sz="1800" spc="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this </a:t>
            </a:r>
            <a:r>
              <a:rPr sz="1800" spc="-5" dirty="0">
                <a:latin typeface="Arial"/>
                <a:cs typeface="Arial"/>
              </a:rPr>
              <a:t>better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value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for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Bucharest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since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15" dirty="0">
                <a:latin typeface="Arial"/>
                <a:cs typeface="Arial"/>
              </a:rPr>
              <a:t>it’s</a:t>
            </a:r>
            <a:r>
              <a:rPr sz="1800" spc="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at </a:t>
            </a:r>
            <a:r>
              <a:rPr sz="1800" spc="-48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top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of the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queue.</a:t>
            </a:r>
            <a:endParaRPr sz="1800" dirty="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1080"/>
              </a:spcBef>
            </a:pPr>
            <a:r>
              <a:rPr sz="1800" spc="-10" dirty="0">
                <a:latin typeface="Arial"/>
                <a:cs typeface="Arial"/>
              </a:rPr>
              <a:t>We’re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done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and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we</a:t>
            </a:r>
            <a:r>
              <a:rPr sz="1800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know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value</a:t>
            </a:r>
            <a:r>
              <a:rPr sz="180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found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is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optimal!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1140307"/>
            <a:ext cx="1464310" cy="386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0029">
              <a:lnSpc>
                <a:spcPct val="15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F</a:t>
            </a:r>
            <a:r>
              <a:rPr sz="1400" dirty="0">
                <a:latin typeface="Arial"/>
                <a:cs typeface="Arial"/>
              </a:rPr>
              <a:t>rontier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queue:  </a:t>
            </a:r>
            <a:r>
              <a:rPr sz="1400" dirty="0">
                <a:solidFill>
                  <a:srgbClr val="FFC000"/>
                </a:solidFill>
                <a:latin typeface="Arial"/>
                <a:cs typeface="Arial"/>
              </a:rPr>
              <a:t>Bucharest</a:t>
            </a:r>
            <a:r>
              <a:rPr sz="1400" spc="-8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C000"/>
                </a:solidFill>
                <a:latin typeface="Arial"/>
                <a:cs typeface="Arial"/>
              </a:rPr>
              <a:t>418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10" dirty="0">
                <a:solidFill>
                  <a:srgbClr val="3333CC"/>
                </a:solidFill>
                <a:latin typeface="Arial"/>
                <a:cs typeface="Arial"/>
              </a:rPr>
              <a:t>Timisoara</a:t>
            </a:r>
            <a:r>
              <a:rPr sz="1400" spc="-7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CC"/>
                </a:solidFill>
                <a:latin typeface="Arial"/>
                <a:cs typeface="Arial"/>
              </a:rPr>
              <a:t>447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3333CC"/>
                </a:solidFill>
                <a:latin typeface="Arial"/>
                <a:cs typeface="Arial"/>
              </a:rPr>
              <a:t>Zerind</a:t>
            </a:r>
            <a:r>
              <a:rPr sz="1400" spc="-8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CC"/>
                </a:solidFill>
                <a:latin typeface="Arial"/>
                <a:cs typeface="Arial"/>
              </a:rPr>
              <a:t>449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6F2F9F"/>
                </a:solidFill>
                <a:latin typeface="Arial"/>
                <a:cs typeface="Arial"/>
              </a:rPr>
              <a:t>Bucharest</a:t>
            </a:r>
            <a:r>
              <a:rPr sz="1400" spc="-8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6F2F9F"/>
                </a:solidFill>
                <a:latin typeface="Arial"/>
                <a:cs typeface="Arial"/>
              </a:rPr>
              <a:t>450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solidFill>
                  <a:srgbClr val="C00000"/>
                </a:solidFill>
                <a:latin typeface="Arial"/>
                <a:cs typeface="Arial"/>
              </a:rPr>
              <a:t>Craiova</a:t>
            </a:r>
            <a:r>
              <a:rPr sz="1400" spc="-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526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Sibiu</a:t>
            </a:r>
            <a:r>
              <a:rPr sz="1400" spc="-9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C00000"/>
                </a:solidFill>
                <a:latin typeface="Arial"/>
                <a:cs typeface="Arial"/>
              </a:rPr>
              <a:t>553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sz="1400" spc="-5" dirty="0">
                <a:solidFill>
                  <a:srgbClr val="6F2F9F"/>
                </a:solidFill>
                <a:latin typeface="Arial"/>
                <a:cs typeface="Arial"/>
              </a:rPr>
              <a:t>Sibiu</a:t>
            </a:r>
            <a:r>
              <a:rPr sz="1400" spc="-9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6F2F9F"/>
                </a:solidFill>
                <a:latin typeface="Arial"/>
                <a:cs typeface="Arial"/>
              </a:rPr>
              <a:t>591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solidFill>
                  <a:srgbClr val="FFC000"/>
                </a:solidFill>
                <a:latin typeface="Arial"/>
                <a:cs typeface="Arial"/>
              </a:rPr>
              <a:t>Rimricu</a:t>
            </a:r>
            <a:r>
              <a:rPr sz="1400" spc="-4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C000"/>
                </a:solidFill>
                <a:latin typeface="Arial"/>
                <a:cs typeface="Arial"/>
              </a:rPr>
              <a:t>Vicea</a:t>
            </a:r>
            <a:r>
              <a:rPr sz="1400" spc="-4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C000"/>
                </a:solidFill>
                <a:latin typeface="Arial"/>
                <a:cs typeface="Arial"/>
              </a:rPr>
              <a:t>607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spc="-5" dirty="0">
                <a:solidFill>
                  <a:srgbClr val="FFC000"/>
                </a:solidFill>
                <a:latin typeface="Arial"/>
                <a:cs typeface="Arial"/>
              </a:rPr>
              <a:t>Craiova</a:t>
            </a:r>
            <a:r>
              <a:rPr sz="1400" spc="-45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C000"/>
                </a:solidFill>
                <a:latin typeface="Arial"/>
                <a:cs typeface="Arial"/>
              </a:rPr>
              <a:t>615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Arad</a:t>
            </a:r>
            <a:r>
              <a:rPr sz="1400" spc="-60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00AF50"/>
                </a:solidFill>
                <a:latin typeface="Arial"/>
                <a:cs typeface="Arial"/>
              </a:rPr>
              <a:t>646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Oradea</a:t>
            </a:r>
            <a:r>
              <a:rPr sz="1400" spc="-75" dirty="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00AF50"/>
                </a:solidFill>
                <a:latin typeface="Arial"/>
                <a:cs typeface="Arial"/>
              </a:rPr>
              <a:t>671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4852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0"/>
            <a:ext cx="7793038" cy="1462088"/>
          </a:xfrm>
        </p:spPr>
        <p:txBody>
          <a:bodyPr/>
          <a:lstStyle/>
          <a:p>
            <a:pPr eaLnBrk="1" hangingPunct="1"/>
            <a:r>
              <a:rPr lang="en-US" altLang="en-US" smtClean="0"/>
              <a:t>A</a:t>
            </a:r>
            <a:r>
              <a:rPr lang="en-US" altLang="en-US" baseline="30000" smtClean="0"/>
              <a:t>*</a:t>
            </a:r>
            <a:r>
              <a:rPr lang="en-US" altLang="en-US" smtClean="0"/>
              <a:t> search example</a:t>
            </a:r>
          </a:p>
        </p:txBody>
      </p:sp>
      <p:pic>
        <p:nvPicPr>
          <p:cNvPr id="28675" name="Picture 4" descr="astar-progress01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24000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7" descr="romani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68738"/>
            <a:ext cx="609600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105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 descr="astar-progress02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0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-228600"/>
            <a:ext cx="7793037" cy="1462088"/>
          </a:xfrm>
        </p:spPr>
        <p:txBody>
          <a:bodyPr/>
          <a:lstStyle/>
          <a:p>
            <a:pPr eaLnBrk="1" hangingPunct="1"/>
            <a:r>
              <a:rPr lang="en-US" altLang="en-US" smtClean="0"/>
              <a:t>A</a:t>
            </a:r>
            <a:r>
              <a:rPr lang="en-US" altLang="en-US" baseline="30000" smtClean="0"/>
              <a:t>*</a:t>
            </a:r>
            <a:r>
              <a:rPr lang="en-US" altLang="en-US" smtClean="0"/>
              <a:t> search example</a:t>
            </a:r>
          </a:p>
        </p:txBody>
      </p:sp>
      <p:pic>
        <p:nvPicPr>
          <p:cNvPr id="29700" name="Picture 7" descr="romani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68738"/>
            <a:ext cx="609600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9701" name="Straight Connector 4"/>
          <p:cNvCxnSpPr>
            <a:cxnSpLocks noChangeShapeType="1"/>
          </p:cNvCxnSpPr>
          <p:nvPr/>
        </p:nvCxnSpPr>
        <p:spPr bwMode="auto">
          <a:xfrm>
            <a:off x="1828800" y="4800600"/>
            <a:ext cx="914400" cy="304800"/>
          </a:xfrm>
          <a:prstGeom prst="line">
            <a:avLst/>
          </a:prstGeom>
          <a:noFill/>
          <a:ln w="63500" cap="sq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50844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</a:t>
            </a:r>
            <a:r>
              <a:rPr lang="en-US" altLang="en-US" baseline="30000" smtClean="0"/>
              <a:t>*</a:t>
            </a:r>
            <a:r>
              <a:rPr lang="en-US" altLang="en-US" smtClean="0"/>
              <a:t> search example</a:t>
            </a:r>
          </a:p>
        </p:txBody>
      </p:sp>
      <p:pic>
        <p:nvPicPr>
          <p:cNvPr id="30723" name="Picture 5" descr="astar-progress03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0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6" descr="romani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68738"/>
            <a:ext cx="609600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725" name="Straight Connector 4"/>
          <p:cNvCxnSpPr>
            <a:cxnSpLocks noChangeShapeType="1"/>
          </p:cNvCxnSpPr>
          <p:nvPr/>
        </p:nvCxnSpPr>
        <p:spPr bwMode="auto">
          <a:xfrm>
            <a:off x="1828800" y="4800600"/>
            <a:ext cx="914400" cy="304800"/>
          </a:xfrm>
          <a:prstGeom prst="line">
            <a:avLst/>
          </a:prstGeom>
          <a:noFill/>
          <a:ln w="63500" cap="sq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26" name="Straight Connector 6"/>
          <p:cNvCxnSpPr>
            <a:cxnSpLocks noChangeShapeType="1"/>
          </p:cNvCxnSpPr>
          <p:nvPr/>
        </p:nvCxnSpPr>
        <p:spPr bwMode="auto">
          <a:xfrm rot="16200000" flipH="1">
            <a:off x="2667000" y="5181600"/>
            <a:ext cx="381000" cy="2286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350919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</a:t>
            </a:r>
            <a:r>
              <a:rPr lang="en-US" altLang="en-US" baseline="30000" smtClean="0"/>
              <a:t>*</a:t>
            </a:r>
            <a:r>
              <a:rPr lang="en-US" altLang="en-US" smtClean="0"/>
              <a:t> search example</a:t>
            </a:r>
          </a:p>
        </p:txBody>
      </p:sp>
      <p:pic>
        <p:nvPicPr>
          <p:cNvPr id="31747" name="Picture 4" descr="astar-progress04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0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6" descr="romani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68738"/>
            <a:ext cx="609600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1749" name="Straight Connector 4"/>
          <p:cNvCxnSpPr>
            <a:cxnSpLocks noChangeShapeType="1"/>
          </p:cNvCxnSpPr>
          <p:nvPr/>
        </p:nvCxnSpPr>
        <p:spPr bwMode="auto">
          <a:xfrm>
            <a:off x="1828800" y="4800600"/>
            <a:ext cx="914400" cy="304800"/>
          </a:xfrm>
          <a:prstGeom prst="line">
            <a:avLst/>
          </a:prstGeom>
          <a:noFill/>
          <a:ln w="63500" cap="sq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0" name="Straight Connector 5"/>
          <p:cNvCxnSpPr>
            <a:cxnSpLocks noChangeShapeType="1"/>
          </p:cNvCxnSpPr>
          <p:nvPr/>
        </p:nvCxnSpPr>
        <p:spPr bwMode="auto">
          <a:xfrm rot="16200000" flipH="1">
            <a:off x="2667000" y="5181600"/>
            <a:ext cx="381000" cy="2286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1" name="Straight Connector 9"/>
          <p:cNvCxnSpPr>
            <a:cxnSpLocks noChangeShapeType="1"/>
          </p:cNvCxnSpPr>
          <p:nvPr/>
        </p:nvCxnSpPr>
        <p:spPr bwMode="auto">
          <a:xfrm>
            <a:off x="2743200" y="5105400"/>
            <a:ext cx="990600" cy="762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05778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</a:t>
            </a:r>
            <a:r>
              <a:rPr lang="en-US" altLang="en-US" baseline="30000" smtClean="0"/>
              <a:t>*</a:t>
            </a:r>
            <a:r>
              <a:rPr lang="en-US" altLang="en-US" smtClean="0"/>
              <a:t> search example</a:t>
            </a:r>
          </a:p>
        </p:txBody>
      </p:sp>
      <p:pic>
        <p:nvPicPr>
          <p:cNvPr id="32771" name="Picture 4" descr="astar-progress05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0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6" descr="romani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68738"/>
            <a:ext cx="609600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2773" name="Straight Connector 4"/>
          <p:cNvCxnSpPr>
            <a:cxnSpLocks noChangeShapeType="1"/>
          </p:cNvCxnSpPr>
          <p:nvPr/>
        </p:nvCxnSpPr>
        <p:spPr bwMode="auto">
          <a:xfrm>
            <a:off x="1828800" y="4800600"/>
            <a:ext cx="914400" cy="304800"/>
          </a:xfrm>
          <a:prstGeom prst="line">
            <a:avLst/>
          </a:prstGeom>
          <a:noFill/>
          <a:ln w="63500" cap="sq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4" name="Straight Connector 5"/>
          <p:cNvCxnSpPr>
            <a:cxnSpLocks noChangeShapeType="1"/>
          </p:cNvCxnSpPr>
          <p:nvPr/>
        </p:nvCxnSpPr>
        <p:spPr bwMode="auto">
          <a:xfrm rot="16200000" flipH="1">
            <a:off x="2667000" y="5181600"/>
            <a:ext cx="381000" cy="2286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5" name="Straight Connector 6"/>
          <p:cNvCxnSpPr>
            <a:cxnSpLocks noChangeShapeType="1"/>
          </p:cNvCxnSpPr>
          <p:nvPr/>
        </p:nvCxnSpPr>
        <p:spPr bwMode="auto">
          <a:xfrm>
            <a:off x="2743200" y="5105400"/>
            <a:ext cx="990600" cy="762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776" name="Straight Connector 7"/>
          <p:cNvCxnSpPr>
            <a:cxnSpLocks noChangeShapeType="1"/>
          </p:cNvCxnSpPr>
          <p:nvPr/>
        </p:nvCxnSpPr>
        <p:spPr bwMode="auto">
          <a:xfrm>
            <a:off x="2971800" y="5486400"/>
            <a:ext cx="838200" cy="4572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53901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</a:t>
            </a:r>
            <a:r>
              <a:rPr lang="en-US" altLang="en-US" baseline="30000" smtClean="0"/>
              <a:t>*</a:t>
            </a:r>
            <a:r>
              <a:rPr lang="en-US" altLang="en-US" smtClean="0"/>
              <a:t> search example</a:t>
            </a:r>
          </a:p>
        </p:txBody>
      </p:sp>
      <p:pic>
        <p:nvPicPr>
          <p:cNvPr id="33795" name="Picture 4" descr="astar-progress06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0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6" name="Picture 6" descr="romania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68738"/>
            <a:ext cx="6096000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3797" name="Straight Connector 4"/>
          <p:cNvCxnSpPr>
            <a:cxnSpLocks noChangeShapeType="1"/>
          </p:cNvCxnSpPr>
          <p:nvPr/>
        </p:nvCxnSpPr>
        <p:spPr bwMode="auto">
          <a:xfrm>
            <a:off x="1828800" y="4800600"/>
            <a:ext cx="914400" cy="304800"/>
          </a:xfrm>
          <a:prstGeom prst="line">
            <a:avLst/>
          </a:prstGeom>
          <a:noFill/>
          <a:ln w="63500" cap="sq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798" name="Straight Connector 5"/>
          <p:cNvCxnSpPr>
            <a:cxnSpLocks noChangeShapeType="1"/>
          </p:cNvCxnSpPr>
          <p:nvPr/>
        </p:nvCxnSpPr>
        <p:spPr bwMode="auto">
          <a:xfrm rot="16200000" flipH="1">
            <a:off x="2667000" y="5181600"/>
            <a:ext cx="381000" cy="2286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799" name="Straight Connector 6"/>
          <p:cNvCxnSpPr>
            <a:cxnSpLocks noChangeShapeType="1"/>
          </p:cNvCxnSpPr>
          <p:nvPr/>
        </p:nvCxnSpPr>
        <p:spPr bwMode="auto">
          <a:xfrm>
            <a:off x="2743200" y="5105400"/>
            <a:ext cx="990600" cy="762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0" name="Straight Connector 8"/>
          <p:cNvCxnSpPr>
            <a:cxnSpLocks noChangeShapeType="1"/>
          </p:cNvCxnSpPr>
          <p:nvPr/>
        </p:nvCxnSpPr>
        <p:spPr bwMode="auto">
          <a:xfrm>
            <a:off x="2971800" y="5486400"/>
            <a:ext cx="838200" cy="4572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1" name="Straight Connector 12"/>
          <p:cNvCxnSpPr>
            <a:cxnSpLocks noChangeShapeType="1"/>
          </p:cNvCxnSpPr>
          <p:nvPr/>
        </p:nvCxnSpPr>
        <p:spPr bwMode="auto">
          <a:xfrm>
            <a:off x="3810000" y="5943600"/>
            <a:ext cx="685800" cy="304800"/>
          </a:xfrm>
          <a:prstGeom prst="line">
            <a:avLst/>
          </a:prstGeom>
          <a:noFill/>
          <a:ln w="635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27495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5454" y="542847"/>
            <a:ext cx="413385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A*</a:t>
            </a:r>
            <a:r>
              <a:rPr sz="3600" spc="-15" dirty="0"/>
              <a:t> </a:t>
            </a:r>
            <a:r>
              <a:rPr sz="3600" spc="-5" dirty="0"/>
              <a:t>search,</a:t>
            </a:r>
            <a:r>
              <a:rPr sz="3600" spc="-35" dirty="0"/>
              <a:t> </a:t>
            </a:r>
            <a:r>
              <a:rPr sz="3600" spc="-5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454" y="1266667"/>
            <a:ext cx="7567295" cy="123507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40"/>
              </a:spcBef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Completeness: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YES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95"/>
              </a:spcBef>
              <a:buClr>
                <a:srgbClr val="000099"/>
              </a:buClr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latin typeface="Arial"/>
                <a:cs typeface="Arial"/>
              </a:rPr>
              <a:t>Since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bands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of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increasing </a:t>
            </a:r>
            <a:r>
              <a:rPr sz="1600" i="1" spc="-5" dirty="0">
                <a:latin typeface="Arial"/>
                <a:cs typeface="Arial"/>
              </a:rPr>
              <a:t>f</a:t>
            </a:r>
            <a:r>
              <a:rPr sz="1600" i="1" spc="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are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added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lr>
                <a:srgbClr val="000099"/>
              </a:buClr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latin typeface="Arial"/>
                <a:cs typeface="Arial"/>
              </a:rPr>
              <a:t>As long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as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b</a:t>
            </a:r>
            <a:r>
              <a:rPr sz="1600" i="1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is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finite</a:t>
            </a:r>
            <a:endParaRPr sz="160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solidFill>
                  <a:srgbClr val="000099"/>
                </a:solidFill>
                <a:latin typeface="Arial"/>
                <a:cs typeface="Arial"/>
              </a:rPr>
              <a:t>—</a:t>
            </a:r>
            <a:r>
              <a:rPr sz="1600" spc="-2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(guaranteeing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that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there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aren’t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infinitely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many</a:t>
            </a:r>
            <a:r>
              <a:rPr sz="1600" spc="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nodes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n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with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f</a:t>
            </a:r>
            <a:r>
              <a:rPr sz="1600" i="1" spc="15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(n)</a:t>
            </a:r>
            <a:r>
              <a:rPr sz="1600" i="1" spc="15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&lt;</a:t>
            </a:r>
            <a:r>
              <a:rPr sz="1600" i="1" spc="15" dirty="0">
                <a:latin typeface="Arial"/>
                <a:cs typeface="Arial"/>
              </a:rPr>
              <a:t> </a:t>
            </a:r>
            <a:r>
              <a:rPr sz="1600" i="1" spc="-5" dirty="0">
                <a:latin typeface="Arial"/>
                <a:cs typeface="Arial"/>
              </a:rPr>
              <a:t>f(G)</a:t>
            </a:r>
            <a:r>
              <a:rPr sz="1600" i="1" spc="40" dirty="0">
                <a:latin typeface="Arial"/>
                <a:cs typeface="Arial"/>
              </a:rPr>
              <a:t> </a:t>
            </a:r>
            <a:r>
              <a:rPr sz="1400" i="1" dirty="0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01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5454" y="542847"/>
            <a:ext cx="413385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A*</a:t>
            </a:r>
            <a:r>
              <a:rPr sz="3600" spc="-15" dirty="0"/>
              <a:t> </a:t>
            </a:r>
            <a:r>
              <a:rPr sz="3600" spc="-5" dirty="0"/>
              <a:t>search,</a:t>
            </a:r>
            <a:r>
              <a:rPr sz="3600" spc="-35" dirty="0"/>
              <a:t> </a:t>
            </a:r>
            <a:r>
              <a:rPr sz="3600" spc="-5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454" y="1268472"/>
            <a:ext cx="7463790" cy="9772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Completeness: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YES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Time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complexity: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95"/>
              </a:spcBef>
              <a:buClr>
                <a:srgbClr val="000099"/>
              </a:buClr>
              <a:buChar char="•"/>
              <a:tabLst>
                <a:tab pos="756285" algn="l"/>
                <a:tab pos="756920" algn="l"/>
              </a:tabLst>
            </a:pPr>
            <a:r>
              <a:rPr sz="1600" spc="-5" dirty="0">
                <a:latin typeface="Arial"/>
                <a:cs typeface="Arial"/>
              </a:rPr>
              <a:t>Number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of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nodes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expanded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is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still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exponential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in the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length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of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the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solution.</a:t>
            </a:r>
            <a:endParaRPr sz="1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67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5454" y="542847"/>
            <a:ext cx="413385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A*</a:t>
            </a:r>
            <a:r>
              <a:rPr sz="3600" spc="-15" dirty="0"/>
              <a:t> </a:t>
            </a:r>
            <a:r>
              <a:rPr sz="3600" spc="-5" dirty="0"/>
              <a:t>search,</a:t>
            </a:r>
            <a:r>
              <a:rPr sz="3600" spc="-35" dirty="0"/>
              <a:t> </a:t>
            </a:r>
            <a:r>
              <a:rPr sz="3600" spc="-5"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454" y="1268472"/>
            <a:ext cx="5537835" cy="16357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Completeness: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YES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Time complexity: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(exponential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spc="5" dirty="0">
                <a:latin typeface="Arial"/>
                <a:cs typeface="Arial"/>
              </a:rPr>
              <a:t>with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path length)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000099"/>
              </a:buClr>
              <a:buFont typeface="Symbol"/>
              <a:buChar char=""/>
              <a:tabLst>
                <a:tab pos="354965" algn="l"/>
                <a:tab pos="355600" algn="l"/>
              </a:tabLst>
            </a:pPr>
            <a:r>
              <a:rPr sz="1800" b="1" spc="-5" dirty="0">
                <a:latin typeface="Arial"/>
                <a:cs typeface="Arial"/>
              </a:rPr>
              <a:t>Space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complexity: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9"/>
              </a:spcBef>
              <a:buClr>
                <a:srgbClr val="000099"/>
              </a:buClr>
              <a:buChar char="•"/>
              <a:tabLst>
                <a:tab pos="756285" algn="l"/>
                <a:tab pos="756920" algn="l"/>
              </a:tabLst>
            </a:pPr>
            <a:r>
              <a:rPr sz="1700" spc="-5" dirty="0">
                <a:latin typeface="Arial"/>
                <a:cs typeface="Arial"/>
              </a:rPr>
              <a:t>It</a:t>
            </a:r>
            <a:r>
              <a:rPr sz="1700" dirty="0">
                <a:latin typeface="Arial"/>
                <a:cs typeface="Arial"/>
              </a:rPr>
              <a:t> keeps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all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generated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nodes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in</a:t>
            </a:r>
            <a:r>
              <a:rPr sz="1700" spc="-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memory</a:t>
            </a:r>
            <a:endParaRPr sz="17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9"/>
              </a:spcBef>
              <a:buClr>
                <a:srgbClr val="000099"/>
              </a:buClr>
              <a:buChar char="•"/>
              <a:tabLst>
                <a:tab pos="756285" algn="l"/>
                <a:tab pos="756920" algn="l"/>
              </a:tabLst>
            </a:pPr>
            <a:r>
              <a:rPr sz="1700" dirty="0">
                <a:latin typeface="Arial"/>
                <a:cs typeface="Arial"/>
              </a:rPr>
              <a:t>Hence</a:t>
            </a:r>
            <a:r>
              <a:rPr sz="1700" spc="-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space is</a:t>
            </a:r>
            <a:r>
              <a:rPr sz="1700" spc="-25" dirty="0">
                <a:latin typeface="Arial"/>
                <a:cs typeface="Arial"/>
              </a:rPr>
              <a:t> </a:t>
            </a:r>
            <a:r>
              <a:rPr sz="1700" spc="-5" dirty="0">
                <a:latin typeface="Arial"/>
                <a:cs typeface="Arial"/>
              </a:rPr>
              <a:t>the</a:t>
            </a:r>
            <a:r>
              <a:rPr sz="1700" spc="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major</a:t>
            </a:r>
            <a:r>
              <a:rPr sz="1700" spc="-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problem not</a:t>
            </a:r>
            <a:r>
              <a:rPr sz="1700" spc="-5" dirty="0">
                <a:latin typeface="Arial"/>
                <a:cs typeface="Arial"/>
              </a:rPr>
              <a:t> time</a:t>
            </a:r>
            <a:endParaRPr sz="17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758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957</Words>
  <Application>Microsoft Office PowerPoint</Application>
  <PresentationFormat>On-screen Show (4:3)</PresentationFormat>
  <Paragraphs>178</Paragraphs>
  <Slides>31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Informed Search</vt:lpstr>
      <vt:lpstr>Informed Search</vt:lpstr>
      <vt:lpstr>PowerPoint Presentation</vt:lpstr>
      <vt:lpstr>Best-First Search</vt:lpstr>
      <vt:lpstr>PowerPoint Presentation</vt:lpstr>
      <vt:lpstr>Best First Search Algorithm</vt:lpstr>
      <vt:lpstr>Romania Map Example with Costs</vt:lpstr>
      <vt:lpstr>PowerPoint Presentation</vt:lpstr>
      <vt:lpstr>Greedy best-first search example</vt:lpstr>
      <vt:lpstr>Greedy best-first search example</vt:lpstr>
      <vt:lpstr>Greedy best-first search example</vt:lpstr>
      <vt:lpstr>Greedy best-first search example</vt:lpstr>
      <vt:lpstr>Optimal Path</vt:lpstr>
      <vt:lpstr>Properties of greedy best-first search</vt:lpstr>
      <vt:lpstr>Properties of greedy best-first search</vt:lpstr>
      <vt:lpstr>A* search</vt:lpstr>
      <vt:lpstr>A* search example</vt:lpstr>
      <vt:lpstr>A* search example</vt:lpstr>
      <vt:lpstr>A* search example</vt:lpstr>
      <vt:lpstr>A* search example</vt:lpstr>
      <vt:lpstr>A* search example</vt:lpstr>
      <vt:lpstr>A* search example</vt:lpstr>
      <vt:lpstr>A* search example</vt:lpstr>
      <vt:lpstr>A* search example</vt:lpstr>
      <vt:lpstr>A* search example</vt:lpstr>
      <vt:lpstr>A* search example</vt:lpstr>
      <vt:lpstr>A* search example</vt:lpstr>
      <vt:lpstr>A* search example</vt:lpstr>
      <vt:lpstr>A* search, evaluation</vt:lpstr>
      <vt:lpstr>A* search, evaluation</vt:lpstr>
      <vt:lpstr>A* search, evaluation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Informed Search</dc:title>
  <dc:creator>Windows User</dc:creator>
  <cp:lastModifiedBy>Windows User</cp:lastModifiedBy>
  <cp:revision>6</cp:revision>
  <dcterms:created xsi:type="dcterms:W3CDTF">2021-12-17T23:06:12Z</dcterms:created>
  <dcterms:modified xsi:type="dcterms:W3CDTF">2021-12-18T00:05:25Z</dcterms:modified>
</cp:coreProperties>
</file>