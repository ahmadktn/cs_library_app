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43" r:id="rId53"/>
    <p:sldId id="344" r:id="rId54"/>
    <p:sldId id="345" r:id="rId55"/>
    <p:sldId id="346" r:id="rId56"/>
    <p:sldId id="348" r:id="rId57"/>
    <p:sldId id="349" r:id="rId58"/>
    <p:sldId id="347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50" r:id="rId70"/>
    <p:sldId id="351" r:id="rId71"/>
    <p:sldId id="317" r:id="rId72"/>
    <p:sldId id="318" r:id="rId73"/>
    <p:sldId id="319" r:id="rId74"/>
    <p:sldId id="320" r:id="rId75"/>
    <p:sldId id="321" r:id="rId76"/>
    <p:sldId id="322" r:id="rId77"/>
    <p:sldId id="323" r:id="rId78"/>
    <p:sldId id="324" r:id="rId79"/>
    <p:sldId id="325" r:id="rId80"/>
    <p:sldId id="326" r:id="rId81"/>
    <p:sldId id="327" r:id="rId82"/>
    <p:sldId id="328" r:id="rId83"/>
    <p:sldId id="329" r:id="rId84"/>
    <p:sldId id="330" r:id="rId85"/>
    <p:sldId id="331" r:id="rId86"/>
    <p:sldId id="332" r:id="rId87"/>
    <p:sldId id="333" r:id="rId88"/>
    <p:sldId id="334" r:id="rId89"/>
    <p:sldId id="335" r:id="rId90"/>
    <p:sldId id="336" r:id="rId91"/>
    <p:sldId id="337" r:id="rId92"/>
    <p:sldId id="338" r:id="rId93"/>
    <p:sldId id="339" r:id="rId94"/>
    <p:sldId id="340" r:id="rId95"/>
    <p:sldId id="341" r:id="rId96"/>
    <p:sldId id="342" r:id="rId9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38A28-7F1E-4F4D-93EE-217121AF0C12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21F0E-38DA-4371-A12D-546FD5B75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765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38A28-7F1E-4F4D-93EE-217121AF0C12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21F0E-38DA-4371-A12D-546FD5B75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596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38A28-7F1E-4F4D-93EE-217121AF0C12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21F0E-38DA-4371-A12D-546FD5B75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103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38A28-7F1E-4F4D-93EE-217121AF0C12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21F0E-38DA-4371-A12D-546FD5B75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96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38A28-7F1E-4F4D-93EE-217121AF0C12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21F0E-38DA-4371-A12D-546FD5B75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351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38A28-7F1E-4F4D-93EE-217121AF0C12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21F0E-38DA-4371-A12D-546FD5B75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299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38A28-7F1E-4F4D-93EE-217121AF0C12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21F0E-38DA-4371-A12D-546FD5B75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854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38A28-7F1E-4F4D-93EE-217121AF0C12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21F0E-38DA-4371-A12D-546FD5B75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293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38A28-7F1E-4F4D-93EE-217121AF0C12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21F0E-38DA-4371-A12D-546FD5B75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37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38A28-7F1E-4F4D-93EE-217121AF0C12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21F0E-38DA-4371-A12D-546FD5B75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894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38A28-7F1E-4F4D-93EE-217121AF0C12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21F0E-38DA-4371-A12D-546FD5B75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378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738A28-7F1E-4F4D-93EE-217121AF0C12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721F0E-38DA-4371-A12D-546FD5B75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15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7" Type="http://schemas.openxmlformats.org/officeDocument/2006/relationships/image" Target="../media/image23.gif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gif"/><Relationship Id="rId5" Type="http://schemas.openxmlformats.org/officeDocument/2006/relationships/image" Target="../media/image21.gif"/><Relationship Id="rId4" Type="http://schemas.openxmlformats.org/officeDocument/2006/relationships/image" Target="../media/image20.gif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Knowledge Representation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787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Knowledge?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Knowledge is awareness or familiarity gained by experiences of facts, Data and situations.</a:t>
            </a:r>
          </a:p>
          <a:p>
            <a:r>
              <a:rPr lang="en-US" dirty="0" smtClean="0"/>
              <a:t>familiarity with the way to do something to perform a task; </a:t>
            </a:r>
          </a:p>
          <a:p>
            <a:r>
              <a:rPr lang="en-US" dirty="0" smtClean="0"/>
              <a:t>an accumulation of facts, procedural rules or heuristics.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047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knowledge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96280"/>
            <a:ext cx="7772400" cy="4480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012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Declarative Knowledge: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Declarative knowledge is to know about something.</a:t>
            </a:r>
          </a:p>
          <a:p>
            <a:r>
              <a:rPr lang="en-US" dirty="0" smtClean="0"/>
              <a:t>It includes concepts, facts, and objects.</a:t>
            </a:r>
          </a:p>
          <a:p>
            <a:r>
              <a:rPr lang="en-US" dirty="0" smtClean="0"/>
              <a:t>It is also called descriptive knowledge and expressed in </a:t>
            </a:r>
            <a:r>
              <a:rPr lang="en-US" dirty="0" smtClean="0"/>
              <a:t>declarative sentences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355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Procedural Knowledge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It is also known as imperative knowledge.</a:t>
            </a:r>
          </a:p>
          <a:p>
            <a:r>
              <a:rPr lang="en-US" dirty="0" smtClean="0"/>
              <a:t>Procedural knowledge is a type of knowledge which is responsible for knowing how to do something.</a:t>
            </a:r>
          </a:p>
          <a:p>
            <a:r>
              <a:rPr lang="en-US" dirty="0" smtClean="0"/>
              <a:t>It can be directly applied to any task.</a:t>
            </a:r>
          </a:p>
          <a:p>
            <a:r>
              <a:rPr lang="en-US" dirty="0" smtClean="0"/>
              <a:t>It includes rules, strategies, procedures, agendas, etc.</a:t>
            </a:r>
          </a:p>
          <a:p>
            <a:r>
              <a:rPr lang="en-US" dirty="0" smtClean="0"/>
              <a:t>Procedural knowledge depends on the task on which it can be applied.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253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Heuristic knowledge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Heuristic knowledge is representing knowledge of some experts in a filed or subject.</a:t>
            </a:r>
          </a:p>
          <a:p>
            <a:r>
              <a:rPr lang="en-US" dirty="0" smtClean="0"/>
              <a:t>Heuristic knowledge is rules of thumb based on previous experiences, awareness of approaches, and which are good to work but not guaranteed.</a:t>
            </a:r>
          </a:p>
          <a:p>
            <a:pPr lvl="1"/>
            <a:r>
              <a:rPr lang="en-US" dirty="0" smtClean="0"/>
              <a:t>Example: </a:t>
            </a:r>
          </a:p>
          <a:p>
            <a:pPr lvl="2" algn="just"/>
            <a:r>
              <a:rPr lang="en-US" dirty="0" smtClean="0"/>
              <a:t>If a person drives no more </a:t>
            </a:r>
          </a:p>
          <a:p>
            <a:pPr lvl="2" algn="just">
              <a:buFontTx/>
              <a:buNone/>
            </a:pPr>
            <a:r>
              <a:rPr lang="en-US" dirty="0" smtClean="0"/>
              <a:t>	than 5 miles above the </a:t>
            </a:r>
          </a:p>
          <a:p>
            <a:pPr lvl="2" algn="just">
              <a:buFontTx/>
              <a:buNone/>
            </a:pPr>
            <a:r>
              <a:rPr lang="en-US" dirty="0" smtClean="0"/>
              <a:t>	speed limit, then that </a:t>
            </a:r>
          </a:p>
          <a:p>
            <a:pPr lvl="2" algn="just">
              <a:buFontTx/>
              <a:buNone/>
            </a:pPr>
            <a:r>
              <a:rPr lang="en-US" dirty="0" smtClean="0"/>
              <a:t>	person is not likely to be </a:t>
            </a:r>
          </a:p>
          <a:p>
            <a:pPr lvl="2" algn="just">
              <a:buFontTx/>
              <a:buNone/>
            </a:pPr>
            <a:r>
              <a:rPr lang="en-US" dirty="0" smtClean="0"/>
              <a:t>	stopped for speeding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584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Structural knowledge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Structural knowledge is basic knowledge to problem-solving.</a:t>
            </a:r>
          </a:p>
          <a:p>
            <a:r>
              <a:rPr lang="en-US" dirty="0" smtClean="0"/>
              <a:t>It describes relationships between various concepts such as kind of, part of, and grouping of something.</a:t>
            </a:r>
          </a:p>
          <a:p>
            <a:r>
              <a:rPr lang="en-US" dirty="0" smtClean="0"/>
              <a:t>It describes the relationship that exists between concepts or objects.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370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Meta-knowledge: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Knowledge about the other types of knowledge is called Meta-knowledge.</a:t>
            </a:r>
          </a:p>
          <a:p>
            <a:r>
              <a:rPr lang="en-US" dirty="0" smtClean="0"/>
              <a:t>Knowledge on knowing which knowledge to use to solve a problem</a:t>
            </a:r>
          </a:p>
          <a:p>
            <a:r>
              <a:rPr lang="en-US" dirty="0" smtClean="0"/>
              <a:t>Always used by experts to enhance the efficiency of problem solving</a:t>
            </a:r>
          </a:p>
          <a:p>
            <a:r>
              <a:rPr lang="en-US" dirty="0" smtClean="0"/>
              <a:t>Example: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1800" dirty="0" smtClean="0"/>
              <a:t>if you want to know about heart attack, please read this book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431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Knowledge Representation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 smtClean="0"/>
              <a:t>Knowledge representation is </a:t>
            </a:r>
          </a:p>
          <a:p>
            <a:r>
              <a:rPr lang="en-US" sz="4400" dirty="0" smtClean="0"/>
              <a:t>“a science of translating actual knowledge into  a format that can be used  by the computer”.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067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Techniques of knowledge representation</a:t>
            </a:r>
            <a:endParaRPr lang="en-US" sz="3600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196306"/>
            <a:ext cx="7391399" cy="3899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9984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Logical Representation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Logical representation means drawing a conclusion based on various conditions</a:t>
            </a:r>
            <a:r>
              <a:rPr lang="en-US" dirty="0" smtClean="0"/>
              <a:t>.</a:t>
            </a:r>
          </a:p>
          <a:p>
            <a:r>
              <a:rPr lang="en-US" dirty="0"/>
              <a:t> It consists of precisely defined syntax and semantics which supports the sound inference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Syntax:</a:t>
            </a:r>
          </a:p>
          <a:p>
            <a:r>
              <a:rPr lang="en-US" dirty="0" smtClean="0"/>
              <a:t>Syntaxes are the rules which decide how we can construct legal sentences in the logic.</a:t>
            </a:r>
          </a:p>
          <a:p>
            <a:r>
              <a:rPr lang="en-US" dirty="0" smtClean="0"/>
              <a:t>It determines which symbol we can use in knowledge representation.</a:t>
            </a:r>
          </a:p>
          <a:p>
            <a:r>
              <a:rPr lang="en-US" dirty="0" smtClean="0"/>
              <a:t>How to write those symbols.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029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Representation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Semantics:</a:t>
            </a:r>
          </a:p>
          <a:p>
            <a:r>
              <a:rPr lang="en-US" dirty="0" smtClean="0"/>
              <a:t>Semantics are the rules by which we can interpret the sentence in the logic.</a:t>
            </a:r>
          </a:p>
          <a:p>
            <a:r>
              <a:rPr lang="en-US" dirty="0" smtClean="0"/>
              <a:t>Semantic also involves assigning a meaning to each sentence.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222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Logical Representation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Different logics exist, which allow you to represent different kinds of </a:t>
            </a:r>
            <a:r>
              <a:rPr lang="en-US" dirty="0" smtClean="0"/>
              <a:t>things.</a:t>
            </a:r>
          </a:p>
          <a:p>
            <a:r>
              <a:rPr lang="en-US" dirty="0" smtClean="0"/>
              <a:t>Logical representation can be </a:t>
            </a:r>
            <a:r>
              <a:rPr lang="en-US" dirty="0" err="1" smtClean="0"/>
              <a:t>categorised</a:t>
            </a:r>
            <a:r>
              <a:rPr lang="en-US" dirty="0" smtClean="0"/>
              <a:t> into mainly two logics:</a:t>
            </a:r>
          </a:p>
          <a:p>
            <a:r>
              <a:rPr lang="en-US" dirty="0"/>
              <a:t>Propositional Logics</a:t>
            </a:r>
          </a:p>
          <a:p>
            <a:r>
              <a:rPr lang="en-US" dirty="0"/>
              <a:t>Predicate logics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0246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Propositional logic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Propositional logic consists of:</a:t>
            </a:r>
          </a:p>
          <a:p>
            <a:r>
              <a:rPr lang="en-US" sz="2800" dirty="0" smtClean="0"/>
              <a:t>The logical values true and false (T and F)</a:t>
            </a:r>
          </a:p>
          <a:p>
            <a:r>
              <a:rPr lang="en-US" sz="2800" dirty="0" smtClean="0"/>
              <a:t>Propositions: “Sentences,” which</a:t>
            </a:r>
          </a:p>
          <a:p>
            <a:r>
              <a:rPr lang="en-US" sz="2800" dirty="0" smtClean="0"/>
              <a:t>Are atomic (that is, they must be treated as indivisible units, with no internal structure), and</a:t>
            </a:r>
          </a:p>
          <a:p>
            <a:r>
              <a:rPr lang="en-US" sz="2800" dirty="0" smtClean="0"/>
              <a:t>Often represented using symbols, e.g. P, Q, A etc.</a:t>
            </a:r>
          </a:p>
          <a:p>
            <a:r>
              <a:rPr lang="en-US" sz="2800" dirty="0" smtClean="0"/>
              <a:t>Have a single logical value, either true or false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17231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Manipulate basic Boolean logic operations (AND, OR, NOT, IMPLIES, EQUIVALENCE.)</a:t>
            </a:r>
          </a:p>
          <a:p>
            <a:r>
              <a:rPr lang="en-US" dirty="0" smtClean="0"/>
              <a:t>E.g.:</a:t>
            </a:r>
          </a:p>
          <a:p>
            <a:r>
              <a:rPr lang="en-US" dirty="0" smtClean="0"/>
              <a:t>Normal :“Today is raining, therefore I will miss the class”</a:t>
            </a:r>
          </a:p>
          <a:p>
            <a:r>
              <a:rPr lang="en-US" dirty="0" smtClean="0"/>
              <a:t>Logic : </a:t>
            </a:r>
            <a:r>
              <a:rPr lang="en-US" dirty="0" err="1" smtClean="0"/>
              <a:t>today_raining</a:t>
            </a:r>
            <a:r>
              <a:rPr lang="en-US" dirty="0" smtClean="0"/>
              <a:t> ⇒ </a:t>
            </a:r>
            <a:r>
              <a:rPr lang="en-US" dirty="0" err="1" smtClean="0"/>
              <a:t>i_will_miss_class</a:t>
            </a:r>
            <a:endParaRPr lang="en-US" dirty="0" smtClean="0"/>
          </a:p>
          <a:p>
            <a:r>
              <a:rPr lang="en-US" dirty="0" smtClean="0"/>
              <a:t>• propositional variables (A,B, . . . , P,Q, . . .)</a:t>
            </a:r>
          </a:p>
          <a:p>
            <a:r>
              <a:rPr lang="en-US" dirty="0" smtClean="0"/>
              <a:t>• logical constants (</a:t>
            </a:r>
            <a:r>
              <a:rPr lang="en-US" dirty="0" err="1" smtClean="0"/>
              <a:t>True,False</a:t>
            </a:r>
            <a:r>
              <a:rPr lang="en-US" dirty="0" smtClean="0"/>
              <a:t>)</a:t>
            </a:r>
          </a:p>
          <a:p>
            <a:r>
              <a:rPr lang="en-US" dirty="0" smtClean="0"/>
              <a:t>• logical connectives (∧,∨,⇒, . . .)</a:t>
            </a:r>
          </a:p>
          <a:p>
            <a:r>
              <a:rPr lang="en-US" dirty="0" smtClean="0"/>
              <a:t>Every propositional variable stands for a basic fact</a:t>
            </a:r>
          </a:p>
          <a:p>
            <a:r>
              <a:rPr lang="en-US" dirty="0" smtClean="0"/>
              <a:t>Examples: I’m hungry, Apples are red, Joe and Jill are friends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Combining two or more PL forms compound propositions (CP) or formulae.</a:t>
            </a:r>
          </a:p>
          <a:p>
            <a:r>
              <a:rPr lang="en-US" dirty="0" smtClean="0"/>
              <a:t>CP consists of propositions and logical operators.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570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 smtClean="0"/>
              <a:t>Logical operators:</a:t>
            </a:r>
          </a:p>
          <a:p>
            <a:pPr algn="just"/>
            <a:endParaRPr lang="en-US" dirty="0" smtClean="0">
              <a:solidFill>
                <a:schemeClr val="tx2"/>
              </a:solidFill>
              <a:sym typeface="Wingdings" pitchFamily="2" charset="2"/>
            </a:endParaRPr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286000"/>
            <a:ext cx="7413625" cy="3535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538830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Nested formulae – important to express the actual meaning of a </a:t>
            </a:r>
            <a:r>
              <a:rPr lang="en-US" dirty="0" err="1" smtClean="0"/>
              <a:t>wff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E.g</a:t>
            </a:r>
            <a:r>
              <a:rPr lang="en-US" dirty="0" smtClean="0"/>
              <a:t>: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it_is_raining</a:t>
            </a:r>
            <a:r>
              <a:rPr lang="en-US" dirty="0" smtClean="0"/>
              <a:t> ⇒ </a:t>
            </a:r>
            <a:r>
              <a:rPr lang="en-US" dirty="0" err="1" smtClean="0"/>
              <a:t>kitty_is_outside</a:t>
            </a:r>
            <a:r>
              <a:rPr lang="en-US" dirty="0" smtClean="0"/>
              <a:t> ⇒ </a:t>
            </a:r>
            <a:r>
              <a:rPr lang="en-US" dirty="0" err="1" smtClean="0"/>
              <a:t>kitty_gets_wet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(1) (</a:t>
            </a:r>
            <a:r>
              <a:rPr lang="en-US" dirty="0" err="1" smtClean="0"/>
              <a:t>it_is_raining</a:t>
            </a:r>
            <a:r>
              <a:rPr lang="en-US" dirty="0" smtClean="0"/>
              <a:t> ⇒ </a:t>
            </a:r>
            <a:r>
              <a:rPr lang="en-US" dirty="0" err="1" smtClean="0"/>
              <a:t>kitty_is_outside</a:t>
            </a:r>
            <a:r>
              <a:rPr lang="en-US" dirty="0" smtClean="0"/>
              <a:t>) ⇒ </a:t>
            </a:r>
            <a:r>
              <a:rPr lang="en-US" dirty="0" err="1" smtClean="0"/>
              <a:t>kitty_gets_wet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(2) </a:t>
            </a:r>
            <a:r>
              <a:rPr lang="en-US" dirty="0" err="1" smtClean="0"/>
              <a:t>it_is_raining</a:t>
            </a:r>
            <a:r>
              <a:rPr lang="en-US" dirty="0" smtClean="0"/>
              <a:t>  (</a:t>
            </a:r>
            <a:r>
              <a:rPr lang="en-US" dirty="0" err="1" smtClean="0"/>
              <a:t>kitty_is_outside</a:t>
            </a:r>
            <a:r>
              <a:rPr lang="en-US" dirty="0" smtClean="0"/>
              <a:t> ⇒ </a:t>
            </a:r>
            <a:r>
              <a:rPr lang="en-US" dirty="0" err="1" smtClean="0"/>
              <a:t>kitty_gets_wet</a:t>
            </a:r>
            <a:r>
              <a:rPr lang="en-US" dirty="0" smtClean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1971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Truth table – a common method to prove the truth value of any statement written in PL.</a:t>
            </a:r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275" y="3178175"/>
            <a:ext cx="7029450" cy="284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153401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Exclusive or (</a:t>
            </a:r>
            <a:r>
              <a:rPr lang="en-US" altLang="en-US" dirty="0" err="1" smtClean="0">
                <a:solidFill>
                  <a:schemeClr val="accent2"/>
                </a:solidFill>
                <a:latin typeface="Trebuchet MS" pitchFamily="34" charset="0"/>
                <a:sym typeface="Symbol" pitchFamily="18" charset="2"/>
              </a:rPr>
              <a:t>xor</a:t>
            </a:r>
            <a:r>
              <a:rPr lang="en-US" altLang="en-US" dirty="0" smtClean="0"/>
              <a:t>) is true if exactly one of its operands is true</a:t>
            </a:r>
          </a:p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" y="2941637"/>
            <a:ext cx="8113713" cy="2468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1799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 smtClean="0"/>
              <a:t>Truth table – determines the category of formula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>
                <a:solidFill>
                  <a:srgbClr val="FF0000"/>
                </a:solidFill>
              </a:rPr>
              <a:t>Tautology</a:t>
            </a:r>
            <a:r>
              <a:rPr lang="en-US" sz="2400" dirty="0" smtClean="0"/>
              <a:t> – formula is always T regardless of the truth values of its propositions. </a:t>
            </a:r>
          </a:p>
          <a:p>
            <a:pPr lvl="2">
              <a:lnSpc>
                <a:spcPct val="90000"/>
              </a:lnSpc>
            </a:pPr>
            <a:r>
              <a:rPr lang="en-US" sz="2000" dirty="0" smtClean="0"/>
              <a:t>E.g. </a:t>
            </a:r>
            <a:r>
              <a:rPr lang="en-US" sz="2000" b="1" dirty="0" smtClean="0">
                <a:solidFill>
                  <a:srgbClr val="00B0F0"/>
                </a:solidFill>
              </a:rPr>
              <a:t>(P</a:t>
            </a:r>
            <a:r>
              <a:rPr lang="en-US" sz="2000" b="1" dirty="0" smtClean="0">
                <a:solidFill>
                  <a:srgbClr val="00B0F0"/>
                </a:solidFill>
                <a:sym typeface="Symbol" pitchFamily="18" charset="2"/>
              </a:rPr>
              <a:t>(PQ))Q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>
                <a:solidFill>
                  <a:srgbClr val="FF0000"/>
                </a:solidFill>
                <a:sym typeface="Symbol" pitchFamily="18" charset="2"/>
              </a:rPr>
              <a:t>Contingent</a:t>
            </a:r>
            <a:r>
              <a:rPr lang="en-US" sz="2400" dirty="0" smtClean="0">
                <a:sym typeface="Symbol" pitchFamily="18" charset="2"/>
              </a:rPr>
              <a:t> – formula is sometimes T and sometimes F, depending on the truth values of its propositions</a:t>
            </a:r>
          </a:p>
          <a:p>
            <a:pPr lvl="2">
              <a:lnSpc>
                <a:spcPct val="90000"/>
              </a:lnSpc>
            </a:pPr>
            <a:r>
              <a:rPr lang="en-US" sz="2000" dirty="0" smtClean="0">
                <a:sym typeface="Symbol" pitchFamily="18" charset="2"/>
              </a:rPr>
              <a:t>E.g. </a:t>
            </a:r>
            <a:r>
              <a:rPr lang="en-US" sz="2000" b="1" dirty="0" smtClean="0">
                <a:solidFill>
                  <a:srgbClr val="00B0F0"/>
                </a:solidFill>
                <a:sym typeface="Symbol" pitchFamily="18" charset="2"/>
              </a:rPr>
              <a:t>(AB)C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>
                <a:solidFill>
                  <a:srgbClr val="FF0000"/>
                </a:solidFill>
                <a:sym typeface="Symbol" pitchFamily="18" charset="2"/>
              </a:rPr>
              <a:t>Inconsistent</a:t>
            </a:r>
            <a:r>
              <a:rPr lang="en-US" sz="2400" dirty="0" smtClean="0">
                <a:sym typeface="Symbol" pitchFamily="18" charset="2"/>
              </a:rPr>
              <a:t> – formula is always F regardless of the truth values of its propositions</a:t>
            </a:r>
          </a:p>
          <a:p>
            <a:pPr lvl="2">
              <a:lnSpc>
                <a:spcPct val="90000"/>
              </a:lnSpc>
            </a:pPr>
            <a:r>
              <a:rPr lang="en-US" sz="2000" dirty="0" smtClean="0">
                <a:sym typeface="Symbol" pitchFamily="18" charset="2"/>
              </a:rPr>
              <a:t>E.g. </a:t>
            </a:r>
            <a:r>
              <a:rPr lang="en-US" sz="2000" b="1" dirty="0" smtClean="0">
                <a:solidFill>
                  <a:srgbClr val="00B0F0"/>
                </a:solidFill>
                <a:sym typeface="Symbol" pitchFamily="18" charset="2"/>
              </a:rPr>
              <a:t>P(P)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2385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0" lvl="0" indent="-256032">
              <a:lnSpc>
                <a:spcPct val="9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/>
              <a:buChar char=""/>
            </a:pPr>
            <a:r>
              <a:rPr lang="en-US" sz="2700" dirty="0">
                <a:solidFill>
                  <a:prstClr val="black"/>
                </a:solidFill>
                <a:latin typeface="Lucida Sans Unicode"/>
              </a:rPr>
              <a:t>Limitation</a:t>
            </a:r>
          </a:p>
          <a:p>
            <a:pPr marL="621792" lvl="1" indent="-228600">
              <a:lnSpc>
                <a:spcPct val="90000"/>
              </a:lnSpc>
              <a:spcBef>
                <a:spcPts val="324"/>
              </a:spcBef>
              <a:buClr>
                <a:srgbClr val="2DA2BF"/>
              </a:buClr>
              <a:buFont typeface="Verdana"/>
              <a:buChar char="◦"/>
            </a:pPr>
            <a:r>
              <a:rPr lang="en-US" sz="2300" dirty="0">
                <a:solidFill>
                  <a:prstClr val="black"/>
                </a:solidFill>
                <a:latin typeface="Lucida Sans Unicode"/>
              </a:rPr>
              <a:t>Cannot express universality of objects</a:t>
            </a:r>
          </a:p>
          <a:p>
            <a:pPr marL="859536" lvl="2">
              <a:lnSpc>
                <a:spcPct val="90000"/>
              </a:lnSpc>
              <a:spcBef>
                <a:spcPts val="350"/>
              </a:spcBef>
              <a:buClr>
                <a:srgbClr val="DA1F28"/>
              </a:buClr>
              <a:buSzPct val="100000"/>
              <a:buFont typeface="Wingdings 2"/>
              <a:buChar char=""/>
            </a:pPr>
            <a:r>
              <a:rPr lang="en-US" sz="2100" b="1" dirty="0">
                <a:solidFill>
                  <a:srgbClr val="00B0F0"/>
                </a:solidFill>
                <a:latin typeface="Lucida Sans Unicode"/>
              </a:rPr>
              <a:t>E.g.</a:t>
            </a:r>
            <a:r>
              <a:rPr lang="en-US" sz="2100" dirty="0">
                <a:solidFill>
                  <a:prstClr val="black"/>
                </a:solidFill>
                <a:latin typeface="Lucida Sans Unicode"/>
              </a:rPr>
              <a:t> </a:t>
            </a:r>
          </a:p>
          <a:p>
            <a:pPr marL="1143000" lvl="3">
              <a:lnSpc>
                <a:spcPct val="90000"/>
              </a:lnSpc>
              <a:spcBef>
                <a:spcPts val="350"/>
              </a:spcBef>
              <a:buClr>
                <a:srgbClr val="DA1F28"/>
              </a:buClr>
              <a:buFont typeface="Wingdings 2"/>
              <a:buChar char=""/>
            </a:pPr>
            <a:r>
              <a:rPr lang="en-US" sz="2400" dirty="0">
                <a:solidFill>
                  <a:prstClr val="black"/>
                </a:solidFill>
                <a:latin typeface="Lucida Sans Unicode"/>
              </a:rPr>
              <a:t>“</a:t>
            </a:r>
            <a:r>
              <a:rPr lang="en-US" sz="2400" dirty="0">
                <a:solidFill>
                  <a:srgbClr val="FF0000"/>
                </a:solidFill>
                <a:latin typeface="Lucida Sans Unicode"/>
              </a:rPr>
              <a:t>all computers have processor</a:t>
            </a:r>
            <a:r>
              <a:rPr lang="en-US" sz="2400" dirty="0">
                <a:solidFill>
                  <a:prstClr val="black"/>
                </a:solidFill>
                <a:latin typeface="Lucida Sans Unicode"/>
              </a:rPr>
              <a:t>”; “</a:t>
            </a:r>
            <a:r>
              <a:rPr lang="en-US" sz="2400" dirty="0">
                <a:solidFill>
                  <a:srgbClr val="FF0000"/>
                </a:solidFill>
                <a:latin typeface="Lucida Sans Unicode"/>
              </a:rPr>
              <a:t>all birds fly</a:t>
            </a:r>
            <a:r>
              <a:rPr lang="en-US" sz="2400" dirty="0">
                <a:solidFill>
                  <a:prstClr val="black"/>
                </a:solidFill>
                <a:latin typeface="Lucida Sans Unicode"/>
              </a:rPr>
              <a:t>”.</a:t>
            </a:r>
          </a:p>
          <a:p>
            <a:pPr marL="621792" lvl="1" indent="-228600">
              <a:lnSpc>
                <a:spcPct val="90000"/>
              </a:lnSpc>
              <a:spcBef>
                <a:spcPts val="324"/>
              </a:spcBef>
              <a:buClr>
                <a:srgbClr val="2DA2BF"/>
              </a:buClr>
              <a:buFont typeface="Verdana"/>
              <a:buChar char="◦"/>
            </a:pPr>
            <a:endParaRPr lang="en-US" sz="2300" dirty="0">
              <a:solidFill>
                <a:prstClr val="black"/>
              </a:solidFill>
              <a:latin typeface="Lucida Sans Unicode"/>
              <a:sym typeface="Symbol" pitchFamily="18" charset="2"/>
            </a:endParaRPr>
          </a:p>
          <a:p>
            <a:pPr marL="621792" lvl="1" indent="-228600">
              <a:lnSpc>
                <a:spcPct val="90000"/>
              </a:lnSpc>
              <a:spcBef>
                <a:spcPts val="324"/>
              </a:spcBef>
              <a:buClr>
                <a:srgbClr val="2DA2BF"/>
              </a:buClr>
              <a:buFont typeface="Verdana"/>
              <a:buChar char="◦"/>
            </a:pPr>
            <a:r>
              <a:rPr lang="en-US" sz="2300" dirty="0">
                <a:solidFill>
                  <a:prstClr val="black"/>
                </a:solidFill>
                <a:latin typeface="Lucida Sans Unicode"/>
                <a:sym typeface="Symbol" pitchFamily="18" charset="2"/>
              </a:rPr>
              <a:t>Cannot express existence / inexistence / partial quantity of objects </a:t>
            </a:r>
          </a:p>
          <a:p>
            <a:pPr marL="859536" lvl="2">
              <a:lnSpc>
                <a:spcPct val="90000"/>
              </a:lnSpc>
              <a:spcBef>
                <a:spcPts val="350"/>
              </a:spcBef>
              <a:buClr>
                <a:srgbClr val="DA1F28"/>
              </a:buClr>
              <a:buSzPct val="100000"/>
              <a:buFont typeface="Wingdings 2"/>
              <a:buChar char=""/>
            </a:pPr>
            <a:r>
              <a:rPr lang="en-US" sz="2100" b="1" dirty="0">
                <a:solidFill>
                  <a:srgbClr val="00B0F0"/>
                </a:solidFill>
                <a:latin typeface="Lucida Sans Unicode"/>
                <a:sym typeface="Symbol" pitchFamily="18" charset="2"/>
              </a:rPr>
              <a:t>E.g.</a:t>
            </a:r>
          </a:p>
          <a:p>
            <a:pPr marL="1143000" lvl="3">
              <a:lnSpc>
                <a:spcPct val="90000"/>
              </a:lnSpc>
              <a:spcBef>
                <a:spcPts val="350"/>
              </a:spcBef>
              <a:buClr>
                <a:srgbClr val="DA1F28"/>
              </a:buClr>
              <a:buFont typeface="Wingdings 2"/>
              <a:buChar char=""/>
            </a:pPr>
            <a:r>
              <a:rPr lang="en-US" sz="2400" dirty="0">
                <a:solidFill>
                  <a:prstClr val="black"/>
                </a:solidFill>
                <a:latin typeface="Lucida Sans Unicode"/>
                <a:sym typeface="Symbol" pitchFamily="18" charset="2"/>
              </a:rPr>
              <a:t>“</a:t>
            </a:r>
            <a:r>
              <a:rPr lang="en-US" sz="2400" dirty="0">
                <a:solidFill>
                  <a:srgbClr val="92D050"/>
                </a:solidFill>
                <a:latin typeface="Lucida Sans Unicode"/>
                <a:sym typeface="Symbol" pitchFamily="18" charset="2"/>
              </a:rPr>
              <a:t>there are some birds which cannot fly</a:t>
            </a:r>
            <a:r>
              <a:rPr lang="en-US" sz="2400" dirty="0">
                <a:solidFill>
                  <a:prstClr val="black"/>
                </a:solidFill>
                <a:latin typeface="Lucida Sans Unicode"/>
                <a:sym typeface="Symbol" pitchFamily="18" charset="2"/>
              </a:rPr>
              <a:t>”</a:t>
            </a:r>
          </a:p>
          <a:p>
            <a:pPr marL="1143000" lvl="3">
              <a:lnSpc>
                <a:spcPct val="90000"/>
              </a:lnSpc>
              <a:spcBef>
                <a:spcPts val="350"/>
              </a:spcBef>
              <a:buClr>
                <a:srgbClr val="DA1F28"/>
              </a:buClr>
              <a:buFont typeface="Wingdings 2"/>
              <a:buChar char=""/>
            </a:pPr>
            <a:r>
              <a:rPr lang="en-US" sz="2400" dirty="0">
                <a:solidFill>
                  <a:prstClr val="black"/>
                </a:solidFill>
                <a:latin typeface="Lucida Sans Unicode"/>
                <a:sym typeface="Symbol" pitchFamily="18" charset="2"/>
              </a:rPr>
              <a:t>“</a:t>
            </a:r>
            <a:r>
              <a:rPr lang="en-US" sz="2400" dirty="0">
                <a:solidFill>
                  <a:srgbClr val="92D050"/>
                </a:solidFill>
                <a:latin typeface="Lucida Sans Unicode"/>
                <a:sym typeface="Symbol" pitchFamily="18" charset="2"/>
              </a:rPr>
              <a:t>none of us is immortal</a:t>
            </a:r>
            <a:r>
              <a:rPr lang="en-US" sz="2400" dirty="0">
                <a:solidFill>
                  <a:prstClr val="black"/>
                </a:solidFill>
                <a:latin typeface="Lucida Sans Unicode"/>
                <a:sym typeface="Symbol" pitchFamily="18" charset="2"/>
              </a:rPr>
              <a:t>”</a:t>
            </a:r>
          </a:p>
          <a:p>
            <a:pPr marL="533400" lvl="0" indent="-533400">
              <a:spcBef>
                <a:spcPts val="400"/>
              </a:spcBef>
              <a:buClr>
                <a:srgbClr val="2DA2BF"/>
              </a:buClr>
              <a:buSzPct val="68000"/>
              <a:buNone/>
            </a:pPr>
            <a:endParaRPr lang="en-GB" sz="3600" dirty="0">
              <a:solidFill>
                <a:prstClr val="black"/>
              </a:solidFill>
              <a:latin typeface="Lucida Sans Unicode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6675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Predicate Calculus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33400" lvl="0" indent="-533400" algn="just">
              <a:spcBef>
                <a:spcPts val="400"/>
              </a:spcBef>
              <a:buClr>
                <a:srgbClr val="2DA2BF"/>
              </a:buClr>
              <a:buSzPct val="68000"/>
              <a:buFont typeface="Wingdings 3"/>
              <a:buChar char=""/>
            </a:pPr>
            <a:r>
              <a:rPr lang="en-US" sz="2800" dirty="0">
                <a:solidFill>
                  <a:prstClr val="black"/>
                </a:solidFill>
                <a:latin typeface="Lucida Sans Unicode"/>
              </a:rPr>
              <a:t>Also known as First Order Predicate Logic (FOPL).</a:t>
            </a:r>
          </a:p>
          <a:p>
            <a:pPr marL="533400" lvl="0" indent="-533400" algn="just">
              <a:spcBef>
                <a:spcPts val="400"/>
              </a:spcBef>
              <a:buClr>
                <a:srgbClr val="2DA2BF"/>
              </a:buClr>
              <a:buSzPct val="68000"/>
              <a:buNone/>
            </a:pPr>
            <a:endParaRPr lang="en-US" sz="2800" dirty="0">
              <a:solidFill>
                <a:prstClr val="black"/>
              </a:solidFill>
              <a:latin typeface="Lucida Sans Unicode"/>
            </a:endParaRPr>
          </a:p>
          <a:p>
            <a:pPr marL="533400" lvl="0" indent="-533400" algn="just">
              <a:spcBef>
                <a:spcPts val="400"/>
              </a:spcBef>
              <a:buClr>
                <a:srgbClr val="2DA2BF"/>
              </a:buClr>
              <a:buSzPct val="68000"/>
              <a:buFont typeface="Wingdings 3"/>
              <a:buChar char=""/>
            </a:pPr>
            <a:r>
              <a:rPr lang="en-US" sz="2800" dirty="0">
                <a:solidFill>
                  <a:prstClr val="black"/>
                </a:solidFill>
                <a:latin typeface="Lucida Sans Unicode"/>
              </a:rPr>
              <a:t>This method overcomes the limitations of propositional logic through use of quantifiers and variables.</a:t>
            </a:r>
          </a:p>
          <a:p>
            <a:pPr marL="533400" lvl="0" indent="-533400" algn="just">
              <a:spcBef>
                <a:spcPts val="400"/>
              </a:spcBef>
              <a:buClr>
                <a:srgbClr val="2DA2BF"/>
              </a:buClr>
              <a:buSzPct val="68000"/>
              <a:buNone/>
            </a:pPr>
            <a:endParaRPr lang="en-US" sz="2800" dirty="0">
              <a:solidFill>
                <a:prstClr val="black"/>
              </a:solidFill>
              <a:latin typeface="Lucida Sans Unicode"/>
            </a:endParaRPr>
          </a:p>
          <a:p>
            <a:pPr marL="622300" lvl="0" indent="-457200" algn="just">
              <a:spcBef>
                <a:spcPts val="400"/>
              </a:spcBef>
              <a:buClr>
                <a:srgbClr val="2DA2BF"/>
              </a:buClr>
              <a:buSzPct val="68000"/>
              <a:buFont typeface="Wingdings 3"/>
              <a:buChar char=""/>
            </a:pPr>
            <a:r>
              <a:rPr lang="en-US" sz="2800" b="1" dirty="0">
                <a:solidFill>
                  <a:srgbClr val="92D050"/>
                </a:solidFill>
                <a:latin typeface="Lucida Sans Unicode"/>
                <a:sym typeface="Wingdings" pitchFamily="2" charset="2"/>
              </a:rPr>
              <a:t>Main structure</a:t>
            </a:r>
          </a:p>
          <a:p>
            <a:pPr marL="914400" lvl="1" indent="-457200" algn="just">
              <a:spcBef>
                <a:spcPts val="324"/>
              </a:spcBef>
              <a:buClr>
                <a:srgbClr val="2DA2BF"/>
              </a:buClr>
              <a:buNone/>
            </a:pPr>
            <a:r>
              <a:rPr lang="en-US" sz="2300" dirty="0">
                <a:solidFill>
                  <a:prstClr val="black"/>
                </a:solidFill>
                <a:latin typeface="Lucida Sans Unicode"/>
                <a:sym typeface="Wingdings" pitchFamily="2" charset="2"/>
              </a:rPr>
              <a:t>	 argument (i.e. variables and/or constants) is linked by operator (i.e. </a:t>
            </a:r>
            <a:r>
              <a:rPr lang="en-US" sz="2300" dirty="0" err="1">
                <a:solidFill>
                  <a:prstClr val="black"/>
                </a:solidFill>
                <a:latin typeface="Lucida Sans Unicode"/>
                <a:sym typeface="Wingdings" pitchFamily="2" charset="2"/>
              </a:rPr>
              <a:t>functor</a:t>
            </a:r>
            <a:r>
              <a:rPr lang="en-US" sz="2300" dirty="0">
                <a:solidFill>
                  <a:prstClr val="black"/>
                </a:solidFill>
                <a:latin typeface="Lucida Sans Unicode"/>
                <a:sym typeface="Wingdings" pitchFamily="2" charset="2"/>
              </a:rPr>
              <a:t>).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7311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Calculus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365760" lvl="0" indent="-256032">
              <a:spcBef>
                <a:spcPts val="400"/>
              </a:spcBef>
              <a:buClr>
                <a:srgbClr val="2DA2BF"/>
              </a:buClr>
              <a:buSzPct val="68000"/>
              <a:buFont typeface="Wingdings 3"/>
              <a:buChar char=""/>
            </a:pPr>
            <a:r>
              <a:rPr lang="en-GB" sz="2700" dirty="0">
                <a:solidFill>
                  <a:prstClr val="black"/>
                </a:solidFill>
                <a:latin typeface="Lucida Sans Unicode"/>
              </a:rPr>
              <a:t>A predicate</a:t>
            </a:r>
          </a:p>
          <a:p>
            <a:pPr marL="859536" lvl="2">
              <a:spcBef>
                <a:spcPts val="350"/>
              </a:spcBef>
              <a:buClr>
                <a:srgbClr val="DA1F28"/>
              </a:buClr>
              <a:buSzPct val="100000"/>
              <a:buNone/>
            </a:pPr>
            <a:r>
              <a:rPr lang="en-GB" sz="2100" b="1" dirty="0" err="1">
                <a:solidFill>
                  <a:srgbClr val="0070C0"/>
                </a:solidFill>
                <a:latin typeface="Lucida Sans Unicode"/>
              </a:rPr>
              <a:t>functor</a:t>
            </a:r>
            <a:r>
              <a:rPr lang="en-GB" sz="2100" b="1" dirty="0">
                <a:solidFill>
                  <a:srgbClr val="0070C0"/>
                </a:solidFill>
                <a:latin typeface="Lucida Sans Unicode"/>
              </a:rPr>
              <a:t>(argument1, argument2)</a:t>
            </a:r>
          </a:p>
          <a:p>
            <a:pPr marL="859536" lvl="2">
              <a:spcBef>
                <a:spcPts val="350"/>
              </a:spcBef>
              <a:buClr>
                <a:srgbClr val="DA1F28"/>
              </a:buClr>
              <a:buSzPct val="100000"/>
              <a:buNone/>
            </a:pPr>
            <a:endParaRPr lang="en-GB" sz="2100" dirty="0">
              <a:solidFill>
                <a:prstClr val="black"/>
              </a:solidFill>
              <a:latin typeface="Lucida Sans Unicode"/>
            </a:endParaRPr>
          </a:p>
          <a:p>
            <a:pPr marL="365760" lvl="0" indent="-256032">
              <a:spcBef>
                <a:spcPts val="400"/>
              </a:spcBef>
              <a:buClr>
                <a:srgbClr val="2DA2BF"/>
              </a:buClr>
              <a:buSzPct val="68000"/>
              <a:buFont typeface="Wingdings 3"/>
              <a:buChar char=""/>
            </a:pPr>
            <a:r>
              <a:rPr lang="en-GB" sz="2400" dirty="0">
                <a:solidFill>
                  <a:prstClr val="black"/>
                </a:solidFill>
                <a:latin typeface="Lucida Sans Unicode"/>
              </a:rPr>
              <a:t>A predicate consists of </a:t>
            </a:r>
            <a:r>
              <a:rPr lang="en-GB" sz="2400" b="1" u="sng" dirty="0" err="1">
                <a:solidFill>
                  <a:srgbClr val="FF0000"/>
                </a:solidFill>
                <a:latin typeface="Lucida Sans Unicode"/>
              </a:rPr>
              <a:t>functor</a:t>
            </a:r>
            <a:r>
              <a:rPr lang="en-GB" sz="2400" dirty="0">
                <a:solidFill>
                  <a:prstClr val="black"/>
                </a:solidFill>
                <a:latin typeface="Lucida Sans Unicode"/>
              </a:rPr>
              <a:t> and zero or more </a:t>
            </a:r>
            <a:r>
              <a:rPr lang="en-GB" sz="2400" b="1" u="sng" dirty="0">
                <a:solidFill>
                  <a:srgbClr val="FF0000"/>
                </a:solidFill>
                <a:latin typeface="Lucida Sans Unicode"/>
              </a:rPr>
              <a:t>arguments</a:t>
            </a:r>
          </a:p>
          <a:p>
            <a:pPr marL="621792" lvl="1" indent="-228600">
              <a:spcBef>
                <a:spcPts val="324"/>
              </a:spcBef>
              <a:buClr>
                <a:srgbClr val="2DA2BF"/>
              </a:buClr>
              <a:buFont typeface="Verdana"/>
              <a:buChar char="◦"/>
            </a:pPr>
            <a:r>
              <a:rPr lang="en-GB" sz="2400" dirty="0" err="1">
                <a:solidFill>
                  <a:prstClr val="black"/>
                </a:solidFill>
                <a:latin typeface="Lucida Sans Unicode"/>
              </a:rPr>
              <a:t>Functor</a:t>
            </a:r>
            <a:r>
              <a:rPr lang="en-GB" sz="2400" dirty="0">
                <a:solidFill>
                  <a:prstClr val="black"/>
                </a:solidFill>
                <a:latin typeface="Lucida Sans Unicode"/>
              </a:rPr>
              <a:t> (or predicate name) relates the arguments</a:t>
            </a:r>
            <a:endParaRPr lang="en-GB" sz="2000" dirty="0">
              <a:solidFill>
                <a:prstClr val="black"/>
              </a:solidFill>
              <a:latin typeface="Lucida Sans Unicode"/>
            </a:endParaRPr>
          </a:p>
          <a:p>
            <a:pPr marL="621792" lvl="1" indent="-228600">
              <a:spcBef>
                <a:spcPts val="324"/>
              </a:spcBef>
              <a:buClr>
                <a:srgbClr val="2DA2BF"/>
              </a:buClr>
              <a:buFont typeface="Verdana"/>
              <a:buChar char="◦"/>
            </a:pPr>
            <a:r>
              <a:rPr lang="en-GB" sz="2400" dirty="0">
                <a:solidFill>
                  <a:prstClr val="black"/>
                </a:solidFill>
                <a:latin typeface="Lucida Sans Unicode"/>
              </a:rPr>
              <a:t>Argument can be </a:t>
            </a:r>
            <a:r>
              <a:rPr lang="en-GB" sz="2400" u="sng" dirty="0">
                <a:solidFill>
                  <a:prstClr val="black"/>
                </a:solidFill>
                <a:latin typeface="Lucida Sans Unicode"/>
              </a:rPr>
              <a:t>variables</a:t>
            </a:r>
            <a:r>
              <a:rPr lang="en-GB" sz="2400" dirty="0">
                <a:solidFill>
                  <a:prstClr val="black"/>
                </a:solidFill>
                <a:latin typeface="Lucida Sans Unicode"/>
              </a:rPr>
              <a:t> or </a:t>
            </a:r>
            <a:r>
              <a:rPr lang="en-GB" sz="2400" u="sng" dirty="0">
                <a:solidFill>
                  <a:prstClr val="black"/>
                </a:solidFill>
                <a:latin typeface="Lucida Sans Unicode"/>
              </a:rPr>
              <a:t>constant </a:t>
            </a:r>
          </a:p>
          <a:p>
            <a:pPr marL="859536" lvl="2">
              <a:spcBef>
                <a:spcPts val="350"/>
              </a:spcBef>
              <a:buClr>
                <a:srgbClr val="DA1F28"/>
              </a:buClr>
              <a:buSzPct val="100000"/>
              <a:buFont typeface="Wingdings 2"/>
              <a:buChar char=""/>
            </a:pPr>
            <a:r>
              <a:rPr lang="en-GB" sz="2100" b="1" dirty="0">
                <a:solidFill>
                  <a:srgbClr val="0070C0"/>
                </a:solidFill>
                <a:latin typeface="Lucida Sans Unicode"/>
              </a:rPr>
              <a:t>Variables</a:t>
            </a:r>
          </a:p>
          <a:p>
            <a:pPr marL="1143000" lvl="3">
              <a:spcBef>
                <a:spcPts val="350"/>
              </a:spcBef>
              <a:buClr>
                <a:srgbClr val="DA1F28"/>
              </a:buClr>
              <a:buFont typeface="Wingdings 2"/>
              <a:buChar char=""/>
            </a:pPr>
            <a:r>
              <a:rPr lang="en-GB" sz="2400" dirty="0">
                <a:solidFill>
                  <a:prstClr val="black"/>
                </a:solidFill>
                <a:latin typeface="Lucida Sans Unicode"/>
              </a:rPr>
              <a:t>A symbol in capital letter or a word begins with upper case letter</a:t>
            </a:r>
          </a:p>
          <a:p>
            <a:pPr marL="1143000" lvl="3">
              <a:spcBef>
                <a:spcPts val="350"/>
              </a:spcBef>
              <a:buClr>
                <a:srgbClr val="DA1F28"/>
              </a:buClr>
              <a:buFont typeface="Wingdings 2"/>
              <a:buChar char=""/>
            </a:pPr>
            <a:r>
              <a:rPr lang="en-GB" sz="2400" dirty="0">
                <a:solidFill>
                  <a:prstClr val="black"/>
                </a:solidFill>
                <a:latin typeface="Lucida Sans Unicode"/>
              </a:rPr>
              <a:t>Represent general classes of objects or properties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6794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Calculus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0" lvl="3">
              <a:spcBef>
                <a:spcPts val="350"/>
              </a:spcBef>
              <a:buClr>
                <a:srgbClr val="DA1F28"/>
              </a:buClr>
              <a:buFont typeface="Wingdings 2"/>
              <a:buChar char=""/>
            </a:pPr>
            <a:r>
              <a:rPr lang="en-GB" sz="2400" dirty="0">
                <a:solidFill>
                  <a:prstClr val="black"/>
                </a:solidFill>
                <a:latin typeface="Lucida Sans Unicode"/>
              </a:rPr>
              <a:t>E.g.: </a:t>
            </a:r>
          </a:p>
          <a:p>
            <a:pPr marL="1143000" lvl="3">
              <a:spcBef>
                <a:spcPts val="350"/>
              </a:spcBef>
              <a:buClr>
                <a:srgbClr val="DA1F28"/>
              </a:buClr>
              <a:buNone/>
            </a:pPr>
            <a:endParaRPr lang="en-GB" sz="2400" dirty="0">
              <a:solidFill>
                <a:prstClr val="black"/>
              </a:solidFill>
              <a:latin typeface="Lucida Sans Unicode"/>
            </a:endParaRPr>
          </a:p>
          <a:p>
            <a:pPr marL="1143000" lvl="3">
              <a:spcBef>
                <a:spcPts val="350"/>
              </a:spcBef>
              <a:buClr>
                <a:srgbClr val="DA1F28"/>
              </a:buClr>
              <a:buNone/>
            </a:pPr>
            <a:r>
              <a:rPr lang="en-GB" sz="2400" b="1" dirty="0">
                <a:solidFill>
                  <a:srgbClr val="0070C0"/>
                </a:solidFill>
                <a:latin typeface="Lucida Sans Unicode"/>
              </a:rPr>
              <a:t>	teach(X,Y)</a:t>
            </a:r>
          </a:p>
          <a:p>
            <a:pPr marL="1143000" lvl="3">
              <a:spcBef>
                <a:spcPts val="350"/>
              </a:spcBef>
              <a:buClr>
                <a:srgbClr val="DA1F28"/>
              </a:buClr>
              <a:buNone/>
            </a:pPr>
            <a:r>
              <a:rPr lang="en-GB" sz="2400" dirty="0">
                <a:solidFill>
                  <a:prstClr val="black"/>
                </a:solidFill>
                <a:latin typeface="Lucida Sans Unicode"/>
              </a:rPr>
              <a:t>	X and Y can be substituted with any value/constant such as:</a:t>
            </a:r>
          </a:p>
          <a:p>
            <a:pPr marL="1143000" lvl="3">
              <a:spcBef>
                <a:spcPts val="350"/>
              </a:spcBef>
              <a:buClr>
                <a:srgbClr val="DA1F28"/>
              </a:buClr>
              <a:buNone/>
            </a:pPr>
            <a:r>
              <a:rPr lang="en-GB" sz="2400" dirty="0">
                <a:solidFill>
                  <a:prstClr val="black"/>
                </a:solidFill>
                <a:latin typeface="Lucida Sans Unicode"/>
              </a:rPr>
              <a:t>		 ‘</a:t>
            </a:r>
            <a:r>
              <a:rPr lang="en-GB" sz="2400" dirty="0" err="1">
                <a:solidFill>
                  <a:prstClr val="black"/>
                </a:solidFill>
                <a:latin typeface="Lucida Sans Unicode"/>
              </a:rPr>
              <a:t>dave</a:t>
            </a:r>
            <a:r>
              <a:rPr lang="en-GB" sz="2400" dirty="0">
                <a:solidFill>
                  <a:prstClr val="black"/>
                </a:solidFill>
                <a:latin typeface="Lucida Sans Unicode"/>
              </a:rPr>
              <a:t>’ and ‘comp5346’, </a:t>
            </a:r>
          </a:p>
          <a:p>
            <a:pPr marL="1143000" lvl="3">
              <a:spcBef>
                <a:spcPts val="350"/>
              </a:spcBef>
              <a:buClr>
                <a:srgbClr val="DA1F28"/>
              </a:buClr>
              <a:buNone/>
            </a:pPr>
            <a:r>
              <a:rPr lang="en-GB" sz="2400" dirty="0">
                <a:solidFill>
                  <a:prstClr val="black"/>
                </a:solidFill>
                <a:latin typeface="Lucida Sans Unicode"/>
              </a:rPr>
              <a:t>	</a:t>
            </a:r>
          </a:p>
          <a:p>
            <a:pPr marL="1143000" lvl="3">
              <a:spcBef>
                <a:spcPts val="350"/>
              </a:spcBef>
              <a:buClr>
                <a:srgbClr val="DA1F28"/>
              </a:buClr>
              <a:buNone/>
            </a:pPr>
            <a:r>
              <a:rPr lang="en-GB" sz="2400" dirty="0">
                <a:solidFill>
                  <a:prstClr val="black"/>
                </a:solidFill>
                <a:latin typeface="Lucida Sans Unicode"/>
              </a:rPr>
              <a:t>	resulting in: </a:t>
            </a:r>
          </a:p>
          <a:p>
            <a:pPr marL="1143000" lvl="3">
              <a:spcBef>
                <a:spcPts val="350"/>
              </a:spcBef>
              <a:buClr>
                <a:srgbClr val="DA1F28"/>
              </a:buClr>
              <a:buNone/>
            </a:pPr>
            <a:r>
              <a:rPr lang="en-GB" sz="2400" dirty="0">
                <a:solidFill>
                  <a:prstClr val="black"/>
                </a:solidFill>
                <a:latin typeface="Lucida Sans Unicode"/>
              </a:rPr>
              <a:t>		teach(dave,comp5346)</a:t>
            </a:r>
          </a:p>
          <a:p>
            <a:pPr marL="1143000" lvl="3">
              <a:spcBef>
                <a:spcPts val="350"/>
              </a:spcBef>
              <a:buClr>
                <a:srgbClr val="DA1F28"/>
              </a:buClr>
              <a:buNone/>
            </a:pPr>
            <a:endParaRPr lang="en-GB" sz="1900" dirty="0">
              <a:solidFill>
                <a:prstClr val="black"/>
              </a:solidFill>
              <a:latin typeface="Lucida Sans Unicode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7240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Calculus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859536" lvl="2">
              <a:spcBef>
                <a:spcPts val="350"/>
              </a:spcBef>
              <a:buClr>
                <a:srgbClr val="DA1F28"/>
              </a:buClr>
              <a:buSzPct val="100000"/>
              <a:buFont typeface="Wingdings 2"/>
              <a:buChar char=""/>
            </a:pPr>
            <a:r>
              <a:rPr lang="en-GB" sz="2100" b="1" dirty="0">
                <a:solidFill>
                  <a:srgbClr val="0070C0"/>
                </a:solidFill>
                <a:latin typeface="Lucida Sans Unicode"/>
              </a:rPr>
              <a:t>Constant</a:t>
            </a:r>
          </a:p>
          <a:p>
            <a:pPr marL="1143000" lvl="3">
              <a:spcBef>
                <a:spcPts val="350"/>
              </a:spcBef>
              <a:buClr>
                <a:srgbClr val="DA1F28"/>
              </a:buClr>
              <a:buFont typeface="Wingdings 2"/>
              <a:buChar char=""/>
            </a:pPr>
            <a:r>
              <a:rPr lang="en-GB" sz="1800" dirty="0">
                <a:solidFill>
                  <a:prstClr val="black"/>
                </a:solidFill>
                <a:latin typeface="Lucida Sans Unicode"/>
              </a:rPr>
              <a:t> </a:t>
            </a:r>
            <a:r>
              <a:rPr lang="en-GB" sz="2400" dirty="0">
                <a:solidFill>
                  <a:prstClr val="black"/>
                </a:solidFill>
                <a:latin typeface="Lucida Sans Unicode"/>
              </a:rPr>
              <a:t>A symbol or string of letters begins with lower case letter</a:t>
            </a:r>
          </a:p>
          <a:p>
            <a:pPr marL="1143000" lvl="3">
              <a:spcBef>
                <a:spcPts val="350"/>
              </a:spcBef>
              <a:buClr>
                <a:srgbClr val="DA1F28"/>
              </a:buClr>
              <a:buFont typeface="Wingdings 2"/>
              <a:buChar char=""/>
            </a:pPr>
            <a:r>
              <a:rPr lang="en-GB" sz="2400" dirty="0">
                <a:solidFill>
                  <a:prstClr val="black"/>
                </a:solidFill>
                <a:latin typeface="Lucida Sans Unicode"/>
              </a:rPr>
              <a:t>Represent specific classes of objects or properties</a:t>
            </a:r>
          </a:p>
          <a:p>
            <a:pPr marL="1143000" lvl="3">
              <a:spcBef>
                <a:spcPts val="350"/>
              </a:spcBef>
              <a:buClr>
                <a:srgbClr val="DA1F28"/>
              </a:buClr>
              <a:buFont typeface="Wingdings 2"/>
              <a:buChar char=""/>
            </a:pPr>
            <a:r>
              <a:rPr lang="en-GB" sz="2400" dirty="0">
                <a:solidFill>
                  <a:prstClr val="black"/>
                </a:solidFill>
                <a:latin typeface="Lucida Sans Unicode"/>
              </a:rPr>
              <a:t>E.g.:</a:t>
            </a:r>
          </a:p>
          <a:p>
            <a:pPr marL="1371600" lvl="4">
              <a:spcBef>
                <a:spcPts val="350"/>
              </a:spcBef>
              <a:buClr>
                <a:srgbClr val="DA1F28"/>
              </a:buClr>
              <a:buFont typeface="Wingdings 2"/>
              <a:buChar char=""/>
            </a:pPr>
            <a:r>
              <a:rPr lang="en-GB" sz="2400" dirty="0">
                <a:solidFill>
                  <a:prstClr val="black"/>
                </a:solidFill>
                <a:latin typeface="Lucida Sans Unicode"/>
              </a:rPr>
              <a:t>‘</a:t>
            </a:r>
            <a:r>
              <a:rPr lang="en-GB" sz="2400" dirty="0" err="1">
                <a:solidFill>
                  <a:srgbClr val="FF0000"/>
                </a:solidFill>
                <a:latin typeface="Lucida Sans Unicode"/>
              </a:rPr>
              <a:t>d</a:t>
            </a:r>
            <a:r>
              <a:rPr lang="en-GB" sz="2400" dirty="0" err="1">
                <a:solidFill>
                  <a:prstClr val="black"/>
                </a:solidFill>
                <a:latin typeface="Lucida Sans Unicode"/>
              </a:rPr>
              <a:t>ave</a:t>
            </a:r>
            <a:r>
              <a:rPr lang="en-GB" sz="2400" dirty="0">
                <a:solidFill>
                  <a:prstClr val="black"/>
                </a:solidFill>
                <a:latin typeface="Lucida Sans Unicode"/>
              </a:rPr>
              <a:t>’ and ‘</a:t>
            </a:r>
            <a:r>
              <a:rPr lang="en-GB" sz="2400" dirty="0">
                <a:solidFill>
                  <a:srgbClr val="FF0000"/>
                </a:solidFill>
                <a:latin typeface="Lucida Sans Unicode"/>
              </a:rPr>
              <a:t>c</a:t>
            </a:r>
            <a:r>
              <a:rPr lang="en-GB" sz="2400" dirty="0">
                <a:solidFill>
                  <a:prstClr val="black"/>
                </a:solidFill>
                <a:latin typeface="Lucida Sans Unicode"/>
              </a:rPr>
              <a:t>omp5436’ are constants</a:t>
            </a:r>
          </a:p>
          <a:p>
            <a:pPr marL="1371600" lvl="4">
              <a:spcBef>
                <a:spcPts val="350"/>
              </a:spcBef>
              <a:buClr>
                <a:srgbClr val="DA1F28"/>
              </a:buClr>
              <a:buFont typeface="Wingdings 2"/>
              <a:buChar char=""/>
            </a:pPr>
            <a:r>
              <a:rPr lang="en-GB" sz="2400" dirty="0">
                <a:solidFill>
                  <a:prstClr val="black"/>
                </a:solidFill>
                <a:latin typeface="Lucida Sans Unicode"/>
              </a:rPr>
              <a:t>‘</a:t>
            </a:r>
            <a:r>
              <a:rPr lang="en-GB" sz="2400" dirty="0" err="1">
                <a:solidFill>
                  <a:srgbClr val="FF0000"/>
                </a:solidFill>
                <a:latin typeface="Lucida Sans Unicode"/>
              </a:rPr>
              <a:t>d</a:t>
            </a:r>
            <a:r>
              <a:rPr lang="en-GB" sz="2400" dirty="0" err="1">
                <a:solidFill>
                  <a:prstClr val="black"/>
                </a:solidFill>
                <a:latin typeface="Lucida Sans Unicode"/>
              </a:rPr>
              <a:t>AVe</a:t>
            </a:r>
            <a:r>
              <a:rPr lang="en-GB" sz="2400" dirty="0">
                <a:solidFill>
                  <a:prstClr val="black"/>
                </a:solidFill>
                <a:latin typeface="Lucida Sans Unicode"/>
              </a:rPr>
              <a:t>’ and ‘</a:t>
            </a:r>
            <a:r>
              <a:rPr lang="en-GB" sz="2400" dirty="0">
                <a:solidFill>
                  <a:srgbClr val="FF0000"/>
                </a:solidFill>
                <a:latin typeface="Lucida Sans Unicode"/>
              </a:rPr>
              <a:t>c</a:t>
            </a:r>
            <a:r>
              <a:rPr lang="en-GB" sz="2400" dirty="0">
                <a:solidFill>
                  <a:prstClr val="black"/>
                </a:solidFill>
                <a:latin typeface="Lucida Sans Unicode"/>
              </a:rPr>
              <a:t>oMP5436’ are also valid constants</a:t>
            </a:r>
          </a:p>
          <a:p>
            <a:pPr marL="1371600" lvl="4">
              <a:spcBef>
                <a:spcPts val="350"/>
              </a:spcBef>
              <a:buClr>
                <a:srgbClr val="DA1F28"/>
              </a:buClr>
              <a:buFont typeface="Wingdings 2"/>
              <a:buChar char=""/>
            </a:pPr>
            <a:endParaRPr lang="en-GB" sz="2400" dirty="0">
              <a:solidFill>
                <a:prstClr val="black"/>
              </a:solidFill>
              <a:latin typeface="Lucida Sans Unicode"/>
            </a:endParaRPr>
          </a:p>
          <a:p>
            <a:pPr marL="1371600" lvl="4">
              <a:spcBef>
                <a:spcPts val="350"/>
              </a:spcBef>
              <a:buClr>
                <a:srgbClr val="DA1F28"/>
              </a:buClr>
              <a:buFont typeface="Wingdings 2"/>
              <a:buChar char=""/>
            </a:pPr>
            <a:r>
              <a:rPr lang="en-GB" sz="2400" dirty="0">
                <a:solidFill>
                  <a:prstClr val="black"/>
                </a:solidFill>
                <a:latin typeface="Lucida Sans Unicode"/>
              </a:rPr>
              <a:t>What about ‘</a:t>
            </a:r>
            <a:r>
              <a:rPr lang="en-GB" sz="2400" dirty="0">
                <a:solidFill>
                  <a:srgbClr val="00B050"/>
                </a:solidFill>
                <a:latin typeface="Lucida Sans Unicode"/>
              </a:rPr>
              <a:t>Dave</a:t>
            </a:r>
            <a:r>
              <a:rPr lang="en-GB" sz="2400" dirty="0">
                <a:solidFill>
                  <a:prstClr val="black"/>
                </a:solidFill>
                <a:latin typeface="Lucida Sans Unicode"/>
              </a:rPr>
              <a:t>’ and ‘</a:t>
            </a:r>
            <a:r>
              <a:rPr lang="en-GB" sz="2400" dirty="0">
                <a:solidFill>
                  <a:srgbClr val="00B050"/>
                </a:solidFill>
                <a:latin typeface="Lucida Sans Unicode"/>
              </a:rPr>
              <a:t>COMP5436</a:t>
            </a:r>
            <a:r>
              <a:rPr lang="en-GB" sz="2400" dirty="0">
                <a:solidFill>
                  <a:prstClr val="black"/>
                </a:solidFill>
                <a:latin typeface="Lucida Sans Unicode"/>
              </a:rPr>
              <a:t>’?  Are they the valid constants? Why?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0886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Calculus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0" lvl="0" indent="-256032">
              <a:lnSpc>
                <a:spcPct val="9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/>
              <a:buChar char=""/>
            </a:pPr>
            <a:r>
              <a:rPr lang="en-US" sz="2700" dirty="0">
                <a:solidFill>
                  <a:prstClr val="black"/>
                </a:solidFill>
                <a:latin typeface="Lucida Sans Unicode"/>
              </a:rPr>
              <a:t>Basic idea</a:t>
            </a:r>
          </a:p>
          <a:p>
            <a:pPr marL="621792" lvl="1" indent="-228600">
              <a:lnSpc>
                <a:spcPct val="90000"/>
              </a:lnSpc>
              <a:spcBef>
                <a:spcPts val="324"/>
              </a:spcBef>
              <a:buClr>
                <a:srgbClr val="2DA2BF"/>
              </a:buClr>
              <a:buNone/>
            </a:pPr>
            <a:r>
              <a:rPr lang="en-US" sz="2300" dirty="0">
                <a:solidFill>
                  <a:prstClr val="black"/>
                </a:solidFill>
                <a:latin typeface="Lucida Sans Unicode"/>
              </a:rPr>
              <a:t>	</a:t>
            </a:r>
            <a:r>
              <a:rPr lang="en-US" sz="2300" dirty="0" err="1">
                <a:solidFill>
                  <a:prstClr val="black"/>
                </a:solidFill>
                <a:latin typeface="Lucida Sans Unicode"/>
              </a:rPr>
              <a:t>functor</a:t>
            </a:r>
            <a:r>
              <a:rPr lang="en-US" sz="2300" dirty="0">
                <a:solidFill>
                  <a:prstClr val="black"/>
                </a:solidFill>
                <a:latin typeface="Lucida Sans Unicode"/>
              </a:rPr>
              <a:t>(variable_1, variable_2, ….)</a:t>
            </a:r>
          </a:p>
          <a:p>
            <a:pPr marL="859536" lvl="2">
              <a:lnSpc>
                <a:spcPct val="90000"/>
              </a:lnSpc>
              <a:spcBef>
                <a:spcPts val="350"/>
              </a:spcBef>
              <a:buClr>
                <a:srgbClr val="DA1F28"/>
              </a:buClr>
              <a:buSzPct val="100000"/>
              <a:buFont typeface="Wingdings 2"/>
              <a:buChar char=""/>
            </a:pPr>
            <a:r>
              <a:rPr lang="en-US" sz="2100" b="1" dirty="0">
                <a:solidFill>
                  <a:srgbClr val="00B0F0"/>
                </a:solidFill>
                <a:latin typeface="Lucida Sans Unicode"/>
              </a:rPr>
              <a:t>E.g.</a:t>
            </a:r>
            <a:r>
              <a:rPr lang="en-US" sz="2100" dirty="0">
                <a:solidFill>
                  <a:prstClr val="black"/>
                </a:solidFill>
                <a:latin typeface="Lucida Sans Unicode"/>
              </a:rPr>
              <a:t> </a:t>
            </a:r>
          </a:p>
          <a:p>
            <a:pPr marL="1143000" lvl="3">
              <a:lnSpc>
                <a:spcPct val="90000"/>
              </a:lnSpc>
              <a:spcBef>
                <a:spcPts val="350"/>
              </a:spcBef>
              <a:buClr>
                <a:srgbClr val="DA1F28"/>
              </a:buClr>
              <a:buFont typeface="Wingdings 2"/>
              <a:buChar char=""/>
            </a:pPr>
            <a:r>
              <a:rPr lang="en-US" sz="2400" dirty="0">
                <a:solidFill>
                  <a:prstClr val="black"/>
                </a:solidFill>
                <a:latin typeface="Lucida Sans Unicode"/>
              </a:rPr>
              <a:t>“she likes chocolate”</a:t>
            </a:r>
          </a:p>
          <a:p>
            <a:pPr marL="1828800" lvl="6">
              <a:lnSpc>
                <a:spcPct val="90000"/>
              </a:lnSpc>
              <a:spcBef>
                <a:spcPts val="350"/>
              </a:spcBef>
              <a:buClr>
                <a:srgbClr val="EB641B"/>
              </a:buClr>
              <a:buNone/>
            </a:pPr>
            <a:r>
              <a:rPr lang="en-US" sz="2400" dirty="0">
                <a:solidFill>
                  <a:srgbClr val="FF0000"/>
                </a:solidFill>
                <a:latin typeface="Lucida Sans Unicode"/>
              </a:rPr>
              <a:t>likes(she, chocolate)</a:t>
            </a:r>
          </a:p>
          <a:p>
            <a:pPr marL="1828800" lvl="6">
              <a:lnSpc>
                <a:spcPct val="90000"/>
              </a:lnSpc>
              <a:spcBef>
                <a:spcPts val="350"/>
              </a:spcBef>
              <a:buClr>
                <a:srgbClr val="EB641B"/>
              </a:buClr>
              <a:buNone/>
            </a:pPr>
            <a:endParaRPr lang="en-US" sz="2400" dirty="0">
              <a:solidFill>
                <a:srgbClr val="FF0000"/>
              </a:solidFill>
              <a:latin typeface="Lucida Sans Unicode"/>
            </a:endParaRPr>
          </a:p>
          <a:p>
            <a:pPr marL="1143000" lvl="3">
              <a:lnSpc>
                <a:spcPct val="90000"/>
              </a:lnSpc>
              <a:spcBef>
                <a:spcPts val="350"/>
              </a:spcBef>
              <a:buClr>
                <a:srgbClr val="DA1F28"/>
              </a:buClr>
              <a:buFont typeface="Wingdings 2"/>
              <a:buChar char=""/>
            </a:pPr>
            <a:r>
              <a:rPr lang="en-US" sz="2400" dirty="0">
                <a:solidFill>
                  <a:prstClr val="black"/>
                </a:solidFill>
                <a:latin typeface="Lucida Sans Unicode"/>
              </a:rPr>
              <a:t>“</a:t>
            </a:r>
            <a:r>
              <a:rPr lang="en-US" sz="2400" dirty="0" err="1">
                <a:solidFill>
                  <a:prstClr val="black"/>
                </a:solidFill>
                <a:latin typeface="Lucida Sans Unicode"/>
              </a:rPr>
              <a:t>tweety</a:t>
            </a:r>
            <a:r>
              <a:rPr lang="en-US" sz="2400" dirty="0">
                <a:solidFill>
                  <a:prstClr val="black"/>
                </a:solidFill>
                <a:latin typeface="Lucida Sans Unicode"/>
              </a:rPr>
              <a:t> is a bird”</a:t>
            </a:r>
          </a:p>
          <a:p>
            <a:pPr marL="1143000" lvl="3">
              <a:lnSpc>
                <a:spcPct val="90000"/>
              </a:lnSpc>
              <a:spcBef>
                <a:spcPts val="350"/>
              </a:spcBef>
              <a:buClr>
                <a:srgbClr val="DA1F28"/>
              </a:buClr>
              <a:buNone/>
            </a:pPr>
            <a:r>
              <a:rPr lang="en-US" sz="2400" dirty="0">
                <a:solidFill>
                  <a:srgbClr val="FF0000"/>
                </a:solidFill>
                <a:latin typeface="Lucida Sans Unicode"/>
              </a:rPr>
              <a:t>	       </a:t>
            </a:r>
            <a:r>
              <a:rPr lang="en-US" sz="2400" dirty="0" err="1">
                <a:solidFill>
                  <a:srgbClr val="FF0000"/>
                </a:solidFill>
                <a:latin typeface="Lucida Sans Unicode"/>
              </a:rPr>
              <a:t>isa</a:t>
            </a:r>
            <a:r>
              <a:rPr lang="en-US" sz="2400" dirty="0">
                <a:solidFill>
                  <a:srgbClr val="FF0000"/>
                </a:solidFill>
                <a:latin typeface="Lucida Sans Unicode"/>
              </a:rPr>
              <a:t>(</a:t>
            </a:r>
            <a:r>
              <a:rPr lang="en-US" sz="2400" dirty="0" err="1">
                <a:solidFill>
                  <a:srgbClr val="FF0000"/>
                </a:solidFill>
                <a:latin typeface="Lucida Sans Unicode"/>
              </a:rPr>
              <a:t>tweety,bird</a:t>
            </a:r>
            <a:r>
              <a:rPr lang="en-US" sz="2400" dirty="0">
                <a:solidFill>
                  <a:srgbClr val="FF0000"/>
                </a:solidFill>
                <a:latin typeface="Lucida Sans Unicode"/>
              </a:rPr>
              <a:t>)  </a:t>
            </a:r>
            <a:r>
              <a:rPr lang="en-US" sz="2400" dirty="0">
                <a:solidFill>
                  <a:srgbClr val="92D050"/>
                </a:solidFill>
                <a:latin typeface="Lucida Sans Unicode"/>
              </a:rPr>
              <a:t>OR</a:t>
            </a:r>
          </a:p>
          <a:p>
            <a:pPr marL="1143000" lvl="3">
              <a:lnSpc>
                <a:spcPct val="90000"/>
              </a:lnSpc>
              <a:spcBef>
                <a:spcPts val="350"/>
              </a:spcBef>
              <a:buClr>
                <a:srgbClr val="DA1F28"/>
              </a:buClr>
              <a:buNone/>
            </a:pPr>
            <a:r>
              <a:rPr lang="en-US" sz="2400" dirty="0">
                <a:solidFill>
                  <a:srgbClr val="FF0000"/>
                </a:solidFill>
                <a:latin typeface="Lucida Sans Unicode"/>
              </a:rPr>
              <a:t>          bird(</a:t>
            </a:r>
            <a:r>
              <a:rPr lang="en-US" sz="2400" dirty="0" err="1">
                <a:solidFill>
                  <a:srgbClr val="FF0000"/>
                </a:solidFill>
                <a:latin typeface="Lucida Sans Unicode"/>
              </a:rPr>
              <a:t>tweety</a:t>
            </a:r>
            <a:r>
              <a:rPr lang="en-US" sz="2400" dirty="0">
                <a:solidFill>
                  <a:srgbClr val="FF0000"/>
                </a:solidFill>
                <a:latin typeface="Lucida Sans Unicode"/>
              </a:rPr>
              <a:t>)</a:t>
            </a:r>
          </a:p>
          <a:p>
            <a:pPr marL="1143000" lvl="3">
              <a:lnSpc>
                <a:spcPct val="90000"/>
              </a:lnSpc>
              <a:spcBef>
                <a:spcPts val="350"/>
              </a:spcBef>
              <a:buClr>
                <a:srgbClr val="DA1F28"/>
              </a:buClr>
              <a:buNone/>
            </a:pPr>
            <a:endParaRPr lang="en-US" sz="2400" dirty="0">
              <a:solidFill>
                <a:prstClr val="black"/>
              </a:solidFill>
              <a:latin typeface="Lucida Sans Unicode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1607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100" b="1" dirty="0">
                <a:solidFill>
                  <a:srgbClr val="464646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Lucida Sans Unicode"/>
              </a:rPr>
              <a:t>Quantifier ‘</a:t>
            </a:r>
            <a:r>
              <a:rPr lang="en-US" sz="4100" b="1" dirty="0">
                <a:solidFill>
                  <a:srgbClr val="464646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Lucida Sans Unicode"/>
                <a:sym typeface="Symbol"/>
              </a:rPr>
              <a:t>’ and ‘’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22300" lvl="0" indent="-457200" algn="just">
              <a:lnSpc>
                <a:spcPct val="9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/>
              <a:buChar char=""/>
            </a:pPr>
            <a:r>
              <a:rPr lang="en-US" sz="2700" dirty="0">
                <a:solidFill>
                  <a:srgbClr val="92D050"/>
                </a:solidFill>
                <a:latin typeface="Lucida Sans Unicode"/>
                <a:sym typeface="Wingdings" pitchFamily="2" charset="2"/>
              </a:rPr>
              <a:t>Universal quantifier (</a:t>
            </a:r>
            <a:r>
              <a:rPr lang="en-US" sz="2700" dirty="0">
                <a:solidFill>
                  <a:srgbClr val="92D050"/>
                </a:solidFill>
                <a:latin typeface="Lucida Sans Unicode"/>
                <a:sym typeface="Symbol" pitchFamily="18" charset="2"/>
              </a:rPr>
              <a:t>X)</a:t>
            </a:r>
            <a:r>
              <a:rPr lang="en-US" sz="2700" dirty="0">
                <a:solidFill>
                  <a:prstClr val="black"/>
                </a:solidFill>
                <a:latin typeface="Lucida Sans Unicode"/>
                <a:sym typeface="Wingdings" pitchFamily="2" charset="2"/>
              </a:rPr>
              <a:t> </a:t>
            </a:r>
          </a:p>
          <a:p>
            <a:pPr marL="914400" lvl="1" indent="-290513" algn="just">
              <a:lnSpc>
                <a:spcPct val="90000"/>
              </a:lnSpc>
              <a:spcBef>
                <a:spcPts val="324"/>
              </a:spcBef>
              <a:buClr>
                <a:srgbClr val="2DA2BF"/>
              </a:buClr>
              <a:buFont typeface="Verdana"/>
              <a:buChar char="◦"/>
            </a:pPr>
            <a:r>
              <a:rPr lang="en-US" sz="2400" dirty="0">
                <a:solidFill>
                  <a:prstClr val="black"/>
                </a:solidFill>
                <a:latin typeface="Lucida Sans Unicode"/>
                <a:sym typeface="Symbol"/>
              </a:rPr>
              <a:t> m</a:t>
            </a:r>
            <a:r>
              <a:rPr lang="en-US" sz="2400" dirty="0">
                <a:solidFill>
                  <a:prstClr val="black"/>
                </a:solidFill>
                <a:latin typeface="Lucida Sans Unicode"/>
                <a:sym typeface="Wingdings" pitchFamily="2" charset="2"/>
              </a:rPr>
              <a:t>eans ‘for all’ </a:t>
            </a:r>
          </a:p>
          <a:p>
            <a:pPr marL="914400" lvl="1" indent="-290513">
              <a:lnSpc>
                <a:spcPct val="90000"/>
              </a:lnSpc>
              <a:spcBef>
                <a:spcPts val="324"/>
              </a:spcBef>
              <a:buClr>
                <a:srgbClr val="2DA2BF"/>
              </a:buClr>
              <a:buFont typeface="Verdana"/>
              <a:buChar char="◦"/>
            </a:pPr>
            <a:r>
              <a:rPr lang="en-US" sz="2400" dirty="0">
                <a:solidFill>
                  <a:prstClr val="black"/>
                </a:solidFill>
                <a:latin typeface="Lucida Sans Unicode"/>
                <a:sym typeface="Symbol" pitchFamily="18" charset="2"/>
              </a:rPr>
              <a:t>Indicates the expression is T (i.e. true) for ALL values of designated variables</a:t>
            </a:r>
          </a:p>
          <a:p>
            <a:pPr marL="914400" lvl="1" indent="-290513">
              <a:lnSpc>
                <a:spcPct val="90000"/>
              </a:lnSpc>
              <a:spcBef>
                <a:spcPts val="324"/>
              </a:spcBef>
              <a:buClr>
                <a:srgbClr val="2DA2BF"/>
              </a:buClr>
              <a:buFont typeface="Verdana"/>
              <a:buChar char="◦"/>
            </a:pPr>
            <a:r>
              <a:rPr lang="en-US" sz="2400" dirty="0">
                <a:solidFill>
                  <a:prstClr val="black"/>
                </a:solidFill>
                <a:latin typeface="Lucida Sans Unicode"/>
                <a:sym typeface="Symbol" pitchFamily="18" charset="2"/>
              </a:rPr>
              <a:t>E.g.: X likes(</a:t>
            </a:r>
            <a:r>
              <a:rPr lang="en-US" sz="2400" dirty="0" err="1">
                <a:solidFill>
                  <a:prstClr val="black"/>
                </a:solidFill>
                <a:latin typeface="Lucida Sans Unicode"/>
                <a:sym typeface="Symbol" pitchFamily="18" charset="2"/>
              </a:rPr>
              <a:t>X,icecream</a:t>
            </a:r>
            <a:r>
              <a:rPr lang="en-US" sz="2400" dirty="0">
                <a:solidFill>
                  <a:prstClr val="black"/>
                </a:solidFill>
                <a:latin typeface="Lucida Sans Unicode"/>
                <a:sym typeface="Symbol" pitchFamily="18" charset="2"/>
              </a:rPr>
              <a:t>)</a:t>
            </a:r>
          </a:p>
          <a:p>
            <a:pPr marL="1204913" lvl="2" indent="-290513">
              <a:lnSpc>
                <a:spcPct val="90000"/>
              </a:lnSpc>
              <a:spcBef>
                <a:spcPts val="350"/>
              </a:spcBef>
              <a:buClr>
                <a:srgbClr val="DA1F28"/>
              </a:buClr>
              <a:buSzPct val="100000"/>
              <a:buFont typeface="Wingdings 2"/>
              <a:buChar char=""/>
            </a:pPr>
            <a:r>
              <a:rPr lang="en-US" sz="2000" dirty="0">
                <a:solidFill>
                  <a:prstClr val="black"/>
                </a:solidFill>
                <a:latin typeface="Lucida Sans Unicode"/>
                <a:sym typeface="Symbol" pitchFamily="18" charset="2"/>
              </a:rPr>
              <a:t>For all values of X, the statement ‘X likes ice cream’ is true</a:t>
            </a:r>
            <a:endParaRPr lang="en-US" sz="2000" dirty="0">
              <a:solidFill>
                <a:prstClr val="black"/>
              </a:solidFill>
              <a:latin typeface="Lucida Sans Unicode"/>
              <a:sym typeface="Wingdings" pitchFamily="2" charset="2"/>
            </a:endParaRPr>
          </a:p>
          <a:p>
            <a:pPr marL="914400" lvl="1" indent="-266700">
              <a:lnSpc>
                <a:spcPct val="90000"/>
              </a:lnSpc>
              <a:spcBef>
                <a:spcPts val="324"/>
              </a:spcBef>
              <a:buClr>
                <a:srgbClr val="2DA2BF"/>
              </a:buClr>
              <a:buFont typeface="Verdana"/>
              <a:buChar char="◦"/>
            </a:pPr>
            <a:r>
              <a:rPr lang="en-US" sz="2400" dirty="0">
                <a:solidFill>
                  <a:prstClr val="black"/>
                </a:solidFill>
                <a:latin typeface="Lucida Sans Unicode"/>
                <a:sym typeface="Wingdings" pitchFamily="2" charset="2"/>
              </a:rPr>
              <a:t>E.g.:</a:t>
            </a:r>
            <a:r>
              <a:rPr lang="en-US" sz="2300" dirty="0">
                <a:solidFill>
                  <a:prstClr val="black"/>
                </a:solidFill>
                <a:latin typeface="Lucida Sans Unicode"/>
                <a:sym typeface="Wingdings" pitchFamily="2" charset="2"/>
              </a:rPr>
              <a:t> </a:t>
            </a:r>
          </a:p>
          <a:p>
            <a:pPr marL="1179513" lvl="2" indent="-266700">
              <a:lnSpc>
                <a:spcPct val="90000"/>
              </a:lnSpc>
              <a:spcBef>
                <a:spcPts val="350"/>
              </a:spcBef>
              <a:buClr>
                <a:srgbClr val="DA1F28"/>
              </a:buClr>
              <a:buSzPct val="100000"/>
              <a:buFont typeface="Wingdings 2"/>
              <a:buChar char=""/>
            </a:pPr>
            <a:r>
              <a:rPr lang="en-US" sz="2000" dirty="0">
                <a:solidFill>
                  <a:prstClr val="black"/>
                </a:solidFill>
                <a:latin typeface="Lucida Sans Unicode"/>
                <a:sym typeface="Wingdings" pitchFamily="2" charset="2"/>
              </a:rPr>
              <a:t>“</a:t>
            </a:r>
            <a:r>
              <a:rPr lang="en-US" sz="2000" dirty="0">
                <a:solidFill>
                  <a:srgbClr val="FF0000"/>
                </a:solidFill>
                <a:latin typeface="Lucida Sans Unicode"/>
                <a:sym typeface="Wingdings" pitchFamily="2" charset="2"/>
              </a:rPr>
              <a:t>all birds fly</a:t>
            </a:r>
            <a:r>
              <a:rPr lang="en-US" sz="2000" dirty="0">
                <a:solidFill>
                  <a:prstClr val="black"/>
                </a:solidFill>
                <a:latin typeface="Lucida Sans Unicode"/>
                <a:sym typeface="Wingdings" pitchFamily="2" charset="2"/>
              </a:rPr>
              <a:t>” is represented as </a:t>
            </a:r>
            <a:r>
              <a:rPr lang="en-US" sz="2000" dirty="0">
                <a:solidFill>
                  <a:srgbClr val="FFC000"/>
                </a:solidFill>
                <a:latin typeface="Lucida Sans Unicode"/>
                <a:sym typeface="Symbol" pitchFamily="18" charset="2"/>
              </a:rPr>
              <a:t>X</a:t>
            </a:r>
            <a:r>
              <a:rPr lang="en-US" sz="2000" dirty="0">
                <a:solidFill>
                  <a:srgbClr val="00B0F0"/>
                </a:solidFill>
                <a:latin typeface="Lucida Sans Unicode"/>
                <a:sym typeface="Symbol" pitchFamily="18" charset="2"/>
              </a:rPr>
              <a:t> (bird(X) </a:t>
            </a:r>
            <a:r>
              <a:rPr lang="en-US" sz="2000" dirty="0">
                <a:solidFill>
                  <a:srgbClr val="00B0F0"/>
                </a:solidFill>
                <a:latin typeface="Lucida Sans Unicode"/>
                <a:sym typeface="Symbol"/>
              </a:rPr>
              <a:t> flies(X))</a:t>
            </a:r>
          </a:p>
          <a:p>
            <a:pPr marL="1179513" lvl="2" indent="-266700">
              <a:lnSpc>
                <a:spcPct val="90000"/>
              </a:lnSpc>
              <a:spcBef>
                <a:spcPts val="350"/>
              </a:spcBef>
              <a:buClr>
                <a:srgbClr val="DA1F28"/>
              </a:buClr>
              <a:buSzPct val="100000"/>
              <a:buFont typeface="Wingdings 2"/>
              <a:buChar char=""/>
            </a:pPr>
            <a:r>
              <a:rPr lang="en-US" sz="2000" dirty="0">
                <a:solidFill>
                  <a:prstClr val="black"/>
                </a:solidFill>
                <a:latin typeface="Lucida Sans Unicode"/>
                <a:sym typeface="Symbol"/>
              </a:rPr>
              <a:t>This also means “no birds do not fly”, thus it can also be represented as </a:t>
            </a:r>
            <a:r>
              <a:rPr lang="en-US" sz="2000" dirty="0">
                <a:solidFill>
                  <a:srgbClr val="FFC000"/>
                </a:solidFill>
                <a:latin typeface="Lucida Sans Unicode"/>
                <a:sym typeface="Symbol"/>
              </a:rPr>
              <a:t>X </a:t>
            </a:r>
            <a:r>
              <a:rPr lang="en-US" sz="2000" dirty="0">
                <a:solidFill>
                  <a:srgbClr val="00B0F0"/>
                </a:solidFill>
                <a:latin typeface="Lucida Sans Unicode"/>
                <a:sym typeface="Symbol"/>
              </a:rPr>
              <a:t>flies(X)</a:t>
            </a:r>
            <a:r>
              <a:rPr lang="en-US" sz="2000" dirty="0">
                <a:solidFill>
                  <a:prstClr val="black"/>
                </a:solidFill>
                <a:latin typeface="Lucida Sans Unicode"/>
                <a:sym typeface="Symbol"/>
              </a:rPr>
              <a:t>.</a:t>
            </a:r>
            <a:endParaRPr lang="en-US" sz="2000" dirty="0">
              <a:solidFill>
                <a:prstClr val="black"/>
              </a:solidFill>
              <a:latin typeface="Lucida Sans Unicode"/>
              <a:sym typeface="Symbol" pitchFamily="18" charset="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5600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100" b="1" dirty="0">
                <a:solidFill>
                  <a:srgbClr val="464646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Lucida Sans Unicode"/>
              </a:rPr>
              <a:t>Quantifier ‘</a:t>
            </a:r>
            <a:r>
              <a:rPr lang="en-US" sz="4100" b="1" dirty="0">
                <a:solidFill>
                  <a:srgbClr val="464646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Lucida Sans Unicode"/>
                <a:sym typeface="Symbol"/>
              </a:rPr>
              <a:t>’ and ‘’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622300" lvl="0" indent="-290513" algn="just">
              <a:lnSpc>
                <a:spcPct val="9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/>
              <a:buChar char=""/>
            </a:pPr>
            <a:r>
              <a:rPr lang="en-US" sz="2700" dirty="0">
                <a:solidFill>
                  <a:srgbClr val="92D050"/>
                </a:solidFill>
                <a:latin typeface="Lucida Sans Unicode"/>
                <a:sym typeface="Wingdings" pitchFamily="2" charset="2"/>
              </a:rPr>
              <a:t>Existential quantifier (</a:t>
            </a:r>
            <a:r>
              <a:rPr lang="en-US" sz="2700" dirty="0">
                <a:solidFill>
                  <a:srgbClr val="92D050"/>
                </a:solidFill>
                <a:latin typeface="Lucida Sans Unicode"/>
                <a:sym typeface="Symbol" pitchFamily="18" charset="2"/>
              </a:rPr>
              <a:t>X)</a:t>
            </a:r>
          </a:p>
          <a:p>
            <a:pPr marL="914400" lvl="1" indent="-290513" algn="just">
              <a:lnSpc>
                <a:spcPct val="90000"/>
              </a:lnSpc>
              <a:spcBef>
                <a:spcPts val="324"/>
              </a:spcBef>
              <a:buClr>
                <a:srgbClr val="2DA2BF"/>
              </a:buClr>
              <a:buFont typeface="Verdana"/>
              <a:buChar char="◦"/>
            </a:pPr>
            <a:r>
              <a:rPr lang="en-US" sz="2400" dirty="0">
                <a:solidFill>
                  <a:prstClr val="black"/>
                </a:solidFill>
                <a:latin typeface="Lucida Sans Unicode"/>
                <a:sym typeface="Symbol"/>
              </a:rPr>
              <a:t> means </a:t>
            </a:r>
            <a:r>
              <a:rPr lang="en-US" sz="2400" dirty="0">
                <a:solidFill>
                  <a:prstClr val="black"/>
                </a:solidFill>
                <a:latin typeface="Lucida Sans Unicode"/>
                <a:sym typeface="Symbol" pitchFamily="18" charset="2"/>
              </a:rPr>
              <a:t>‘there exist’.</a:t>
            </a:r>
          </a:p>
          <a:p>
            <a:pPr marL="914400" lvl="1" indent="-290513">
              <a:spcBef>
                <a:spcPts val="324"/>
              </a:spcBef>
              <a:buClr>
                <a:srgbClr val="2DA2BF"/>
              </a:buClr>
              <a:buFont typeface="Verdana"/>
              <a:buChar char="◦"/>
            </a:pPr>
            <a:r>
              <a:rPr lang="en-US" sz="2400" dirty="0">
                <a:solidFill>
                  <a:prstClr val="black"/>
                </a:solidFill>
                <a:latin typeface="Lucida Sans Unicode"/>
                <a:sym typeface="Symbol" pitchFamily="18" charset="2"/>
              </a:rPr>
              <a:t>Indicates the expression is T (i.e. true) for SOME values of designated variables (</a:t>
            </a:r>
            <a:r>
              <a:rPr lang="en-US" sz="2400" i="1" dirty="0">
                <a:solidFill>
                  <a:prstClr val="black"/>
                </a:solidFill>
                <a:latin typeface="Lucida Sans Unicode"/>
                <a:sym typeface="Symbol" pitchFamily="18" charset="2"/>
              </a:rPr>
              <a:t>at least one value exists that makes the statement T</a:t>
            </a:r>
            <a:r>
              <a:rPr lang="en-US" sz="2400" dirty="0">
                <a:solidFill>
                  <a:prstClr val="black"/>
                </a:solidFill>
                <a:latin typeface="Lucida Sans Unicode"/>
                <a:sym typeface="Symbol" pitchFamily="18" charset="2"/>
              </a:rPr>
              <a:t>)</a:t>
            </a:r>
          </a:p>
          <a:p>
            <a:pPr marL="914400" lvl="1" indent="-290513">
              <a:spcBef>
                <a:spcPts val="324"/>
              </a:spcBef>
              <a:buClr>
                <a:srgbClr val="2DA2BF"/>
              </a:buClr>
              <a:buFont typeface="Verdana"/>
              <a:buChar char="◦"/>
            </a:pPr>
            <a:r>
              <a:rPr lang="en-US" sz="2400" dirty="0">
                <a:solidFill>
                  <a:prstClr val="black"/>
                </a:solidFill>
                <a:latin typeface="Lucida Sans Unicode"/>
                <a:sym typeface="Symbol" pitchFamily="18" charset="2"/>
              </a:rPr>
              <a:t>E.g.: “</a:t>
            </a:r>
            <a:r>
              <a:rPr lang="en-US" sz="2400" dirty="0">
                <a:solidFill>
                  <a:srgbClr val="FF0000"/>
                </a:solidFill>
                <a:latin typeface="Lucida Sans Unicode"/>
                <a:sym typeface="Symbol" pitchFamily="18" charset="2"/>
              </a:rPr>
              <a:t>some children like ice cream</a:t>
            </a:r>
            <a:r>
              <a:rPr lang="en-US" sz="2400" dirty="0">
                <a:solidFill>
                  <a:prstClr val="black"/>
                </a:solidFill>
                <a:latin typeface="Lucida Sans Unicode"/>
                <a:sym typeface="Symbol" pitchFamily="18" charset="2"/>
              </a:rPr>
              <a:t>”</a:t>
            </a:r>
          </a:p>
          <a:p>
            <a:pPr marL="1179513" lvl="2" indent="-290513">
              <a:spcBef>
                <a:spcPts val="350"/>
              </a:spcBef>
              <a:buClr>
                <a:srgbClr val="DA1F28"/>
              </a:buClr>
              <a:buSzPct val="100000"/>
              <a:buFont typeface="Wingdings 2"/>
              <a:buChar char=""/>
            </a:pPr>
            <a:r>
              <a:rPr lang="en-US" sz="2000" dirty="0">
                <a:solidFill>
                  <a:prstClr val="black"/>
                </a:solidFill>
                <a:latin typeface="Lucida Sans Unicode"/>
                <a:sym typeface="Symbol" pitchFamily="18" charset="2"/>
              </a:rPr>
              <a:t>Is represented as:</a:t>
            </a:r>
          </a:p>
          <a:p>
            <a:pPr marL="1400175" lvl="3" indent="-290513">
              <a:spcBef>
                <a:spcPts val="350"/>
              </a:spcBef>
              <a:buClr>
                <a:srgbClr val="DA1F28"/>
              </a:buClr>
              <a:buFont typeface="Wingdings 2"/>
              <a:buChar char=""/>
            </a:pPr>
            <a:r>
              <a:rPr lang="en-US" sz="1900" dirty="0">
                <a:solidFill>
                  <a:srgbClr val="FFC000"/>
                </a:solidFill>
                <a:latin typeface="Lucida Sans Unicode"/>
                <a:sym typeface="Symbol" pitchFamily="18" charset="2"/>
              </a:rPr>
              <a:t>X</a:t>
            </a:r>
            <a:r>
              <a:rPr lang="en-US" sz="1900" dirty="0">
                <a:solidFill>
                  <a:srgbClr val="00B0F0"/>
                </a:solidFill>
                <a:latin typeface="Lucida Sans Unicode"/>
                <a:sym typeface="Symbol" pitchFamily="18" charset="2"/>
              </a:rPr>
              <a:t> likes(</a:t>
            </a:r>
            <a:r>
              <a:rPr lang="en-US" sz="1900" dirty="0" err="1">
                <a:solidFill>
                  <a:srgbClr val="00B0F0"/>
                </a:solidFill>
                <a:latin typeface="Lucida Sans Unicode"/>
                <a:sym typeface="Symbol" pitchFamily="18" charset="2"/>
              </a:rPr>
              <a:t>X,icecream</a:t>
            </a:r>
            <a:r>
              <a:rPr lang="en-US" sz="1900" dirty="0">
                <a:solidFill>
                  <a:srgbClr val="00B0F0"/>
                </a:solidFill>
                <a:latin typeface="Lucida Sans Unicode"/>
                <a:sym typeface="Symbol" pitchFamily="18" charset="2"/>
              </a:rPr>
              <a:t>) </a:t>
            </a:r>
            <a:r>
              <a:rPr lang="en-US" sz="1900" dirty="0">
                <a:solidFill>
                  <a:prstClr val="black"/>
                </a:solidFill>
                <a:latin typeface="Lucida Sans Unicode"/>
                <a:sym typeface="Symbol" pitchFamily="18" charset="2"/>
              </a:rPr>
              <a:t>OR </a:t>
            </a:r>
            <a:r>
              <a:rPr lang="en-US" sz="1900" dirty="0">
                <a:solidFill>
                  <a:srgbClr val="FFC000"/>
                </a:solidFill>
                <a:latin typeface="Lucida Sans Unicode"/>
                <a:sym typeface="Symbol" pitchFamily="18" charset="2"/>
              </a:rPr>
              <a:t>Children</a:t>
            </a:r>
            <a:r>
              <a:rPr lang="en-US" sz="1900" dirty="0">
                <a:solidFill>
                  <a:srgbClr val="00B0F0"/>
                </a:solidFill>
                <a:latin typeface="Lucida Sans Unicode"/>
                <a:sym typeface="Symbol" pitchFamily="18" charset="2"/>
              </a:rPr>
              <a:t> likes(</a:t>
            </a:r>
            <a:r>
              <a:rPr lang="en-US" sz="1900" dirty="0" err="1">
                <a:solidFill>
                  <a:srgbClr val="00B0F0"/>
                </a:solidFill>
                <a:latin typeface="Lucida Sans Unicode"/>
                <a:sym typeface="Symbol" pitchFamily="18" charset="2"/>
              </a:rPr>
              <a:t>Children,icecream</a:t>
            </a:r>
            <a:r>
              <a:rPr lang="en-US" sz="1900" dirty="0">
                <a:solidFill>
                  <a:srgbClr val="00B0F0"/>
                </a:solidFill>
                <a:latin typeface="Lucida Sans Unicode"/>
                <a:sym typeface="Symbol" pitchFamily="18" charset="2"/>
              </a:rPr>
              <a:t>)</a:t>
            </a:r>
          </a:p>
          <a:p>
            <a:pPr marL="1400175" lvl="3" indent="-290513">
              <a:spcBef>
                <a:spcPts val="350"/>
              </a:spcBef>
              <a:buClr>
                <a:srgbClr val="DA1F28"/>
              </a:buClr>
              <a:buFont typeface="Wingdings 2"/>
              <a:buChar char=""/>
            </a:pPr>
            <a:r>
              <a:rPr lang="en-US" sz="1900" dirty="0">
                <a:solidFill>
                  <a:prstClr val="black"/>
                </a:solidFill>
                <a:latin typeface="Lucida Sans Unicode"/>
                <a:sym typeface="Symbol" pitchFamily="18" charset="2"/>
              </a:rPr>
              <a:t>Can also be represented as </a:t>
            </a:r>
            <a:r>
              <a:rPr lang="en-US" sz="1900" dirty="0">
                <a:solidFill>
                  <a:srgbClr val="FFC000"/>
                </a:solidFill>
                <a:latin typeface="Lucida Sans Unicode"/>
                <a:sym typeface="Symbol" pitchFamily="18" charset="2"/>
              </a:rPr>
              <a:t>X</a:t>
            </a:r>
            <a:r>
              <a:rPr lang="en-US" sz="1900" dirty="0">
                <a:solidFill>
                  <a:prstClr val="black"/>
                </a:solidFill>
                <a:latin typeface="Lucida Sans Unicode"/>
                <a:sym typeface="Symbol" pitchFamily="18" charset="2"/>
              </a:rPr>
              <a:t> likes(</a:t>
            </a:r>
            <a:r>
              <a:rPr lang="en-US" sz="1900" dirty="0" err="1">
                <a:solidFill>
                  <a:prstClr val="black"/>
                </a:solidFill>
                <a:latin typeface="Lucida Sans Unicode"/>
                <a:sym typeface="Symbol" pitchFamily="18" charset="2"/>
              </a:rPr>
              <a:t>X,icecream</a:t>
            </a:r>
            <a:r>
              <a:rPr lang="en-US" sz="1900" dirty="0">
                <a:solidFill>
                  <a:prstClr val="black"/>
                </a:solidFill>
                <a:latin typeface="Lucida Sans Unicode"/>
                <a:sym typeface="Symbol" pitchFamily="18" charset="2"/>
              </a:rPr>
              <a:t>)  …. As the statement also means ‘not all children like ice cream’.</a:t>
            </a:r>
          </a:p>
          <a:p>
            <a:pPr marL="914400" lvl="1" indent="-290513" algn="just">
              <a:lnSpc>
                <a:spcPct val="90000"/>
              </a:lnSpc>
              <a:spcBef>
                <a:spcPts val="324"/>
              </a:spcBef>
              <a:buClr>
                <a:srgbClr val="2DA2BF"/>
              </a:buClr>
              <a:buFont typeface="Verdana"/>
              <a:buChar char="◦"/>
            </a:pPr>
            <a:r>
              <a:rPr lang="en-US" sz="2400" dirty="0">
                <a:solidFill>
                  <a:prstClr val="black"/>
                </a:solidFill>
                <a:latin typeface="Lucida Sans Unicode"/>
                <a:sym typeface="Wingdings" pitchFamily="2" charset="2"/>
              </a:rPr>
              <a:t>E.g.:  “</a:t>
            </a:r>
            <a:r>
              <a:rPr lang="en-US" sz="2400" dirty="0">
                <a:solidFill>
                  <a:srgbClr val="FF0000"/>
                </a:solidFill>
                <a:latin typeface="Lucida Sans Unicode"/>
                <a:sym typeface="Wingdings" pitchFamily="2" charset="2"/>
              </a:rPr>
              <a:t>some birds do not fly</a:t>
            </a:r>
            <a:r>
              <a:rPr lang="en-US" sz="2400" dirty="0">
                <a:solidFill>
                  <a:prstClr val="black"/>
                </a:solidFill>
                <a:latin typeface="Lucida Sans Unicode"/>
                <a:sym typeface="Wingdings" pitchFamily="2" charset="2"/>
              </a:rPr>
              <a:t>”</a:t>
            </a:r>
          </a:p>
          <a:p>
            <a:pPr marL="1179513" lvl="2" indent="-290513" algn="just">
              <a:lnSpc>
                <a:spcPct val="90000"/>
              </a:lnSpc>
              <a:spcBef>
                <a:spcPts val="350"/>
              </a:spcBef>
              <a:buClr>
                <a:srgbClr val="DA1F28"/>
              </a:buClr>
              <a:buSzPct val="100000"/>
              <a:buFont typeface="Wingdings 2"/>
              <a:buChar char=""/>
            </a:pPr>
            <a:r>
              <a:rPr lang="en-US" sz="2000" dirty="0">
                <a:solidFill>
                  <a:prstClr val="black"/>
                </a:solidFill>
                <a:latin typeface="Lucida Sans Unicode"/>
                <a:sym typeface="Wingdings" pitchFamily="2" charset="2"/>
              </a:rPr>
              <a:t>is represented as </a:t>
            </a:r>
            <a:r>
              <a:rPr lang="en-US" sz="2000" dirty="0">
                <a:solidFill>
                  <a:srgbClr val="00B0F0"/>
                </a:solidFill>
                <a:latin typeface="Lucida Sans Unicode"/>
                <a:sym typeface="Symbol" pitchFamily="18" charset="2"/>
              </a:rPr>
              <a:t>X (bird(X) </a:t>
            </a:r>
            <a:r>
              <a:rPr lang="en-US" sz="2000" dirty="0">
                <a:solidFill>
                  <a:srgbClr val="00B0F0"/>
                </a:solidFill>
                <a:latin typeface="Lucida Sans Unicode"/>
                <a:sym typeface="Symbol"/>
              </a:rPr>
              <a:t> flies(X)</a:t>
            </a:r>
            <a:r>
              <a:rPr lang="en-US" sz="2000" dirty="0">
                <a:solidFill>
                  <a:srgbClr val="00B0F0"/>
                </a:solidFill>
                <a:latin typeface="Lucida Sans Unicode"/>
                <a:sym typeface="Symbol" pitchFamily="18" charset="2"/>
              </a:rPr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8075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33400" lvl="0" indent="-533400">
              <a:lnSpc>
                <a:spcPct val="9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/>
              <a:buChar char=""/>
            </a:pPr>
            <a:r>
              <a:rPr lang="en-US" sz="2400" b="1" dirty="0">
                <a:solidFill>
                  <a:srgbClr val="FF5050"/>
                </a:solidFill>
                <a:latin typeface="Lucida Sans Unicode"/>
                <a:sym typeface="Wingdings" pitchFamily="2" charset="2"/>
              </a:rPr>
              <a:t>E.g. 1:</a:t>
            </a:r>
          </a:p>
          <a:p>
            <a:pPr marL="914400" lvl="1" indent="-457200">
              <a:lnSpc>
                <a:spcPct val="90000"/>
              </a:lnSpc>
              <a:spcBef>
                <a:spcPts val="324"/>
              </a:spcBef>
              <a:buClr>
                <a:srgbClr val="2DA2BF"/>
              </a:buClr>
              <a:buFont typeface="Verdana"/>
              <a:buChar char="◦"/>
            </a:pPr>
            <a:r>
              <a:rPr lang="en-US" sz="2000" b="1" dirty="0">
                <a:solidFill>
                  <a:prstClr val="black"/>
                </a:solidFill>
                <a:latin typeface="Lucida Sans Unicode"/>
                <a:sym typeface="Wingdings" pitchFamily="2" charset="2"/>
              </a:rPr>
              <a:t>Normal:</a:t>
            </a:r>
            <a:r>
              <a:rPr lang="en-US" sz="2000" dirty="0">
                <a:solidFill>
                  <a:prstClr val="black"/>
                </a:solidFill>
                <a:latin typeface="Lucida Sans Unicode"/>
                <a:sym typeface="Wingdings" pitchFamily="2" charset="2"/>
              </a:rPr>
              <a:t> If it doesn’t rain today, Ahmad will go to the beach </a:t>
            </a:r>
          </a:p>
          <a:p>
            <a:pPr marL="914400" lvl="1" indent="-457200">
              <a:lnSpc>
                <a:spcPct val="90000"/>
              </a:lnSpc>
              <a:spcBef>
                <a:spcPts val="324"/>
              </a:spcBef>
              <a:buClr>
                <a:srgbClr val="2DA2BF"/>
              </a:buClr>
              <a:buFont typeface="Verdana"/>
              <a:buChar char="◦"/>
            </a:pPr>
            <a:r>
              <a:rPr lang="en-US" sz="2000" b="1" dirty="0">
                <a:solidFill>
                  <a:prstClr val="black"/>
                </a:solidFill>
                <a:latin typeface="Lucida Sans Unicode"/>
                <a:sym typeface="Wingdings" pitchFamily="2" charset="2"/>
              </a:rPr>
              <a:t>FOPL:</a:t>
            </a:r>
            <a:r>
              <a:rPr lang="en-US" sz="2000" dirty="0">
                <a:solidFill>
                  <a:prstClr val="black"/>
                </a:solidFill>
                <a:latin typeface="Lucida Sans Unicode"/>
                <a:sym typeface="Wingdings" pitchFamily="2" charset="2"/>
              </a:rPr>
              <a:t>  “</a:t>
            </a:r>
            <a:r>
              <a:rPr lang="en-US" sz="2000" b="1" dirty="0">
                <a:solidFill>
                  <a:prstClr val="black"/>
                </a:solidFill>
                <a:latin typeface="Lucida Sans Unicode"/>
                <a:sym typeface="Symbol" pitchFamily="18" charset="2"/>
              </a:rPr>
              <a:t></a:t>
            </a:r>
            <a:r>
              <a:rPr lang="en-US" sz="2000" dirty="0">
                <a:solidFill>
                  <a:prstClr val="black"/>
                </a:solidFill>
                <a:latin typeface="Lucida Sans Unicode"/>
                <a:sym typeface="Symbol" pitchFamily="18" charset="2"/>
              </a:rPr>
              <a:t>rain(today)</a:t>
            </a:r>
            <a:r>
              <a:rPr lang="en-US" sz="2000" dirty="0">
                <a:solidFill>
                  <a:prstClr val="black"/>
                </a:solidFill>
                <a:latin typeface="Lucida Sans Unicode"/>
                <a:sym typeface="Wingdings" pitchFamily="2" charset="2"/>
              </a:rPr>
              <a:t> go(Ahmad, beach)”</a:t>
            </a:r>
          </a:p>
          <a:p>
            <a:pPr marL="533400" lvl="0" indent="-533400">
              <a:lnSpc>
                <a:spcPct val="9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/>
              <a:buChar char=""/>
            </a:pPr>
            <a:r>
              <a:rPr lang="en-US" sz="2400" b="1" dirty="0">
                <a:solidFill>
                  <a:srgbClr val="FF5050"/>
                </a:solidFill>
                <a:latin typeface="Lucida Sans Unicode"/>
                <a:sym typeface="Wingdings" pitchFamily="2" charset="2"/>
              </a:rPr>
              <a:t>E.g. 2:</a:t>
            </a:r>
          </a:p>
          <a:p>
            <a:pPr marL="914400" lvl="1" indent="-457200">
              <a:lnSpc>
                <a:spcPct val="90000"/>
              </a:lnSpc>
              <a:spcBef>
                <a:spcPts val="324"/>
              </a:spcBef>
              <a:buClr>
                <a:srgbClr val="2DA2BF"/>
              </a:buClr>
              <a:buFont typeface="Verdana"/>
              <a:buChar char="◦"/>
            </a:pPr>
            <a:r>
              <a:rPr lang="en-US" sz="2000" b="1" dirty="0">
                <a:solidFill>
                  <a:prstClr val="black"/>
                </a:solidFill>
                <a:latin typeface="Lucida Sans Unicode"/>
                <a:sym typeface="Wingdings" pitchFamily="2" charset="2"/>
              </a:rPr>
              <a:t>Normal:</a:t>
            </a:r>
            <a:r>
              <a:rPr lang="en-US" sz="2000" dirty="0">
                <a:solidFill>
                  <a:prstClr val="black"/>
                </a:solidFill>
                <a:latin typeface="Lucida Sans Unicode"/>
                <a:sym typeface="Wingdings" pitchFamily="2" charset="2"/>
              </a:rPr>
              <a:t>  All volleyball players are tall			       </a:t>
            </a:r>
          </a:p>
          <a:p>
            <a:pPr marL="914400" lvl="1" indent="-457200">
              <a:lnSpc>
                <a:spcPct val="90000"/>
              </a:lnSpc>
              <a:spcBef>
                <a:spcPts val="324"/>
              </a:spcBef>
              <a:buClr>
                <a:srgbClr val="2DA2BF"/>
              </a:buClr>
              <a:buFont typeface="Verdana"/>
              <a:buChar char="◦"/>
            </a:pPr>
            <a:r>
              <a:rPr lang="en-US" sz="2000" b="1" dirty="0">
                <a:solidFill>
                  <a:prstClr val="black"/>
                </a:solidFill>
                <a:latin typeface="Lucida Sans Unicode"/>
                <a:sym typeface="Wingdings" pitchFamily="2" charset="2"/>
              </a:rPr>
              <a:t>FOPL:</a:t>
            </a:r>
            <a:r>
              <a:rPr lang="en-US" sz="2000" dirty="0">
                <a:solidFill>
                  <a:prstClr val="black"/>
                </a:solidFill>
                <a:latin typeface="Lucida Sans Unicode"/>
                <a:sym typeface="Wingdings" pitchFamily="2" charset="2"/>
              </a:rPr>
              <a:t> “</a:t>
            </a:r>
            <a:r>
              <a:rPr lang="en-US" sz="2000" b="1" dirty="0">
                <a:solidFill>
                  <a:prstClr val="black"/>
                </a:solidFill>
                <a:latin typeface="Lucida Sans Unicode"/>
                <a:sym typeface="Symbol" pitchFamily="18" charset="2"/>
              </a:rPr>
              <a:t></a:t>
            </a:r>
            <a:r>
              <a:rPr lang="en-US" sz="2000" dirty="0">
                <a:solidFill>
                  <a:prstClr val="black"/>
                </a:solidFill>
                <a:latin typeface="Lucida Sans Unicode"/>
                <a:sym typeface="Symbol" pitchFamily="18" charset="2"/>
              </a:rPr>
              <a:t>X (</a:t>
            </a:r>
            <a:r>
              <a:rPr lang="en-US" sz="2000" dirty="0" err="1">
                <a:solidFill>
                  <a:prstClr val="black"/>
                </a:solidFill>
                <a:latin typeface="Lucida Sans Unicode"/>
                <a:sym typeface="Symbol" pitchFamily="18" charset="2"/>
              </a:rPr>
              <a:t>volleyball_player</a:t>
            </a:r>
            <a:r>
              <a:rPr lang="en-US" sz="2000" dirty="0">
                <a:solidFill>
                  <a:prstClr val="black"/>
                </a:solidFill>
                <a:latin typeface="Lucida Sans Unicode"/>
                <a:sym typeface="Symbol" pitchFamily="18" charset="2"/>
              </a:rPr>
              <a:t> (X) </a:t>
            </a:r>
            <a:r>
              <a:rPr lang="en-US" sz="2000" dirty="0">
                <a:solidFill>
                  <a:prstClr val="black"/>
                </a:solidFill>
                <a:latin typeface="Lucida Sans Unicode"/>
                <a:sym typeface="Wingdings" pitchFamily="2" charset="2"/>
              </a:rPr>
              <a:t> tall (X))”</a:t>
            </a:r>
          </a:p>
          <a:p>
            <a:pPr marL="533400" lvl="0" indent="-533400">
              <a:lnSpc>
                <a:spcPct val="9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/>
              <a:buChar char=""/>
            </a:pPr>
            <a:r>
              <a:rPr lang="en-US" sz="2400" b="1" dirty="0">
                <a:solidFill>
                  <a:srgbClr val="FF5050"/>
                </a:solidFill>
                <a:latin typeface="Lucida Sans Unicode"/>
                <a:sym typeface="Wingdings" pitchFamily="2" charset="2"/>
              </a:rPr>
              <a:t>E.g. 3:</a:t>
            </a:r>
          </a:p>
          <a:p>
            <a:pPr marL="914400" lvl="1" indent="-457200">
              <a:lnSpc>
                <a:spcPct val="90000"/>
              </a:lnSpc>
              <a:spcBef>
                <a:spcPts val="324"/>
              </a:spcBef>
              <a:buClr>
                <a:srgbClr val="2DA2BF"/>
              </a:buClr>
              <a:buFont typeface="Verdana"/>
              <a:buChar char="◦"/>
            </a:pPr>
            <a:r>
              <a:rPr lang="en-US" sz="2000" b="1" dirty="0">
                <a:solidFill>
                  <a:prstClr val="black"/>
                </a:solidFill>
                <a:latin typeface="Lucida Sans Unicode"/>
                <a:sym typeface="Wingdings" pitchFamily="2" charset="2"/>
              </a:rPr>
              <a:t>Normal:</a:t>
            </a:r>
            <a:r>
              <a:rPr lang="en-US" sz="2000" dirty="0">
                <a:solidFill>
                  <a:prstClr val="black"/>
                </a:solidFill>
                <a:latin typeface="Lucida Sans Unicode"/>
                <a:sym typeface="Wingdings" pitchFamily="2" charset="2"/>
              </a:rPr>
              <a:t> Some people like durian.                                    </a:t>
            </a:r>
          </a:p>
          <a:p>
            <a:pPr marL="914400" lvl="1" indent="-457200">
              <a:lnSpc>
                <a:spcPct val="90000"/>
              </a:lnSpc>
              <a:spcBef>
                <a:spcPts val="324"/>
              </a:spcBef>
              <a:buClr>
                <a:srgbClr val="2DA2BF"/>
              </a:buClr>
              <a:buFont typeface="Verdana"/>
              <a:buChar char="◦"/>
            </a:pPr>
            <a:r>
              <a:rPr lang="en-US" sz="2000" b="1" dirty="0">
                <a:solidFill>
                  <a:prstClr val="black"/>
                </a:solidFill>
                <a:latin typeface="Lucida Sans Unicode"/>
                <a:sym typeface="Wingdings" pitchFamily="2" charset="2"/>
              </a:rPr>
              <a:t>FOPL:</a:t>
            </a:r>
            <a:r>
              <a:rPr lang="en-US" sz="2000" dirty="0">
                <a:solidFill>
                  <a:prstClr val="black"/>
                </a:solidFill>
                <a:latin typeface="Lucida Sans Unicode"/>
                <a:sym typeface="Wingdings" pitchFamily="2" charset="2"/>
              </a:rPr>
              <a:t> “</a:t>
            </a:r>
            <a:r>
              <a:rPr lang="en-US" sz="2000" b="1" dirty="0">
                <a:solidFill>
                  <a:prstClr val="black"/>
                </a:solidFill>
                <a:latin typeface="Lucida Sans Unicode"/>
                <a:sym typeface="Symbol" pitchFamily="18" charset="2"/>
              </a:rPr>
              <a:t></a:t>
            </a:r>
            <a:r>
              <a:rPr lang="en-US" sz="2000" dirty="0">
                <a:solidFill>
                  <a:prstClr val="black"/>
                </a:solidFill>
                <a:latin typeface="Lucida Sans Unicode"/>
                <a:sym typeface="Symbol" pitchFamily="18" charset="2"/>
              </a:rPr>
              <a:t>X (person(X) </a:t>
            </a:r>
            <a:r>
              <a:rPr lang="en-US" sz="2000" b="1" dirty="0">
                <a:solidFill>
                  <a:prstClr val="black"/>
                </a:solidFill>
                <a:latin typeface="Lucida Sans Unicode"/>
                <a:sym typeface="Symbol" pitchFamily="18" charset="2"/>
              </a:rPr>
              <a:t></a:t>
            </a:r>
            <a:r>
              <a:rPr lang="en-US" sz="2000" dirty="0">
                <a:solidFill>
                  <a:prstClr val="black"/>
                </a:solidFill>
                <a:latin typeface="Lucida Sans Unicode"/>
                <a:sym typeface="Symbol" pitchFamily="18" charset="2"/>
              </a:rPr>
              <a:t> likes(X, </a:t>
            </a:r>
            <a:r>
              <a:rPr lang="en-US" sz="2000" dirty="0" smtClean="0">
                <a:solidFill>
                  <a:prstClr val="black"/>
                </a:solidFill>
                <a:latin typeface="Lucida Sans Unicode"/>
                <a:sym typeface="Symbol" pitchFamily="18" charset="2"/>
              </a:rPr>
              <a:t>apple))”</a:t>
            </a:r>
            <a:endParaRPr lang="en-US" sz="2000" dirty="0">
              <a:solidFill>
                <a:prstClr val="black"/>
              </a:solidFill>
              <a:latin typeface="Lucida Sans Unicode"/>
              <a:sym typeface="Symbol" pitchFamily="18" charset="2"/>
            </a:endParaRPr>
          </a:p>
          <a:p>
            <a:pPr marL="533400" lvl="0" indent="-533400">
              <a:lnSpc>
                <a:spcPct val="9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/>
              <a:buChar char=""/>
            </a:pPr>
            <a:r>
              <a:rPr lang="en-US" sz="2400" b="1" dirty="0">
                <a:solidFill>
                  <a:srgbClr val="FF5050"/>
                </a:solidFill>
                <a:latin typeface="Lucida Sans Unicode"/>
                <a:sym typeface="Symbol" pitchFamily="18" charset="2"/>
              </a:rPr>
              <a:t>E.g. 4:</a:t>
            </a:r>
          </a:p>
          <a:p>
            <a:pPr marL="914400" lvl="1" indent="-457200">
              <a:lnSpc>
                <a:spcPct val="90000"/>
              </a:lnSpc>
              <a:spcBef>
                <a:spcPts val="324"/>
              </a:spcBef>
              <a:buClr>
                <a:srgbClr val="2DA2BF"/>
              </a:buClr>
              <a:buFont typeface="Verdana"/>
              <a:buChar char="◦"/>
            </a:pPr>
            <a:r>
              <a:rPr lang="en-US" sz="2000" b="1" dirty="0">
                <a:solidFill>
                  <a:prstClr val="black"/>
                </a:solidFill>
                <a:latin typeface="Lucida Sans Unicode"/>
                <a:sym typeface="Symbol" pitchFamily="18" charset="2"/>
              </a:rPr>
              <a:t>Normal:</a:t>
            </a:r>
            <a:r>
              <a:rPr lang="en-US" sz="2000" dirty="0">
                <a:solidFill>
                  <a:prstClr val="black"/>
                </a:solidFill>
                <a:latin typeface="Lucida Sans Unicode"/>
                <a:sym typeface="Symbol" pitchFamily="18" charset="2"/>
              </a:rPr>
              <a:t> Nobody likes war 			             </a:t>
            </a:r>
          </a:p>
          <a:p>
            <a:pPr marL="914400" lvl="1" indent="-457200">
              <a:lnSpc>
                <a:spcPct val="90000"/>
              </a:lnSpc>
              <a:spcBef>
                <a:spcPts val="324"/>
              </a:spcBef>
              <a:buClr>
                <a:srgbClr val="2DA2BF"/>
              </a:buClr>
              <a:buFont typeface="Verdana"/>
              <a:buChar char="◦"/>
            </a:pPr>
            <a:r>
              <a:rPr lang="en-US" sz="2000" b="1" dirty="0">
                <a:solidFill>
                  <a:prstClr val="black"/>
                </a:solidFill>
                <a:latin typeface="Lucida Sans Unicode"/>
                <a:sym typeface="Symbol" pitchFamily="18" charset="2"/>
              </a:rPr>
              <a:t>FOPL:</a:t>
            </a:r>
            <a:r>
              <a:rPr lang="en-US" sz="2000" dirty="0">
                <a:solidFill>
                  <a:prstClr val="black"/>
                </a:solidFill>
                <a:latin typeface="Lucida Sans Unicode"/>
                <a:sym typeface="Symbol" pitchFamily="18" charset="2"/>
              </a:rPr>
              <a:t> “</a:t>
            </a:r>
            <a:r>
              <a:rPr lang="en-US" sz="2000" b="1" dirty="0">
                <a:solidFill>
                  <a:prstClr val="black"/>
                </a:solidFill>
                <a:latin typeface="Lucida Sans Unicode"/>
                <a:sym typeface="Symbol" pitchFamily="18" charset="2"/>
              </a:rPr>
              <a:t></a:t>
            </a:r>
            <a:r>
              <a:rPr lang="en-US" sz="2000" dirty="0">
                <a:solidFill>
                  <a:prstClr val="black"/>
                </a:solidFill>
                <a:latin typeface="Lucida Sans Unicode"/>
                <a:sym typeface="Symbol" pitchFamily="18" charset="2"/>
              </a:rPr>
              <a:t> X </a:t>
            </a:r>
            <a:r>
              <a:rPr lang="en-US" sz="2000" b="1" dirty="0">
                <a:solidFill>
                  <a:prstClr val="black"/>
                </a:solidFill>
                <a:latin typeface="Lucida Sans Unicode"/>
                <a:sym typeface="Symbol" pitchFamily="18" charset="2"/>
              </a:rPr>
              <a:t> </a:t>
            </a:r>
            <a:r>
              <a:rPr lang="en-US" sz="2000" dirty="0">
                <a:solidFill>
                  <a:prstClr val="black"/>
                </a:solidFill>
                <a:latin typeface="Lucida Sans Unicode"/>
                <a:sym typeface="Symbol" pitchFamily="18" charset="2"/>
              </a:rPr>
              <a:t>likes (X, war)” OR “</a:t>
            </a:r>
            <a:r>
              <a:rPr lang="en-US" sz="2000" dirty="0">
                <a:solidFill>
                  <a:prstClr val="black"/>
                </a:solidFill>
                <a:latin typeface="Lucida Sans Unicode"/>
                <a:sym typeface="Symbol"/>
              </a:rPr>
              <a:t>X likes(</a:t>
            </a:r>
            <a:r>
              <a:rPr lang="en-US" sz="2000" dirty="0" err="1">
                <a:solidFill>
                  <a:prstClr val="black"/>
                </a:solidFill>
                <a:latin typeface="Lucida Sans Unicode"/>
                <a:sym typeface="Symbol"/>
              </a:rPr>
              <a:t>X,war</a:t>
            </a:r>
            <a:r>
              <a:rPr lang="en-US" sz="2000" dirty="0">
                <a:solidFill>
                  <a:prstClr val="black"/>
                </a:solidFill>
                <a:latin typeface="Lucida Sans Unicode"/>
                <a:sym typeface="Symbol"/>
              </a:rPr>
              <a:t>)”</a:t>
            </a:r>
            <a:endParaRPr lang="en-US" sz="1400" dirty="0">
              <a:solidFill>
                <a:prstClr val="black"/>
              </a:solidFill>
              <a:latin typeface="Lucida Sans Unicode"/>
              <a:sym typeface="Wingdings" pitchFamily="2" charset="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2424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>
              <a:lnSpc>
                <a:spcPct val="90000"/>
              </a:lnSpc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Everyone likes McDonalds</a:t>
            </a:r>
          </a:p>
          <a:p>
            <a:pPr lvl="1" fontAlgn="base">
              <a:lnSpc>
                <a:spcPct val="90000"/>
              </a:lnSpc>
              <a:spcAft>
                <a:spcPct val="0"/>
              </a:spcAft>
              <a:buFontTx/>
              <a:buChar char="–"/>
            </a:pP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sym typeface="Symbol" pitchFamily="18" charset="2"/>
              </a:rPr>
              <a:t>x,  likes(x, </a:t>
            </a: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McDonalds</a:t>
            </a: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sym typeface="Symbol" pitchFamily="18" charset="2"/>
              </a:rPr>
              <a:t>)</a:t>
            </a:r>
          </a:p>
          <a:p>
            <a:pPr lvl="0" fontAlgn="base">
              <a:lnSpc>
                <a:spcPct val="90000"/>
              </a:lnSpc>
              <a:spcAft>
                <a:spcPct val="0"/>
              </a:spcAft>
              <a:buFontTx/>
              <a:buChar char="•"/>
            </a:pPr>
            <a:endParaRPr kumimoji="0" lang="en-US" alt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  <a:sym typeface="Symbol" pitchFamily="18" charset="2"/>
            </a:endParaRPr>
          </a:p>
          <a:p>
            <a:pPr lvl="0" fontAlgn="base">
              <a:lnSpc>
                <a:spcPct val="90000"/>
              </a:lnSpc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  <a:sym typeface="Symbol" pitchFamily="18" charset="2"/>
              </a:rPr>
              <a:t>Someone likes </a:t>
            </a: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McDonalds</a:t>
            </a:r>
            <a:endParaRPr kumimoji="0" lang="en-US" alt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  <a:sym typeface="Symbol" pitchFamily="18" charset="2"/>
            </a:endParaRPr>
          </a:p>
          <a:p>
            <a:pPr lvl="1" fontAlgn="base">
              <a:lnSpc>
                <a:spcPct val="90000"/>
              </a:lnSpc>
              <a:spcAft>
                <a:spcPct val="0"/>
              </a:spcAft>
              <a:buFontTx/>
              <a:buChar char="–"/>
            </a:pP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sym typeface="Symbol" pitchFamily="18" charset="2"/>
              </a:rPr>
              <a:t>x,  likes(x, </a:t>
            </a: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McDonalds</a:t>
            </a: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sym typeface="Symbol" pitchFamily="18" charset="2"/>
              </a:rPr>
              <a:t>)</a:t>
            </a:r>
          </a:p>
          <a:p>
            <a:pPr lvl="0" fontAlgn="base">
              <a:lnSpc>
                <a:spcPct val="90000"/>
              </a:lnSpc>
              <a:spcAft>
                <a:spcPct val="0"/>
              </a:spcAft>
              <a:buFontTx/>
              <a:buChar char="•"/>
            </a:pPr>
            <a:endParaRPr kumimoji="0" lang="en-US" alt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  <a:sym typeface="Symbol" pitchFamily="18" charset="2"/>
            </a:endParaRPr>
          </a:p>
          <a:p>
            <a:pPr lvl="0" fontAlgn="base">
              <a:lnSpc>
                <a:spcPct val="90000"/>
              </a:lnSpc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  <a:sym typeface="Symbol" pitchFamily="18" charset="2"/>
              </a:rPr>
              <a:t>All children like </a:t>
            </a: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McDonalds</a:t>
            </a:r>
            <a:endParaRPr kumimoji="0" lang="en-US" alt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  <a:sym typeface="Symbol" pitchFamily="18" charset="2"/>
            </a:endParaRPr>
          </a:p>
          <a:p>
            <a:pPr lvl="1" fontAlgn="base">
              <a:lnSpc>
                <a:spcPct val="90000"/>
              </a:lnSpc>
              <a:spcAft>
                <a:spcPct val="0"/>
              </a:spcAft>
              <a:buFontTx/>
              <a:buChar char="–"/>
            </a:pP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sym typeface="Symbol" pitchFamily="18" charset="2"/>
              </a:rPr>
              <a:t>x,  child(x)  likes(x, </a:t>
            </a: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McDonalds</a:t>
            </a: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sym typeface="Symbol" pitchFamily="18" charset="2"/>
              </a:rPr>
              <a:t>)</a:t>
            </a:r>
          </a:p>
          <a:p>
            <a:pPr lvl="0" fontAlgn="base">
              <a:lnSpc>
                <a:spcPct val="90000"/>
              </a:lnSpc>
              <a:spcAft>
                <a:spcPct val="0"/>
              </a:spcAft>
              <a:buFontTx/>
              <a:buChar char="•"/>
            </a:pPr>
            <a:endParaRPr kumimoji="0" lang="en-US" alt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  <a:sym typeface="Symbol" pitchFamily="18" charset="2"/>
            </a:endParaRPr>
          </a:p>
          <a:p>
            <a:pPr lvl="0" fontAlgn="base">
              <a:lnSpc>
                <a:spcPct val="90000"/>
              </a:lnSpc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  <a:sym typeface="Symbol" pitchFamily="18" charset="2"/>
              </a:rPr>
              <a:t>Everyone likes </a:t>
            </a: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McDonalds</a:t>
            </a: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  <a:sym typeface="Symbol" pitchFamily="18" charset="2"/>
              </a:rPr>
              <a:t> unless they are allergic to it</a:t>
            </a:r>
          </a:p>
          <a:p>
            <a:pPr lvl="1" fontAlgn="base">
              <a:lnSpc>
                <a:spcPct val="90000"/>
              </a:lnSpc>
              <a:spcAft>
                <a:spcPct val="0"/>
              </a:spcAft>
              <a:buFontTx/>
              <a:buChar char="–"/>
            </a:pP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sym typeface="Symbol" pitchFamily="18" charset="2"/>
              </a:rPr>
              <a:t>x, likes(x, </a:t>
            </a: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McDonalds</a:t>
            </a: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sym typeface="Symbol" pitchFamily="18" charset="2"/>
              </a:rPr>
              <a:t>) </a:t>
            </a:r>
            <a:r>
              <a:rPr kumimoji="0" lang="en-US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sym typeface="Symbol" pitchFamily="18" charset="2"/>
              </a:rPr>
              <a:t> </a:t>
            </a: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sym typeface="Symbol" pitchFamily="18" charset="2"/>
              </a:rPr>
              <a:t>allergic(x, </a:t>
            </a: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McDonalds</a:t>
            </a: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sym typeface="Symbol" pitchFamily="18" charset="2"/>
              </a:rPr>
              <a:t>)</a:t>
            </a:r>
          </a:p>
          <a:p>
            <a:pPr lvl="1" fontAlgn="base">
              <a:lnSpc>
                <a:spcPct val="90000"/>
              </a:lnSpc>
              <a:spcAft>
                <a:spcPct val="0"/>
              </a:spcAft>
              <a:buFontTx/>
              <a:buChar char="–"/>
            </a:pP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sym typeface="Symbol" pitchFamily="18" charset="2"/>
              </a:rPr>
              <a:t>x, allergic (x, </a:t>
            </a: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McDonalds</a:t>
            </a: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sym typeface="Symbol" pitchFamily="18" charset="2"/>
              </a:rPr>
              <a:t>)  likes(x, </a:t>
            </a: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McDonalds</a:t>
            </a: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sym typeface="Symbol" pitchFamily="18" charset="2"/>
              </a:rPr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506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Nesting Quantifiers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>
              <a:spcAft>
                <a:spcPct val="0"/>
              </a:spcAft>
              <a:buFontTx/>
              <a:buChar char="•"/>
            </a:pPr>
            <a:r>
              <a:rPr lang="en-US" altLang="en-US" kern="0" dirty="0">
                <a:solidFill>
                  <a:srgbClr val="000000"/>
                </a:solidFill>
                <a:latin typeface="Tahoma"/>
              </a:rPr>
              <a:t>Everyone likes some kind of food</a:t>
            </a:r>
          </a:p>
          <a:p>
            <a:pPr lvl="1" fontAlgn="base">
              <a:spcAft>
                <a:spcPct val="0"/>
              </a:spcAft>
              <a:buNone/>
            </a:pPr>
            <a:r>
              <a:rPr lang="en-US" altLang="en-US" kern="0" dirty="0">
                <a:solidFill>
                  <a:srgbClr val="000000"/>
                </a:solidFill>
                <a:latin typeface="Tahoma"/>
                <a:sym typeface="Symbol" pitchFamily="18" charset="2"/>
              </a:rPr>
              <a:t>y x,  food(x) </a:t>
            </a:r>
            <a:r>
              <a:rPr lang="en-US" altLang="en-US" b="1" kern="0" dirty="0">
                <a:solidFill>
                  <a:srgbClr val="000000"/>
                </a:solidFill>
                <a:latin typeface="Tahoma"/>
                <a:sym typeface="Symbol" pitchFamily="18" charset="2"/>
              </a:rPr>
              <a:t> </a:t>
            </a:r>
            <a:r>
              <a:rPr lang="en-US" altLang="en-US" kern="0" dirty="0">
                <a:solidFill>
                  <a:srgbClr val="000000"/>
                </a:solidFill>
                <a:latin typeface="Tahoma"/>
                <a:sym typeface="Symbol" pitchFamily="18" charset="2"/>
              </a:rPr>
              <a:t>likes(y, x)</a:t>
            </a:r>
          </a:p>
          <a:p>
            <a:pPr lvl="0" fontAlgn="base">
              <a:spcAft>
                <a:spcPct val="0"/>
              </a:spcAft>
              <a:buFontTx/>
              <a:buChar char="•"/>
            </a:pPr>
            <a:r>
              <a:rPr lang="en-US" altLang="en-US" kern="0" dirty="0">
                <a:solidFill>
                  <a:srgbClr val="000000"/>
                </a:solidFill>
                <a:latin typeface="Tahoma"/>
                <a:sym typeface="Symbol" pitchFamily="18" charset="2"/>
              </a:rPr>
              <a:t>There is a kind of food that everyone likes</a:t>
            </a:r>
          </a:p>
          <a:p>
            <a:pPr lvl="1" fontAlgn="base">
              <a:spcAft>
                <a:spcPct val="0"/>
              </a:spcAft>
              <a:buNone/>
            </a:pPr>
            <a:r>
              <a:rPr lang="en-US" altLang="en-US" kern="0" dirty="0">
                <a:solidFill>
                  <a:srgbClr val="000000"/>
                </a:solidFill>
                <a:latin typeface="Tahoma"/>
                <a:sym typeface="Symbol" pitchFamily="18" charset="2"/>
              </a:rPr>
              <a:t>x y,  food(x) </a:t>
            </a:r>
            <a:r>
              <a:rPr lang="en-US" altLang="en-US" b="1" kern="0" dirty="0">
                <a:solidFill>
                  <a:srgbClr val="000000"/>
                </a:solidFill>
                <a:latin typeface="Tahoma"/>
                <a:sym typeface="Symbol" pitchFamily="18" charset="2"/>
              </a:rPr>
              <a:t> </a:t>
            </a:r>
            <a:r>
              <a:rPr lang="en-US" altLang="en-US" kern="0" dirty="0">
                <a:solidFill>
                  <a:srgbClr val="000000"/>
                </a:solidFill>
                <a:latin typeface="Tahoma"/>
                <a:sym typeface="Symbol" pitchFamily="18" charset="2"/>
              </a:rPr>
              <a:t>likes(y, x)</a:t>
            </a:r>
          </a:p>
          <a:p>
            <a:pPr lvl="0" fontAlgn="base">
              <a:spcAft>
                <a:spcPct val="0"/>
              </a:spcAft>
              <a:buFontTx/>
              <a:buChar char="•"/>
            </a:pPr>
            <a:r>
              <a:rPr lang="en-US" altLang="en-US" kern="0" dirty="0">
                <a:solidFill>
                  <a:srgbClr val="000000"/>
                </a:solidFill>
                <a:latin typeface="Tahoma"/>
                <a:sym typeface="Symbol" pitchFamily="18" charset="2"/>
              </a:rPr>
              <a:t>Someone likes all kinds of food</a:t>
            </a:r>
          </a:p>
          <a:p>
            <a:pPr lvl="1" fontAlgn="base">
              <a:spcAft>
                <a:spcPct val="0"/>
              </a:spcAft>
              <a:buNone/>
            </a:pPr>
            <a:r>
              <a:rPr lang="en-US" altLang="en-US" kern="0" dirty="0">
                <a:solidFill>
                  <a:srgbClr val="000000"/>
                </a:solidFill>
                <a:latin typeface="Tahoma"/>
                <a:sym typeface="Symbol" pitchFamily="18" charset="2"/>
              </a:rPr>
              <a:t>y x,  food(x) </a:t>
            </a:r>
            <a:r>
              <a:rPr lang="en-US" altLang="en-US" b="1" kern="0" dirty="0">
                <a:solidFill>
                  <a:srgbClr val="000000"/>
                </a:solidFill>
                <a:latin typeface="Tahoma"/>
                <a:sym typeface="Symbol" pitchFamily="18" charset="2"/>
              </a:rPr>
              <a:t> </a:t>
            </a:r>
            <a:r>
              <a:rPr lang="en-US" altLang="en-US" kern="0" dirty="0">
                <a:solidFill>
                  <a:srgbClr val="000000"/>
                </a:solidFill>
                <a:latin typeface="Tahoma"/>
                <a:sym typeface="Symbol" pitchFamily="18" charset="2"/>
              </a:rPr>
              <a:t>likes(y, x)</a:t>
            </a:r>
          </a:p>
          <a:p>
            <a:pPr lvl="0" fontAlgn="base">
              <a:spcAft>
                <a:spcPct val="0"/>
              </a:spcAft>
              <a:buFontTx/>
              <a:buChar char="•"/>
            </a:pPr>
            <a:r>
              <a:rPr lang="en-US" altLang="en-US" kern="0" dirty="0">
                <a:solidFill>
                  <a:srgbClr val="000000"/>
                </a:solidFill>
                <a:latin typeface="Tahoma"/>
                <a:sym typeface="Symbol" pitchFamily="18" charset="2"/>
              </a:rPr>
              <a:t>Every food has someone who likes it</a:t>
            </a:r>
          </a:p>
          <a:p>
            <a:pPr lvl="1" fontAlgn="base">
              <a:spcAft>
                <a:spcPct val="0"/>
              </a:spcAft>
              <a:buNone/>
            </a:pPr>
            <a:r>
              <a:rPr lang="en-US" altLang="en-US" kern="0" dirty="0">
                <a:solidFill>
                  <a:srgbClr val="000000"/>
                </a:solidFill>
                <a:latin typeface="Tahoma"/>
                <a:sym typeface="Symbol" pitchFamily="18" charset="2"/>
              </a:rPr>
              <a:t>x y,  food(x) </a:t>
            </a:r>
            <a:r>
              <a:rPr lang="en-US" altLang="en-US" b="1" kern="0" dirty="0">
                <a:solidFill>
                  <a:srgbClr val="000000"/>
                </a:solidFill>
                <a:latin typeface="Tahoma"/>
                <a:sym typeface="Symbol" pitchFamily="18" charset="2"/>
              </a:rPr>
              <a:t> </a:t>
            </a:r>
            <a:r>
              <a:rPr lang="en-US" altLang="en-US" kern="0" dirty="0">
                <a:solidFill>
                  <a:srgbClr val="000000"/>
                </a:solidFill>
                <a:latin typeface="Tahoma"/>
                <a:sym typeface="Symbol" pitchFamily="18" charset="2"/>
              </a:rPr>
              <a:t>likes(y, x)</a:t>
            </a:r>
            <a:endParaRPr lang="en-US" altLang="en-US" kern="0" dirty="0">
              <a:solidFill>
                <a:srgbClr val="000000"/>
              </a:solidFill>
              <a:latin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3376063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Nesting Quantifiers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>
              <a:spcAft>
                <a:spcPct val="0"/>
              </a:spcAft>
              <a:buFontTx/>
              <a:buChar char="•"/>
            </a:pPr>
            <a:r>
              <a:rPr lang="en-US" altLang="en-US" kern="0" dirty="0">
                <a:solidFill>
                  <a:srgbClr val="000000"/>
                </a:solidFill>
                <a:latin typeface="Tahoma"/>
              </a:rPr>
              <a:t>Quantifier Duality</a:t>
            </a:r>
          </a:p>
          <a:p>
            <a:pPr lvl="1" fontAlgn="base">
              <a:spcAft>
                <a:spcPct val="0"/>
              </a:spcAft>
              <a:buFontTx/>
              <a:buChar char="–"/>
            </a:pPr>
            <a:r>
              <a:rPr lang="en-US" altLang="en-US" kern="0" dirty="0">
                <a:solidFill>
                  <a:srgbClr val="000000"/>
                </a:solidFill>
                <a:latin typeface="Tahoma"/>
              </a:rPr>
              <a:t>Not everyone like McDonalds</a:t>
            </a:r>
          </a:p>
          <a:p>
            <a:pPr lvl="1" fontAlgn="base">
              <a:spcAft>
                <a:spcPct val="0"/>
              </a:spcAft>
              <a:buNone/>
            </a:pPr>
            <a:r>
              <a:rPr lang="en-US" altLang="en-US" kern="0" dirty="0">
                <a:solidFill>
                  <a:srgbClr val="000000"/>
                </a:solidFill>
                <a:latin typeface="Tahoma"/>
                <a:sym typeface="Symbol" pitchFamily="18" charset="2"/>
              </a:rPr>
              <a:t>	(x,  likes(x, </a:t>
            </a:r>
            <a:r>
              <a:rPr lang="en-US" altLang="en-US" kern="0" dirty="0">
                <a:solidFill>
                  <a:srgbClr val="000000"/>
                </a:solidFill>
                <a:latin typeface="Tahoma"/>
              </a:rPr>
              <a:t>McDonalds</a:t>
            </a:r>
            <a:r>
              <a:rPr lang="en-US" altLang="en-US" kern="0" dirty="0">
                <a:solidFill>
                  <a:srgbClr val="000000"/>
                </a:solidFill>
                <a:latin typeface="Tahoma"/>
                <a:sym typeface="Symbol" pitchFamily="18" charset="2"/>
              </a:rPr>
              <a:t>))</a:t>
            </a:r>
          </a:p>
          <a:p>
            <a:pPr lvl="1" fontAlgn="base">
              <a:spcAft>
                <a:spcPct val="0"/>
              </a:spcAft>
              <a:buNone/>
            </a:pPr>
            <a:r>
              <a:rPr lang="en-US" altLang="en-US" kern="0" dirty="0">
                <a:solidFill>
                  <a:srgbClr val="000000"/>
                </a:solidFill>
                <a:latin typeface="Tahoma"/>
                <a:sym typeface="Symbol" pitchFamily="18" charset="2"/>
              </a:rPr>
              <a:t>	x, likes(x, </a:t>
            </a:r>
            <a:r>
              <a:rPr lang="en-US" altLang="en-US" kern="0" dirty="0">
                <a:solidFill>
                  <a:srgbClr val="000000"/>
                </a:solidFill>
                <a:latin typeface="Tahoma"/>
              </a:rPr>
              <a:t>McDonalds</a:t>
            </a:r>
            <a:r>
              <a:rPr lang="en-US" altLang="en-US" kern="0" dirty="0">
                <a:solidFill>
                  <a:srgbClr val="000000"/>
                </a:solidFill>
                <a:latin typeface="Tahoma"/>
                <a:sym typeface="Symbol" pitchFamily="18" charset="2"/>
              </a:rPr>
              <a:t>)</a:t>
            </a:r>
          </a:p>
          <a:p>
            <a:pPr lvl="0" fontAlgn="base">
              <a:spcAft>
                <a:spcPct val="0"/>
              </a:spcAft>
              <a:buFontTx/>
              <a:buChar char="•"/>
            </a:pPr>
            <a:endParaRPr lang="en-US" altLang="en-US" kern="0" dirty="0">
              <a:solidFill>
                <a:srgbClr val="000000"/>
              </a:solidFill>
              <a:latin typeface="Tahoma"/>
              <a:sym typeface="Symbol" pitchFamily="18" charset="2"/>
            </a:endParaRPr>
          </a:p>
          <a:p>
            <a:pPr lvl="1" fontAlgn="base">
              <a:spcAft>
                <a:spcPct val="0"/>
              </a:spcAft>
              <a:buFontTx/>
              <a:buChar char="–"/>
            </a:pPr>
            <a:r>
              <a:rPr lang="en-US" altLang="en-US" kern="0" dirty="0">
                <a:solidFill>
                  <a:srgbClr val="000000"/>
                </a:solidFill>
                <a:latin typeface="Tahoma"/>
                <a:sym typeface="Symbol" pitchFamily="18" charset="2"/>
              </a:rPr>
              <a:t>No one likes </a:t>
            </a:r>
            <a:r>
              <a:rPr lang="en-US" altLang="en-US" kern="0" dirty="0">
                <a:solidFill>
                  <a:srgbClr val="000000"/>
                </a:solidFill>
                <a:latin typeface="Tahoma"/>
              </a:rPr>
              <a:t>McDonalds</a:t>
            </a:r>
            <a:endParaRPr lang="en-US" altLang="en-US" kern="0" dirty="0">
              <a:solidFill>
                <a:srgbClr val="000000"/>
              </a:solidFill>
              <a:latin typeface="Tahoma"/>
              <a:sym typeface="Symbol" pitchFamily="18" charset="2"/>
            </a:endParaRPr>
          </a:p>
          <a:p>
            <a:pPr lvl="1" fontAlgn="base">
              <a:spcAft>
                <a:spcPct val="0"/>
              </a:spcAft>
              <a:buNone/>
            </a:pPr>
            <a:r>
              <a:rPr lang="en-US" altLang="en-US" kern="0" dirty="0">
                <a:solidFill>
                  <a:srgbClr val="000000"/>
                </a:solidFill>
                <a:latin typeface="Tahoma"/>
                <a:sym typeface="Symbol" pitchFamily="18" charset="2"/>
              </a:rPr>
              <a:t>	(x,  likes(x, </a:t>
            </a:r>
            <a:r>
              <a:rPr lang="en-US" altLang="en-US" kern="0" dirty="0">
                <a:solidFill>
                  <a:srgbClr val="000000"/>
                </a:solidFill>
                <a:latin typeface="Tahoma"/>
              </a:rPr>
              <a:t>McDonalds</a:t>
            </a:r>
            <a:r>
              <a:rPr lang="en-US" altLang="en-US" kern="0" dirty="0">
                <a:solidFill>
                  <a:srgbClr val="000000"/>
                </a:solidFill>
                <a:latin typeface="Tahoma"/>
                <a:sym typeface="Symbol" pitchFamily="18" charset="2"/>
              </a:rPr>
              <a:t>))</a:t>
            </a:r>
          </a:p>
          <a:p>
            <a:pPr lvl="1" fontAlgn="base">
              <a:spcAft>
                <a:spcPct val="0"/>
              </a:spcAft>
              <a:buNone/>
            </a:pPr>
            <a:r>
              <a:rPr lang="en-US" altLang="en-US" kern="0" dirty="0">
                <a:solidFill>
                  <a:srgbClr val="000000"/>
                </a:solidFill>
                <a:latin typeface="Tahoma"/>
                <a:sym typeface="Symbol" pitchFamily="18" charset="2"/>
              </a:rPr>
              <a:t>	x, likes(x, </a:t>
            </a:r>
            <a:r>
              <a:rPr lang="en-US" altLang="en-US" kern="0" dirty="0">
                <a:solidFill>
                  <a:srgbClr val="000000"/>
                </a:solidFill>
                <a:latin typeface="Tahoma"/>
              </a:rPr>
              <a:t>McDonalds</a:t>
            </a:r>
            <a:r>
              <a:rPr lang="en-US" altLang="en-US" kern="0" dirty="0">
                <a:solidFill>
                  <a:srgbClr val="000000"/>
                </a:solidFill>
                <a:latin typeface="Tahoma"/>
                <a:sym typeface="Symbol" pitchFamily="18" charset="2"/>
              </a:rPr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4803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917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357158" y="785794"/>
            <a:ext cx="8501121" cy="3386138"/>
          </a:xfrm>
        </p:spPr>
        <p:txBody>
          <a:bodyPr>
            <a:normAutofit/>
          </a:bodyPr>
          <a:lstStyle/>
          <a:p>
            <a:pPr algn="ctr" eaLnBrk="1" hangingPunct="1">
              <a:buFont typeface="Wingdings" pitchFamily="2" charset="2"/>
              <a:buNone/>
            </a:pPr>
            <a:r>
              <a:rPr lang="en-US" sz="4800" b="1" dirty="0" smtClean="0"/>
              <a:t>KNOWLEDGE 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sz="4800" b="1" dirty="0" smtClean="0"/>
              <a:t>REASONING &amp; INFERENCE</a:t>
            </a:r>
            <a:endParaRPr lang="en-US" sz="4800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4D127B-E275-4D35-BE75-65AC5DDAF53E}" type="slidenum">
              <a:rPr lang="en-US" altLang="en-US"/>
              <a:pPr>
                <a:defRPr/>
              </a:pPr>
              <a:t>34</a:t>
            </a:fld>
            <a:endParaRPr lang="en-US" altLang="en-US"/>
          </a:p>
        </p:txBody>
      </p:sp>
      <p:pic>
        <p:nvPicPr>
          <p:cNvPr id="5" name="Picture 4" descr="logoLar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54427" y="2786058"/>
            <a:ext cx="2819400" cy="2649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6675460" y="3919543"/>
            <a:ext cx="1111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1800" dirty="0">
                <a:latin typeface="Arial" charset="0"/>
              </a:rPr>
              <a:t>perceive </a:t>
            </a:r>
            <a:endParaRPr lang="en-US" sz="1800" dirty="0">
              <a:latin typeface="Arial" charset="0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6492895" y="3390903"/>
            <a:ext cx="1436691" cy="5847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Arial" charset="0"/>
              </a:rPr>
              <a:t>object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500166" y="3357562"/>
            <a:ext cx="1643075" cy="928694"/>
            <a:chOff x="1714480" y="3357562"/>
            <a:chExt cx="1643075" cy="928694"/>
          </a:xfrm>
        </p:grpSpPr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1768466" y="3919544"/>
              <a:ext cx="1517650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800" dirty="0">
                  <a:latin typeface="Arial" charset="0"/>
                </a:rPr>
                <a:t>interpretation</a:t>
              </a:r>
            </a:p>
          </p:txBody>
        </p: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1714480" y="3357562"/>
              <a:ext cx="1643075" cy="584775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Arial" charset="0"/>
                </a:rPr>
                <a:t>action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8949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31825" indent="-631825"/>
            <a:r>
              <a:rPr lang="en-US" dirty="0" smtClean="0">
                <a:solidFill>
                  <a:srgbClr val="00B0F0"/>
                </a:solidFill>
              </a:rPr>
              <a:t>Reasoning is</a:t>
            </a:r>
            <a:endParaRPr lang="en-US" dirty="0">
              <a:solidFill>
                <a:srgbClr val="00B0F0"/>
              </a:solidFill>
            </a:endParaRPr>
          </a:p>
          <a:p>
            <a:pPr marL="1030288" lvl="1" indent="-347663"/>
            <a:r>
              <a:rPr lang="en-US" dirty="0"/>
              <a:t>A process of applying knowledge to arrive at </a:t>
            </a:r>
            <a:r>
              <a:rPr lang="en-US" dirty="0" smtClean="0"/>
              <a:t>solution</a:t>
            </a:r>
          </a:p>
          <a:p>
            <a:pPr marL="1030288" lvl="1" indent="-347663"/>
            <a:r>
              <a:rPr lang="en-US" dirty="0" smtClean="0"/>
              <a:t>Requires </a:t>
            </a:r>
            <a:r>
              <a:rPr lang="en-US" dirty="0"/>
              <a:t>the ability to infer conclusions from the available </a:t>
            </a:r>
            <a:r>
              <a:rPr lang="en-US" dirty="0" smtClean="0"/>
              <a:t>facts</a:t>
            </a:r>
          </a:p>
          <a:p>
            <a:pPr marL="1030288" lvl="1" indent="-347663"/>
            <a:r>
              <a:rPr lang="en-US" dirty="0" smtClean="0"/>
              <a:t>To </a:t>
            </a:r>
            <a:r>
              <a:rPr lang="en-US" dirty="0"/>
              <a:t>reason is to think clearly and logically, to draw reasonable inference or conclusion from known or assumed </a:t>
            </a:r>
            <a:r>
              <a:rPr lang="en-US" dirty="0" smtClean="0"/>
              <a:t>facts</a:t>
            </a:r>
          </a:p>
          <a:p>
            <a:pPr marL="1030288" lvl="1" indent="-347663"/>
            <a:r>
              <a:rPr lang="en-US" dirty="0" smtClean="0"/>
              <a:t>It </a:t>
            </a:r>
            <a:r>
              <a:rPr lang="en-US" dirty="0"/>
              <a:t>works through interaction of rules and data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570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</a:t>
            </a:r>
            <a:endParaRPr lang="en-US" dirty="0"/>
          </a:p>
        </p:txBody>
      </p:sp>
      <p:grpSp>
        <p:nvGrpSpPr>
          <p:cNvPr id="2" name="Content Placeholder 5"/>
          <p:cNvGrpSpPr>
            <a:grpSpLocks noGrp="1"/>
          </p:cNvGrpSpPr>
          <p:nvPr/>
        </p:nvGrpSpPr>
        <p:grpSpPr>
          <a:xfrm>
            <a:off x="885828" y="2571745"/>
            <a:ext cx="7615262" cy="3429023"/>
            <a:chOff x="685800" y="3048000"/>
            <a:chExt cx="8197850" cy="3695700"/>
          </a:xfrm>
        </p:grpSpPr>
        <p:grpSp>
          <p:nvGrpSpPr>
            <p:cNvPr id="3" name="Group 17"/>
            <p:cNvGrpSpPr>
              <a:grpSpLocks/>
            </p:cNvGrpSpPr>
            <p:nvPr/>
          </p:nvGrpSpPr>
          <p:grpSpPr bwMode="auto">
            <a:xfrm>
              <a:off x="685800" y="4648202"/>
              <a:ext cx="2743200" cy="1968501"/>
              <a:chOff x="336" y="2928"/>
              <a:chExt cx="1728" cy="1240"/>
            </a:xfrm>
          </p:grpSpPr>
          <p:pic>
            <p:nvPicPr>
              <p:cNvPr id="12" name="Picture 15" descr="bs00559_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720" y="2928"/>
                <a:ext cx="1344" cy="7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3" name="Picture 16" descr="bs00554_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36" y="3163"/>
                <a:ext cx="1152" cy="10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pic>
          <p:nvPicPr>
            <p:cNvPr id="8" name="Picture 18" descr="pe01561_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733800" y="3048000"/>
              <a:ext cx="3052763" cy="2025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Line 22"/>
            <p:cNvSpPr>
              <a:spLocks noChangeShapeType="1"/>
            </p:cNvSpPr>
            <p:nvPr/>
          </p:nvSpPr>
          <p:spPr bwMode="auto">
            <a:xfrm flipV="1">
              <a:off x="3505200" y="4800600"/>
              <a:ext cx="533400" cy="15240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23"/>
            <p:cNvSpPr>
              <a:spLocks noChangeShapeType="1"/>
            </p:cNvSpPr>
            <p:nvPr/>
          </p:nvSpPr>
          <p:spPr bwMode="auto">
            <a:xfrm>
              <a:off x="6705600" y="4724400"/>
              <a:ext cx="914400" cy="68580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1" name="Picture 24" descr="bs02064_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7391400" y="5257800"/>
              <a:ext cx="1492250" cy="1485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4" name="Rectangle 13"/>
          <p:cNvSpPr/>
          <p:nvPr/>
        </p:nvSpPr>
        <p:spPr>
          <a:xfrm>
            <a:off x="571504" y="1428736"/>
            <a:ext cx="800102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 smtClean="0">
                <a:solidFill>
                  <a:srgbClr val="FFC000"/>
                </a:solidFill>
                <a:latin typeface="+mn-lt"/>
                <a:sym typeface="Wingdings" pitchFamily="2" charset="2"/>
              </a:rPr>
              <a:t>Process</a:t>
            </a:r>
            <a:r>
              <a:rPr lang="en-US" sz="2400" b="0" dirty="0" smtClean="0">
                <a:solidFill>
                  <a:srgbClr val="00B050"/>
                </a:solidFill>
                <a:latin typeface="+mn-lt"/>
                <a:sym typeface="Wingdings" pitchFamily="2" charset="2"/>
              </a:rPr>
              <a:t> of working with knowledge, facts and problem solving strategies to draw conclusions</a:t>
            </a:r>
            <a:endParaRPr lang="en-US" sz="2400" b="0" dirty="0">
              <a:solidFill>
                <a:srgbClr val="00B050"/>
              </a:solidFill>
              <a:latin typeface="+mn-lt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260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Definition</a:t>
            </a:r>
            <a:endParaRPr lang="en-US" dirty="0"/>
          </a:p>
        </p:txBody>
      </p:sp>
      <p:grpSp>
        <p:nvGrpSpPr>
          <p:cNvPr id="2" name="Group 14"/>
          <p:cNvGrpSpPr/>
          <p:nvPr/>
        </p:nvGrpSpPr>
        <p:grpSpPr>
          <a:xfrm>
            <a:off x="1428728" y="3101978"/>
            <a:ext cx="6707208" cy="3184542"/>
            <a:chOff x="914400" y="2673350"/>
            <a:chExt cx="7435850" cy="3687763"/>
          </a:xfrm>
        </p:grpSpPr>
        <p:grpSp>
          <p:nvGrpSpPr>
            <p:cNvPr id="3" name="Group 10"/>
            <p:cNvGrpSpPr/>
            <p:nvPr/>
          </p:nvGrpSpPr>
          <p:grpSpPr>
            <a:xfrm>
              <a:off x="5486400" y="4343400"/>
              <a:ext cx="2863850" cy="2017713"/>
              <a:chOff x="5486400" y="4343400"/>
              <a:chExt cx="2863850" cy="2017713"/>
            </a:xfrm>
          </p:grpSpPr>
          <p:sp>
            <p:nvSpPr>
              <p:cNvPr id="18" name="Line 14"/>
              <p:cNvSpPr>
                <a:spLocks noChangeShapeType="1"/>
              </p:cNvSpPr>
              <p:nvPr/>
            </p:nvSpPr>
            <p:spPr bwMode="auto">
              <a:xfrm>
                <a:off x="5486400" y="4343400"/>
                <a:ext cx="1295400" cy="45720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9" name="Picture 18" descr="bs02064_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6629400" y="4648200"/>
                <a:ext cx="1720850" cy="17129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pic>
          <p:nvPicPr>
            <p:cNvPr id="17" name="Picture 19" descr="pe01561_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914400" y="2673350"/>
              <a:ext cx="4583113" cy="3041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485804" y="135729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631825" marR="0" lvl="0" indent="-631825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r>
              <a:rPr kumimoji="0" lang="en-US" sz="2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Inference is</a:t>
            </a:r>
          </a:p>
          <a:p>
            <a:pPr marL="1030288" marR="0" lvl="1" indent="-347663" algn="l" defTabSz="914400" rtl="0" eaLnBrk="1" fontAlgn="auto" latinLnBrk="0" hangingPunct="1">
              <a:lnSpc>
                <a:spcPct val="100000"/>
              </a:lnSpc>
              <a:spcBef>
                <a:spcPts val="324"/>
              </a:spcBef>
              <a:spcAft>
                <a:spcPts val="0"/>
              </a:spcAft>
              <a:buClr>
                <a:schemeClr val="accent1"/>
              </a:buClr>
              <a:buSzTx/>
              <a:buFont typeface="Verdana"/>
              <a:buChar char="◦"/>
              <a:tabLst/>
              <a:defRPr/>
            </a:pPr>
            <a:r>
              <a:rPr kumimoji="0" lang="en-US" sz="2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reasoning</a:t>
            </a:r>
            <a:r>
              <a:rPr kumimoji="0" lang="en-US" sz="23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mechanism that is used to relate between facts and rules to derive a new conclusion or fact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6447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B0F0"/>
                </a:solidFill>
              </a:rPr>
              <a:t>5 types of reasoning:</a:t>
            </a:r>
            <a:endParaRPr lang="en-US" dirty="0">
              <a:solidFill>
                <a:srgbClr val="00B0F0"/>
              </a:solidFill>
            </a:endParaRPr>
          </a:p>
          <a:p>
            <a:pPr lvl="1"/>
            <a:r>
              <a:rPr lang="en-US" dirty="0"/>
              <a:t>Deductive</a:t>
            </a:r>
          </a:p>
          <a:p>
            <a:pPr lvl="1"/>
            <a:r>
              <a:rPr lang="en-US" dirty="0"/>
              <a:t>Inductive</a:t>
            </a:r>
          </a:p>
          <a:p>
            <a:pPr lvl="1"/>
            <a:r>
              <a:rPr lang="en-US" dirty="0" err="1"/>
              <a:t>Abductive</a:t>
            </a:r>
            <a:endParaRPr lang="en-US" dirty="0"/>
          </a:p>
          <a:p>
            <a:pPr lvl="1"/>
            <a:r>
              <a:rPr lang="en-US" dirty="0"/>
              <a:t>Analogical</a:t>
            </a:r>
          </a:p>
          <a:p>
            <a:pPr lvl="1"/>
            <a:r>
              <a:rPr lang="en-US" dirty="0" smtClean="0"/>
              <a:t>Commonsense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Reasoning Types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642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58" y="1285860"/>
            <a:ext cx="8229600" cy="5143536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B0F0"/>
                </a:solidFill>
              </a:rPr>
              <a:t>Deductive reasoning</a:t>
            </a:r>
          </a:p>
          <a:p>
            <a:pPr lvl="1"/>
            <a:r>
              <a:rPr lang="en-US" dirty="0"/>
              <a:t>A process in which general premises are used to obtain specific inference.</a:t>
            </a:r>
          </a:p>
          <a:p>
            <a:pPr lvl="1"/>
            <a:r>
              <a:rPr lang="en-US" sz="2400" dirty="0" smtClean="0"/>
              <a:t>E.g. 1:</a:t>
            </a:r>
            <a:endParaRPr lang="en-US" sz="2400" dirty="0"/>
          </a:p>
          <a:p>
            <a:pPr lvl="1">
              <a:buFont typeface="Wingdings" pitchFamily="2" charset="2"/>
              <a:buNone/>
            </a:pPr>
            <a:r>
              <a:rPr lang="en-US" sz="2000" dirty="0"/>
              <a:t>	</a:t>
            </a:r>
            <a:r>
              <a:rPr lang="en-US" sz="2400" dirty="0"/>
              <a:t>	</a:t>
            </a:r>
            <a:r>
              <a:rPr lang="en-US" sz="2400" dirty="0" smtClean="0"/>
              <a:t>P1: </a:t>
            </a:r>
            <a:r>
              <a:rPr lang="en-US" sz="2400" dirty="0" err="1" smtClean="0"/>
              <a:t>rainy_day</a:t>
            </a:r>
            <a:r>
              <a:rPr lang="en-US" sz="2400" dirty="0" smtClean="0"/>
              <a:t> </a:t>
            </a:r>
            <a:r>
              <a:rPr lang="en-US" sz="2400" dirty="0" smtClean="0">
                <a:sym typeface="Symbol"/>
              </a:rPr>
              <a:t> </a:t>
            </a:r>
            <a:r>
              <a:rPr lang="en-US" sz="2400" dirty="0" err="1" smtClean="0">
                <a:sym typeface="Symbol"/>
              </a:rPr>
              <a:t>wet_grass</a:t>
            </a:r>
            <a:endParaRPr lang="en-US" sz="2400" dirty="0"/>
          </a:p>
          <a:p>
            <a:pPr lvl="1">
              <a:buFont typeface="Wingdings" pitchFamily="2" charset="2"/>
              <a:buNone/>
            </a:pPr>
            <a:r>
              <a:rPr lang="en-US" sz="2400" dirty="0"/>
              <a:t>		</a:t>
            </a:r>
            <a:r>
              <a:rPr lang="en-US" sz="2400" dirty="0" smtClean="0"/>
              <a:t>P2: </a:t>
            </a:r>
            <a:r>
              <a:rPr lang="en-US" sz="2400" u="sng" dirty="0" err="1" smtClean="0"/>
              <a:t>wet_grass</a:t>
            </a:r>
            <a:endParaRPr lang="en-US" sz="2400" u="sng" dirty="0"/>
          </a:p>
          <a:p>
            <a:pPr lvl="1">
              <a:buFont typeface="Wingdings" pitchFamily="2" charset="2"/>
              <a:buNone/>
            </a:pPr>
            <a:r>
              <a:rPr lang="en-US" sz="2400" dirty="0"/>
              <a:t>		</a:t>
            </a:r>
            <a:r>
              <a:rPr lang="en-US" sz="2400" dirty="0" smtClean="0"/>
              <a:t>      </a:t>
            </a:r>
            <a:r>
              <a:rPr lang="en-US" sz="2400" dirty="0" err="1" smtClean="0">
                <a:solidFill>
                  <a:srgbClr val="FFC000"/>
                </a:solidFill>
              </a:rPr>
              <a:t>rainy_day</a:t>
            </a:r>
            <a:endParaRPr lang="en-US" sz="2400" dirty="0" smtClean="0">
              <a:solidFill>
                <a:srgbClr val="FFC000"/>
              </a:solidFill>
            </a:endParaRPr>
          </a:p>
          <a:p>
            <a:pPr lvl="1">
              <a:buFont typeface="Wingdings" pitchFamily="2" charset="2"/>
              <a:buNone/>
            </a:pPr>
            <a:endParaRPr lang="en-US" sz="2400" dirty="0" smtClean="0"/>
          </a:p>
          <a:p>
            <a:pPr lvl="1"/>
            <a:r>
              <a:rPr lang="en-US" sz="2400" dirty="0" smtClean="0"/>
              <a:t>E.g. 2:</a:t>
            </a:r>
          </a:p>
          <a:p>
            <a:pPr lvl="1">
              <a:buNone/>
            </a:pPr>
            <a:r>
              <a:rPr lang="en-US" sz="1800" dirty="0" smtClean="0"/>
              <a:t>		</a:t>
            </a:r>
            <a:r>
              <a:rPr lang="en-US" sz="2400" dirty="0" smtClean="0"/>
              <a:t>P1: mother(X)  </a:t>
            </a:r>
            <a:r>
              <a:rPr lang="en-US" sz="2400" dirty="0" smtClean="0">
                <a:sym typeface="Symbol"/>
              </a:rPr>
              <a:t>  female(X)</a:t>
            </a:r>
            <a:endParaRPr lang="en-US" sz="2400" dirty="0" smtClean="0"/>
          </a:p>
          <a:p>
            <a:pPr lvl="1">
              <a:buNone/>
            </a:pPr>
            <a:r>
              <a:rPr lang="en-US" sz="2400" dirty="0" smtClean="0"/>
              <a:t>		P2: </a:t>
            </a:r>
            <a:r>
              <a:rPr lang="en-US" sz="2400" u="sng" dirty="0" smtClean="0"/>
              <a:t>mother(lily) 	</a:t>
            </a:r>
          </a:p>
          <a:p>
            <a:pPr lvl="1">
              <a:buNone/>
            </a:pPr>
            <a:r>
              <a:rPr lang="en-US" sz="2400" dirty="0" smtClean="0"/>
              <a:t>	         </a:t>
            </a:r>
            <a:r>
              <a:rPr lang="en-US" sz="2400" dirty="0" smtClean="0">
                <a:solidFill>
                  <a:srgbClr val="FFC000"/>
                </a:solidFill>
              </a:rPr>
              <a:t>female(lily)</a:t>
            </a:r>
          </a:p>
          <a:p>
            <a:pPr lvl="1">
              <a:buFont typeface="Wingdings" pitchFamily="2" charset="2"/>
              <a:buNone/>
            </a:pPr>
            <a:endParaRPr lang="en-US" sz="2000" dirty="0"/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/>
          <a:p>
            <a:r>
              <a:rPr lang="en-US" dirty="0" smtClean="0"/>
              <a:t>Reasoning Types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976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00B0F0"/>
                </a:solidFill>
              </a:rPr>
              <a:t>Inductive Reasoning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Human </a:t>
            </a:r>
            <a:r>
              <a:rPr lang="en-US" dirty="0" smtClean="0"/>
              <a:t>sometimes make new </a:t>
            </a:r>
            <a:r>
              <a:rPr lang="en-US" dirty="0"/>
              <a:t>conclusion </a:t>
            </a:r>
            <a:r>
              <a:rPr lang="en-US" dirty="0" smtClean="0"/>
              <a:t>by </a:t>
            </a:r>
            <a:r>
              <a:rPr lang="en-US" dirty="0" smtClean="0">
                <a:solidFill>
                  <a:srgbClr val="00B0F0"/>
                </a:solidFill>
              </a:rPr>
              <a:t>generalizing</a:t>
            </a:r>
            <a:r>
              <a:rPr lang="en-US" dirty="0" smtClean="0"/>
              <a:t> from </a:t>
            </a:r>
            <a:r>
              <a:rPr lang="en-US" dirty="0"/>
              <a:t>a limited set of </a:t>
            </a:r>
            <a:r>
              <a:rPr lang="en-US" dirty="0" smtClean="0"/>
              <a:t>facts.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 err="1"/>
              <a:t>E.g</a:t>
            </a:r>
            <a:r>
              <a:rPr lang="en-US" dirty="0"/>
              <a:t>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/>
              <a:t>		</a:t>
            </a:r>
            <a:r>
              <a:rPr lang="en-US" sz="2400" dirty="0">
                <a:solidFill>
                  <a:srgbClr val="FFC000"/>
                </a:solidFill>
              </a:rPr>
              <a:t>P1</a:t>
            </a:r>
            <a:r>
              <a:rPr lang="en-US" sz="2400" dirty="0"/>
              <a:t>:  Monkeys in the National Zoo eats bananas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		</a:t>
            </a:r>
            <a:r>
              <a:rPr lang="en-US" sz="2400" u="sng" dirty="0">
                <a:solidFill>
                  <a:srgbClr val="00B050"/>
                </a:solidFill>
              </a:rPr>
              <a:t>P2</a:t>
            </a:r>
            <a:r>
              <a:rPr lang="en-US" sz="2400" u="sng" dirty="0"/>
              <a:t>:  Monkeys in </a:t>
            </a:r>
            <a:r>
              <a:rPr lang="en-US" sz="2400" u="sng" dirty="0" err="1"/>
              <a:t>Taiping</a:t>
            </a:r>
            <a:r>
              <a:rPr lang="en-US" sz="2400" u="sng" dirty="0"/>
              <a:t> Zoo eats bananas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>
                <a:solidFill>
                  <a:srgbClr val="FF0000"/>
                </a:solidFill>
              </a:rPr>
              <a:t>		</a:t>
            </a:r>
            <a:r>
              <a:rPr lang="en-US" sz="2400" dirty="0" smtClean="0">
                <a:solidFill>
                  <a:srgbClr val="FF0000"/>
                </a:solidFill>
              </a:rPr>
              <a:t>All </a:t>
            </a:r>
            <a:r>
              <a:rPr lang="en-US" sz="2400" dirty="0">
                <a:solidFill>
                  <a:srgbClr val="FF0000"/>
                </a:solidFill>
              </a:rPr>
              <a:t>monkeys eat bananas</a:t>
            </a:r>
          </a:p>
          <a:p>
            <a:pPr>
              <a:lnSpc>
                <a:spcPct val="90000"/>
              </a:lnSpc>
            </a:pPr>
            <a:endParaRPr lang="en-US" sz="2000" dirty="0"/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/>
          <a:p>
            <a:r>
              <a:rPr lang="en-US" dirty="0" smtClean="0"/>
              <a:t>Reasoning Types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011542" y="4558737"/>
            <a:ext cx="35605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+mn-lt"/>
              </a:rPr>
              <a:t>Generalized to all monkeys</a:t>
            </a:r>
            <a:endParaRPr lang="en-US" sz="2000" b="0" dirty="0">
              <a:latin typeface="+mn-lt"/>
            </a:endParaRPr>
          </a:p>
        </p:txBody>
      </p:sp>
      <p:cxnSp>
        <p:nvCxnSpPr>
          <p:cNvPr id="6" name="Straight Arrow Connector 5"/>
          <p:cNvCxnSpPr>
            <a:stCxn id="4" idx="0"/>
          </p:cNvCxnSpPr>
          <p:nvPr/>
        </p:nvCxnSpPr>
        <p:spPr>
          <a:xfrm flipV="1">
            <a:off x="3791837" y="4005064"/>
            <a:ext cx="204099" cy="55367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7744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58" y="1285860"/>
            <a:ext cx="8229600" cy="4625975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00B0F0"/>
                </a:solidFill>
              </a:rPr>
              <a:t>Abductive</a:t>
            </a:r>
            <a:r>
              <a:rPr lang="en-US" dirty="0">
                <a:solidFill>
                  <a:srgbClr val="00B0F0"/>
                </a:solidFill>
              </a:rPr>
              <a:t> reasoning</a:t>
            </a:r>
          </a:p>
          <a:p>
            <a:pPr lvl="1"/>
            <a:r>
              <a:rPr lang="en-US" sz="2400" dirty="0"/>
              <a:t>A form of deduction that allows for </a:t>
            </a:r>
            <a:r>
              <a:rPr lang="en-US" sz="2400" dirty="0">
                <a:solidFill>
                  <a:srgbClr val="00B0F0"/>
                </a:solidFill>
              </a:rPr>
              <a:t>plausible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B0F0"/>
                </a:solidFill>
              </a:rPr>
              <a:t>inference</a:t>
            </a:r>
            <a:r>
              <a:rPr lang="en-US" sz="2400" dirty="0"/>
              <a:t>, meaning that, the conclusion might follow from available information, but it might be wrong.</a:t>
            </a:r>
          </a:p>
          <a:p>
            <a:pPr lvl="1"/>
            <a:r>
              <a:rPr lang="en-US" sz="2400" dirty="0" smtClean="0"/>
              <a:t>If A </a:t>
            </a:r>
            <a:r>
              <a:rPr lang="en-US" sz="2400" dirty="0" smtClean="0">
                <a:sym typeface="Wingdings" pitchFamily="2" charset="2"/>
              </a:rPr>
              <a:t></a:t>
            </a:r>
            <a:r>
              <a:rPr lang="en-US" sz="2400" dirty="0" smtClean="0"/>
              <a:t> B is true, given </a:t>
            </a:r>
            <a:r>
              <a:rPr lang="en-US" sz="2400" dirty="0"/>
              <a:t>B is true, </a:t>
            </a:r>
            <a:r>
              <a:rPr lang="en-US" sz="2400" dirty="0" smtClean="0"/>
              <a:t>then </a:t>
            </a:r>
            <a:r>
              <a:rPr lang="en-US" sz="2400" dirty="0"/>
              <a:t>the conclusion A is true might be deduced, but it can be false.</a:t>
            </a:r>
          </a:p>
          <a:p>
            <a:pPr lvl="1"/>
            <a:r>
              <a:rPr lang="en-US" sz="2400" dirty="0" smtClean="0"/>
              <a:t>E.g.:</a:t>
            </a:r>
            <a:endParaRPr lang="en-US" sz="2400" dirty="0"/>
          </a:p>
          <a:p>
            <a:pPr lvl="1">
              <a:buFont typeface="Wingdings" pitchFamily="2" charset="2"/>
              <a:buNone/>
            </a:pPr>
            <a:r>
              <a:rPr lang="en-US" sz="2000" dirty="0"/>
              <a:t>		</a:t>
            </a:r>
            <a:r>
              <a:rPr lang="en-US" sz="2400" dirty="0">
                <a:solidFill>
                  <a:srgbClr val="FFC000"/>
                </a:solidFill>
              </a:rPr>
              <a:t>P1</a:t>
            </a:r>
            <a:r>
              <a:rPr lang="en-US" sz="2400" dirty="0"/>
              <a:t>:  </a:t>
            </a:r>
            <a:r>
              <a:rPr lang="en-US" sz="2400" dirty="0" err="1" smtClean="0"/>
              <a:t>rainy_day</a:t>
            </a:r>
            <a:r>
              <a:rPr lang="en-US" sz="2400" dirty="0" smtClean="0"/>
              <a:t> </a:t>
            </a:r>
            <a:r>
              <a:rPr lang="en-US" sz="2400" dirty="0" smtClean="0">
                <a:sym typeface="Symbol"/>
              </a:rPr>
              <a:t> </a:t>
            </a:r>
            <a:r>
              <a:rPr lang="en-US" sz="2400" dirty="0" err="1" smtClean="0">
                <a:sym typeface="Symbol"/>
              </a:rPr>
              <a:t>wet_grass</a:t>
            </a:r>
            <a:endParaRPr lang="en-US" sz="2400" dirty="0"/>
          </a:p>
          <a:p>
            <a:pPr lvl="1">
              <a:buFont typeface="Wingdings" pitchFamily="2" charset="2"/>
              <a:buNone/>
            </a:pPr>
            <a:r>
              <a:rPr lang="en-US" sz="2400" dirty="0"/>
              <a:t>		</a:t>
            </a:r>
            <a:r>
              <a:rPr lang="en-US" sz="2400" u="sng" dirty="0">
                <a:solidFill>
                  <a:srgbClr val="00B050"/>
                </a:solidFill>
              </a:rPr>
              <a:t>P2</a:t>
            </a:r>
            <a:r>
              <a:rPr lang="en-US" sz="2400" u="sng" dirty="0"/>
              <a:t>:  </a:t>
            </a:r>
            <a:r>
              <a:rPr lang="en-US" sz="2400" u="sng" dirty="0" err="1" smtClean="0"/>
              <a:t>wet_grass</a:t>
            </a:r>
            <a:r>
              <a:rPr lang="en-US" sz="2400" u="sng" dirty="0" smtClean="0"/>
              <a:t>			</a:t>
            </a:r>
            <a:endParaRPr lang="en-US" sz="2400" u="sng" dirty="0"/>
          </a:p>
          <a:p>
            <a:pPr lvl="2">
              <a:buFont typeface="Wingdings" pitchFamily="2" charset="2"/>
              <a:buNone/>
            </a:pPr>
            <a:r>
              <a:rPr lang="en-US" sz="2200" dirty="0"/>
              <a:t>		</a:t>
            </a:r>
            <a:r>
              <a:rPr lang="en-US" sz="2200" dirty="0" err="1" smtClean="0"/>
              <a:t>rainy_day</a:t>
            </a:r>
            <a:r>
              <a:rPr lang="en-US" sz="2200" dirty="0" smtClean="0"/>
              <a:t>? … </a:t>
            </a:r>
            <a:r>
              <a:rPr lang="en-US" sz="1600" dirty="0" smtClean="0">
                <a:solidFill>
                  <a:srgbClr val="FF0000"/>
                </a:solidFill>
              </a:rPr>
              <a:t>or maybe someone watered the grass last night.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/>
          <a:p>
            <a:r>
              <a:rPr lang="en-US" dirty="0" smtClean="0"/>
              <a:t>Reasoning Types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30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58" y="1142984"/>
            <a:ext cx="8229600" cy="4929222"/>
          </a:xfrm>
        </p:spPr>
        <p:txBody>
          <a:bodyPr>
            <a:normAutofit fontScale="92500"/>
          </a:bodyPr>
          <a:lstStyle/>
          <a:p>
            <a:r>
              <a:rPr lang="en-US" dirty="0">
                <a:solidFill>
                  <a:srgbClr val="00B0F0"/>
                </a:solidFill>
              </a:rPr>
              <a:t>Analogical Reasoning</a:t>
            </a:r>
          </a:p>
          <a:p>
            <a:pPr lvl="1"/>
            <a:r>
              <a:rPr lang="en-US" dirty="0">
                <a:solidFill>
                  <a:srgbClr val="00B0F0"/>
                </a:solidFill>
              </a:rPr>
              <a:t>Mapping</a:t>
            </a:r>
            <a:r>
              <a:rPr lang="en-US" dirty="0"/>
              <a:t> of a mental model (developed from experience) to situation or objects.</a:t>
            </a:r>
          </a:p>
          <a:p>
            <a:pPr lvl="1"/>
            <a:r>
              <a:rPr lang="en-US" dirty="0" smtClean="0"/>
              <a:t>E.g.:</a:t>
            </a:r>
            <a:endParaRPr lang="en-US" dirty="0"/>
          </a:p>
          <a:p>
            <a:pPr lvl="1">
              <a:buFont typeface="Wingdings" pitchFamily="2" charset="2"/>
              <a:buNone/>
            </a:pPr>
            <a:r>
              <a:rPr lang="en-US" sz="2400" dirty="0">
                <a:solidFill>
                  <a:srgbClr val="00B050"/>
                </a:solidFill>
              </a:rPr>
              <a:t>	</a:t>
            </a:r>
            <a:r>
              <a:rPr lang="en-US" sz="2400" dirty="0" smtClean="0">
                <a:solidFill>
                  <a:srgbClr val="00B050"/>
                </a:solidFill>
              </a:rPr>
              <a:t>Q</a:t>
            </a:r>
            <a:r>
              <a:rPr lang="en-US" sz="2400" dirty="0">
                <a:solidFill>
                  <a:srgbClr val="00B050"/>
                </a:solidFill>
              </a:rPr>
              <a:t>: “What are the working hours of engineers in the company”</a:t>
            </a:r>
          </a:p>
          <a:p>
            <a:pPr lvl="2"/>
            <a:r>
              <a:rPr lang="en-US" sz="2400" dirty="0">
                <a:solidFill>
                  <a:srgbClr val="FF0000"/>
                </a:solidFill>
              </a:rPr>
              <a:t>Mental </a:t>
            </a:r>
            <a:r>
              <a:rPr lang="en-US" sz="2400" dirty="0" smtClean="0">
                <a:solidFill>
                  <a:srgbClr val="FF0000"/>
                </a:solidFill>
              </a:rPr>
              <a:t>model (of white-collar employees) 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smtClean="0"/>
              <a:t>‘white collar employees work from 8am to 5pm’</a:t>
            </a:r>
            <a:endParaRPr lang="en-US" dirty="0" smtClean="0">
              <a:solidFill>
                <a:srgbClr val="FF0000"/>
              </a:solidFill>
            </a:endParaRPr>
          </a:p>
          <a:p>
            <a:pPr lvl="5">
              <a:buNone/>
            </a:pPr>
            <a:endParaRPr lang="en-US" sz="2000" dirty="0" smtClean="0"/>
          </a:p>
          <a:p>
            <a:pPr lvl="5">
              <a:buNone/>
            </a:pPr>
            <a:endParaRPr lang="en-US" sz="2000" dirty="0" smtClean="0"/>
          </a:p>
          <a:p>
            <a:pPr lvl="5">
              <a:buNone/>
            </a:pPr>
            <a:r>
              <a:rPr lang="en-US" sz="2000" dirty="0" smtClean="0"/>
              <a:t>  Engineers </a:t>
            </a:r>
            <a:r>
              <a:rPr lang="en-US" sz="2000" dirty="0"/>
              <a:t>are white-collar </a:t>
            </a:r>
            <a:r>
              <a:rPr lang="en-US" sz="2000" dirty="0" smtClean="0"/>
              <a:t>employees</a:t>
            </a:r>
          </a:p>
          <a:p>
            <a:pPr lvl="5">
              <a:buNone/>
            </a:pPr>
            <a:endParaRPr lang="en-US" sz="2000" dirty="0" smtClean="0"/>
          </a:p>
          <a:p>
            <a:pPr lvl="6">
              <a:buFont typeface="Symbol"/>
              <a:buChar char="\"/>
            </a:pPr>
            <a:r>
              <a:rPr lang="en-US" sz="2000" dirty="0" smtClean="0">
                <a:sym typeface="Symbol"/>
              </a:rPr>
              <a:t>E</a:t>
            </a:r>
            <a:r>
              <a:rPr lang="en-US" sz="2000" dirty="0" smtClean="0"/>
              <a:t>ngineers work from 8am to 5pm.</a:t>
            </a:r>
          </a:p>
          <a:p>
            <a:pPr lvl="5">
              <a:buNone/>
            </a:pPr>
            <a:endParaRPr lang="en-US" sz="2000" dirty="0"/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/>
          <a:p>
            <a:r>
              <a:rPr lang="en-US" dirty="0" smtClean="0"/>
              <a:t>Reasoning Types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0" y="4282867"/>
            <a:ext cx="30718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 smtClean="0">
                <a:solidFill>
                  <a:srgbClr val="00B0F0"/>
                </a:solidFill>
                <a:latin typeface="+mn-lt"/>
              </a:rPr>
              <a:t>Mapping the white collar employees </a:t>
            </a:r>
            <a:r>
              <a:rPr lang="en-US" sz="1600" b="0" dirty="0" smtClean="0">
                <a:solidFill>
                  <a:srgbClr val="00B0F0"/>
                </a:solidFill>
                <a:latin typeface="+mn-lt"/>
                <a:sym typeface="Symbol"/>
              </a:rPr>
              <a:t></a:t>
            </a:r>
            <a:r>
              <a:rPr lang="en-US" sz="1600" b="0" dirty="0" smtClean="0">
                <a:solidFill>
                  <a:srgbClr val="00B0F0"/>
                </a:solidFill>
                <a:latin typeface="+mn-lt"/>
              </a:rPr>
              <a:t> engineers</a:t>
            </a:r>
            <a:endParaRPr lang="en-US" sz="1600" b="0" dirty="0">
              <a:solidFill>
                <a:srgbClr val="00B0F0"/>
              </a:solidFill>
              <a:latin typeface="+mn-lt"/>
            </a:endParaRPr>
          </a:p>
        </p:txBody>
      </p:sp>
      <p:sp>
        <p:nvSpPr>
          <p:cNvPr id="7" name="Down Arrow 6"/>
          <p:cNvSpPr/>
          <p:nvPr/>
        </p:nvSpPr>
        <p:spPr>
          <a:xfrm>
            <a:off x="4071934" y="4286256"/>
            <a:ext cx="484632" cy="64294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839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58" y="1285860"/>
            <a:ext cx="8229600" cy="4625975"/>
          </a:xfrm>
        </p:spPr>
        <p:txBody>
          <a:bodyPr/>
          <a:lstStyle/>
          <a:p>
            <a:r>
              <a:rPr lang="en-US" dirty="0" smtClean="0">
                <a:solidFill>
                  <a:srgbClr val="00B0F0"/>
                </a:solidFill>
              </a:rPr>
              <a:t>Commonsense </a:t>
            </a:r>
            <a:r>
              <a:rPr lang="en-US" dirty="0">
                <a:solidFill>
                  <a:srgbClr val="00B0F0"/>
                </a:solidFill>
              </a:rPr>
              <a:t>Reasoning</a:t>
            </a:r>
          </a:p>
          <a:p>
            <a:pPr lvl="1"/>
            <a:r>
              <a:rPr lang="en-US" dirty="0"/>
              <a:t>Based on </a:t>
            </a:r>
            <a:r>
              <a:rPr lang="en-US" dirty="0">
                <a:solidFill>
                  <a:srgbClr val="92D050"/>
                </a:solidFill>
              </a:rPr>
              <a:t>heuristic</a:t>
            </a:r>
            <a:r>
              <a:rPr lang="en-US" dirty="0"/>
              <a:t> </a:t>
            </a:r>
            <a:r>
              <a:rPr lang="en-US" dirty="0" smtClean="0"/>
              <a:t>(knowledge that is gained </a:t>
            </a:r>
            <a:r>
              <a:rPr lang="en-US" dirty="0"/>
              <a:t>through </a:t>
            </a:r>
            <a:r>
              <a:rPr lang="en-US" dirty="0" smtClean="0"/>
              <a:t>experience).</a:t>
            </a:r>
            <a:endParaRPr lang="en-US" dirty="0"/>
          </a:p>
          <a:p>
            <a:pPr lvl="1"/>
            <a:r>
              <a:rPr lang="en-US" dirty="0"/>
              <a:t>Relies more on </a:t>
            </a:r>
            <a:r>
              <a:rPr lang="en-US" dirty="0">
                <a:solidFill>
                  <a:srgbClr val="FFC000"/>
                </a:solidFill>
              </a:rPr>
              <a:t>good judgment</a:t>
            </a:r>
            <a:r>
              <a:rPr lang="en-US" dirty="0"/>
              <a:t> than on exact logic. </a:t>
            </a:r>
            <a:endParaRPr lang="en-US" dirty="0" smtClean="0"/>
          </a:p>
          <a:p>
            <a:pPr lvl="1"/>
            <a:r>
              <a:rPr lang="en-US" dirty="0" smtClean="0"/>
              <a:t>E.g.:</a:t>
            </a:r>
            <a:endParaRPr lang="en-US" dirty="0"/>
          </a:p>
          <a:p>
            <a:pPr lvl="2"/>
            <a:r>
              <a:rPr lang="en-US" dirty="0" smtClean="0"/>
              <a:t>“A </a:t>
            </a:r>
            <a:r>
              <a:rPr lang="en-US" dirty="0"/>
              <a:t>loose fan usually causes strange </a:t>
            </a:r>
            <a:r>
              <a:rPr lang="en-US" dirty="0" smtClean="0"/>
              <a:t>noises”.</a:t>
            </a:r>
          </a:p>
          <a:p>
            <a:pPr marL="3489325" lvl="8">
              <a:buNone/>
            </a:pPr>
            <a:r>
              <a:rPr lang="en-US" sz="2000" dirty="0" smtClean="0"/>
              <a:t>OR</a:t>
            </a:r>
          </a:p>
          <a:p>
            <a:pPr lvl="7">
              <a:buNone/>
            </a:pPr>
            <a:r>
              <a:rPr lang="en-US" sz="2000" dirty="0" err="1" smtClean="0"/>
              <a:t>strange_noise</a:t>
            </a:r>
            <a:r>
              <a:rPr lang="en-US" sz="2000" dirty="0" smtClean="0"/>
              <a:t> </a:t>
            </a:r>
            <a:r>
              <a:rPr lang="en-US" sz="2000" dirty="0" smtClean="0">
                <a:sym typeface="Symbol"/>
              </a:rPr>
              <a:t> </a:t>
            </a:r>
            <a:r>
              <a:rPr lang="en-US" sz="2000" dirty="0" err="1" smtClean="0">
                <a:sym typeface="Symbol"/>
              </a:rPr>
              <a:t>loose_fan</a:t>
            </a:r>
            <a:endParaRPr lang="en-US" sz="2000" dirty="0" smtClean="0">
              <a:sym typeface="Symbol"/>
            </a:endParaRPr>
          </a:p>
          <a:p>
            <a:pPr lvl="7">
              <a:buNone/>
            </a:pPr>
            <a:endParaRPr lang="en-US" sz="2000" dirty="0"/>
          </a:p>
          <a:p>
            <a:pPr lvl="1"/>
            <a:r>
              <a:rPr lang="en-US" dirty="0"/>
              <a:t>Valuable for quick solutions</a:t>
            </a:r>
            <a:r>
              <a:rPr lang="en-US" dirty="0" smtClean="0"/>
              <a:t>.</a:t>
            </a:r>
          </a:p>
          <a:p>
            <a:pPr lvl="1">
              <a:buNone/>
            </a:pPr>
            <a:endParaRPr lang="en-US" dirty="0"/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/>
          <a:p>
            <a:r>
              <a:rPr lang="en-US" dirty="0" smtClean="0"/>
              <a:t>Reasoning Types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113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714488"/>
            <a:ext cx="8104215" cy="5072098"/>
          </a:xfrm>
        </p:spPr>
        <p:txBody>
          <a:bodyPr/>
          <a:lstStyle/>
          <a:p>
            <a:pPr marL="609600" indent="-609600"/>
            <a:r>
              <a:rPr lang="en-GB" sz="2800" dirty="0" smtClean="0">
                <a:solidFill>
                  <a:srgbClr val="00B0F0"/>
                </a:solidFill>
              </a:rPr>
              <a:t>Concept 1 : </a:t>
            </a:r>
            <a:r>
              <a:rPr lang="en-GB" sz="2800" dirty="0" smtClean="0">
                <a:solidFill>
                  <a:srgbClr val="92D050"/>
                </a:solidFill>
              </a:rPr>
              <a:t>Pattern matching</a:t>
            </a:r>
          </a:p>
          <a:p>
            <a:pPr marL="901700" lvl="1" indent="-277813"/>
            <a:r>
              <a:rPr lang="en-GB" sz="2000" dirty="0" smtClean="0"/>
              <a:t>A </a:t>
            </a:r>
            <a:r>
              <a:rPr lang="en-GB" sz="2000" dirty="0" smtClean="0">
                <a:solidFill>
                  <a:srgbClr val="FFC000"/>
                </a:solidFill>
              </a:rPr>
              <a:t>process</a:t>
            </a:r>
            <a:r>
              <a:rPr lang="en-GB" sz="2000" dirty="0" smtClean="0"/>
              <a:t> of matching between symbols, and between predicates,  to determine whether they are identical and therefore, match to each other.</a:t>
            </a:r>
          </a:p>
          <a:p>
            <a:pPr marL="609600" indent="-609600"/>
            <a:r>
              <a:rPr lang="en-GB" sz="2800" dirty="0" smtClean="0">
                <a:solidFill>
                  <a:srgbClr val="00B0F0"/>
                </a:solidFill>
              </a:rPr>
              <a:t>Concept 2 : </a:t>
            </a:r>
            <a:r>
              <a:rPr lang="en-GB" sz="2800" dirty="0" smtClean="0">
                <a:solidFill>
                  <a:srgbClr val="92D050"/>
                </a:solidFill>
              </a:rPr>
              <a:t>Instantiation</a:t>
            </a:r>
          </a:p>
          <a:p>
            <a:pPr marL="901700" lvl="1" indent="-277813"/>
            <a:r>
              <a:rPr lang="en-GB" sz="2000" dirty="0" smtClean="0"/>
              <a:t>A </a:t>
            </a:r>
            <a:r>
              <a:rPr lang="en-GB" sz="2000" dirty="0" smtClean="0">
                <a:solidFill>
                  <a:srgbClr val="FFC000"/>
                </a:solidFill>
              </a:rPr>
              <a:t>process</a:t>
            </a:r>
            <a:r>
              <a:rPr lang="en-GB" sz="2000" dirty="0" smtClean="0"/>
              <a:t> of substituting or replacing a variable with another variable or a constant.</a:t>
            </a:r>
          </a:p>
          <a:p>
            <a:pPr marL="901700" lvl="1" indent="-277813"/>
            <a:r>
              <a:rPr lang="en-GB" sz="2000" dirty="0" smtClean="0"/>
              <a:t>Only applicable when dealing with FOPL statements.</a:t>
            </a:r>
          </a:p>
          <a:p>
            <a:pPr marL="609600" indent="-277813">
              <a:buNone/>
            </a:pPr>
            <a:endParaRPr lang="en-GB" dirty="0" smtClean="0"/>
          </a:p>
        </p:txBody>
      </p:sp>
      <p:sp>
        <p:nvSpPr>
          <p:cNvPr id="5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Important Concepts in Reasoning &amp; Inference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574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0" dur="20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35" presetClass="emph" presetSubtype="0" repeatCount="indefinite" nodeType="afterEffect">
                                  <p:stCondLst>
                                    <p:cond delay="1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iterate type="lt">
                                    <p:tmPct val="0"/>
                                  </p:iterate>
                                  <p:childTnLst>
                                    <p:anim calcmode="discrete" valueType="str">
                                      <p:cBhvr>
                                        <p:cTn id="13" dur="10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4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8" dur="2000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1" dur="2000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4" dur="2000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35" presetClass="emph" presetSubtype="0" repeatCount="indefinite" nodeType="afterEffect">
                                  <p:stCondLst>
                                    <p:cond delay="1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iterate type="lt">
                                    <p:tmPct val="0"/>
                                  </p:iterate>
                                  <p:childTnLst>
                                    <p:anim calcmode="discrete" valueType="str">
                                      <p:cBhvr>
                                        <p:cTn id="27" dur="1000" fill="hold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571612"/>
            <a:ext cx="8104215" cy="5072098"/>
          </a:xfrm>
        </p:spPr>
        <p:txBody>
          <a:bodyPr/>
          <a:lstStyle/>
          <a:p>
            <a:pPr marL="609600" indent="-609600"/>
            <a:r>
              <a:rPr lang="en-GB" sz="2800" dirty="0" smtClean="0">
                <a:solidFill>
                  <a:srgbClr val="00B0F0"/>
                </a:solidFill>
              </a:rPr>
              <a:t>Concept 3 : </a:t>
            </a:r>
            <a:r>
              <a:rPr lang="en-GB" sz="2800" dirty="0" smtClean="0">
                <a:solidFill>
                  <a:srgbClr val="92D050"/>
                </a:solidFill>
              </a:rPr>
              <a:t>Unification</a:t>
            </a:r>
          </a:p>
          <a:p>
            <a:pPr marL="901700" lvl="1" indent="-277813"/>
            <a:r>
              <a:rPr lang="en-GB" sz="2000" dirty="0" smtClean="0"/>
              <a:t>A </a:t>
            </a:r>
            <a:r>
              <a:rPr lang="en-GB" sz="2000" dirty="0" smtClean="0">
                <a:solidFill>
                  <a:srgbClr val="FFC000"/>
                </a:solidFill>
              </a:rPr>
              <a:t>process</a:t>
            </a:r>
            <a:r>
              <a:rPr lang="en-GB" sz="2000" dirty="0" smtClean="0"/>
              <a:t> of matching identical predicates and instantiating the variables (if any) with another variables or constants. </a:t>
            </a:r>
          </a:p>
          <a:p>
            <a:pPr marL="901700" lvl="1" indent="-277813"/>
            <a:r>
              <a:rPr lang="en-GB" sz="2000" dirty="0" smtClean="0"/>
              <a:t>Combine pattern matching with instantiation.</a:t>
            </a:r>
          </a:p>
          <a:p>
            <a:pPr marL="901700" lvl="1" indent="-277813"/>
            <a:r>
              <a:rPr lang="en-GB" sz="2000" dirty="0" smtClean="0"/>
              <a:t>Only applicable when dealing with FOPL statements.</a:t>
            </a:r>
          </a:p>
          <a:p>
            <a:pPr marL="609600" indent="-277813">
              <a:buNone/>
            </a:pPr>
            <a:endParaRPr lang="en-GB" dirty="0" smtClean="0"/>
          </a:p>
        </p:txBody>
      </p:sp>
      <p:sp>
        <p:nvSpPr>
          <p:cNvPr id="5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Important Concepts in Reasoning &amp; Inference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549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0" dur="20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3" dur="2000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6" dur="2000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35" presetClass="emph" presetSubtype="0" repeatCount="indefinite" fill="hold" nodeType="afterEffect">
                                  <p:stCondLst>
                                    <p:cond delay="1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9" dur="10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282" y="1500174"/>
            <a:ext cx="4714908" cy="5072098"/>
          </a:xfrm>
        </p:spPr>
        <p:txBody>
          <a:bodyPr>
            <a:normAutofit/>
          </a:bodyPr>
          <a:lstStyle/>
          <a:p>
            <a:pPr marL="406400" indent="-406400"/>
            <a:r>
              <a:rPr lang="en-GB" sz="2400" dirty="0" smtClean="0"/>
              <a:t>Two symbols/predicates  are matched if they are identical</a:t>
            </a:r>
          </a:p>
          <a:p>
            <a:pPr marL="406400" indent="-406400"/>
            <a:r>
              <a:rPr lang="en-GB" sz="2400" dirty="0" smtClean="0"/>
              <a:t>E.g.</a:t>
            </a:r>
          </a:p>
          <a:p>
            <a:pPr marL="698500" lvl="1" indent="-292100"/>
            <a:r>
              <a:rPr lang="en-GB" sz="2000" dirty="0" err="1" smtClean="0"/>
              <a:t>tweety</a:t>
            </a:r>
            <a:r>
              <a:rPr lang="en-GB" sz="2000" dirty="0" smtClean="0"/>
              <a:t> </a:t>
            </a:r>
            <a:r>
              <a:rPr lang="en-GB" sz="2000" dirty="0" smtClean="0">
                <a:sym typeface="Symbol"/>
              </a:rPr>
              <a:t> </a:t>
            </a:r>
            <a:r>
              <a:rPr lang="en-GB" sz="2000" dirty="0" err="1" smtClean="0">
                <a:sym typeface="Symbol"/>
              </a:rPr>
              <a:t>tweety</a:t>
            </a:r>
            <a:r>
              <a:rPr lang="en-GB" sz="2000" dirty="0" smtClean="0">
                <a:sym typeface="Symbol"/>
              </a:rPr>
              <a:t> ... match</a:t>
            </a:r>
          </a:p>
          <a:p>
            <a:pPr marL="698500" lvl="1" indent="-292100"/>
            <a:r>
              <a:rPr lang="en-GB" sz="2000" dirty="0" err="1" smtClean="0">
                <a:sym typeface="Symbol"/>
              </a:rPr>
              <a:t>twe</a:t>
            </a:r>
            <a:r>
              <a:rPr lang="en-GB" sz="2000" b="1" dirty="0" err="1" smtClean="0">
                <a:solidFill>
                  <a:srgbClr val="FF0000"/>
                </a:solidFill>
                <a:sym typeface="Symbol"/>
              </a:rPr>
              <a:t>e</a:t>
            </a:r>
            <a:r>
              <a:rPr lang="en-GB" sz="2000" dirty="0" err="1" smtClean="0">
                <a:sym typeface="Symbol"/>
              </a:rPr>
              <a:t>ty</a:t>
            </a:r>
            <a:r>
              <a:rPr lang="en-GB" sz="2000" dirty="0" smtClean="0">
                <a:sym typeface="Symbol"/>
              </a:rPr>
              <a:t>  </a:t>
            </a:r>
            <a:r>
              <a:rPr lang="en-GB" sz="2000" dirty="0" err="1" smtClean="0">
                <a:sym typeface="Symbol"/>
              </a:rPr>
              <a:t>twe</a:t>
            </a:r>
            <a:r>
              <a:rPr lang="en-GB" sz="2000" b="1" dirty="0" err="1" smtClean="0">
                <a:solidFill>
                  <a:srgbClr val="FF0000"/>
                </a:solidFill>
                <a:sym typeface="Symbol"/>
              </a:rPr>
              <a:t>a</a:t>
            </a:r>
            <a:r>
              <a:rPr lang="en-GB" sz="2000" dirty="0" err="1" smtClean="0">
                <a:sym typeface="Symbol"/>
              </a:rPr>
              <a:t>ty</a:t>
            </a:r>
            <a:r>
              <a:rPr lang="en-GB" sz="2000" dirty="0" smtClean="0">
                <a:sym typeface="Symbol"/>
              </a:rPr>
              <a:t> ... not match</a:t>
            </a:r>
          </a:p>
          <a:p>
            <a:pPr marL="698500" lvl="1" indent="-292100"/>
            <a:r>
              <a:rPr lang="en-GB" sz="2000" dirty="0" smtClean="0">
                <a:sym typeface="Symbol"/>
              </a:rPr>
              <a:t>fl</a:t>
            </a:r>
            <a:r>
              <a:rPr lang="en-GB" sz="2000" b="1" dirty="0" smtClean="0">
                <a:solidFill>
                  <a:srgbClr val="FF0000"/>
                </a:solidFill>
                <a:sym typeface="Symbol"/>
              </a:rPr>
              <a:t>y</a:t>
            </a:r>
            <a:r>
              <a:rPr lang="en-GB" sz="2000" dirty="0" smtClean="0">
                <a:sym typeface="Symbol"/>
              </a:rPr>
              <a:t>  fl</a:t>
            </a:r>
            <a:r>
              <a:rPr lang="en-GB" sz="2000" b="1" dirty="0" smtClean="0">
                <a:solidFill>
                  <a:srgbClr val="FF0000"/>
                </a:solidFill>
                <a:sym typeface="Symbol"/>
              </a:rPr>
              <a:t>ies </a:t>
            </a:r>
            <a:r>
              <a:rPr lang="en-GB" sz="2000" b="1" dirty="0" smtClean="0">
                <a:sym typeface="Symbol"/>
              </a:rPr>
              <a:t>... </a:t>
            </a:r>
            <a:r>
              <a:rPr lang="en-GB" sz="2000" dirty="0" smtClean="0">
                <a:sym typeface="Symbol"/>
              </a:rPr>
              <a:t>not match</a:t>
            </a:r>
            <a:endParaRPr lang="en-GB" sz="2000" b="1" dirty="0" smtClean="0">
              <a:solidFill>
                <a:srgbClr val="FF0000"/>
              </a:solidFill>
              <a:sym typeface="Symbol"/>
            </a:endParaRPr>
          </a:p>
          <a:p>
            <a:pPr marL="698500" lvl="1" indent="-292100"/>
            <a:r>
              <a:rPr lang="en-GB" sz="2000" dirty="0" smtClean="0">
                <a:sym typeface="Symbol"/>
              </a:rPr>
              <a:t>m</a:t>
            </a:r>
            <a:r>
              <a:rPr lang="en-GB" sz="2000" b="1" dirty="0" smtClean="0">
                <a:solidFill>
                  <a:srgbClr val="FF0000"/>
                </a:solidFill>
                <a:sym typeface="Symbol"/>
              </a:rPr>
              <a:t>a</a:t>
            </a:r>
            <a:r>
              <a:rPr lang="en-GB" sz="2000" dirty="0" smtClean="0">
                <a:sym typeface="Symbol"/>
              </a:rPr>
              <a:t>n  m</a:t>
            </a:r>
            <a:r>
              <a:rPr lang="en-GB" sz="2000" b="1" dirty="0" smtClean="0">
                <a:solidFill>
                  <a:srgbClr val="FF0000"/>
                </a:solidFill>
                <a:sym typeface="Symbol"/>
              </a:rPr>
              <a:t>e</a:t>
            </a:r>
            <a:r>
              <a:rPr lang="en-GB" sz="2000" dirty="0" smtClean="0">
                <a:sym typeface="Symbol"/>
              </a:rPr>
              <a:t>n ... not match</a:t>
            </a:r>
          </a:p>
          <a:p>
            <a:pPr marL="698500" lvl="1" indent="-292100"/>
            <a:r>
              <a:rPr lang="en-GB" sz="2000" dirty="0" smtClean="0">
                <a:sym typeface="Symbol"/>
              </a:rPr>
              <a:t>teach(X, math)  teach(she, math) ... match</a:t>
            </a:r>
          </a:p>
        </p:txBody>
      </p:sp>
      <p:sp>
        <p:nvSpPr>
          <p:cNvPr id="5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Concept 1: Pattern Matching</a:t>
            </a:r>
            <a:endParaRPr lang="en-US" dirty="0"/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8047084" y="3293992"/>
            <a:ext cx="811196" cy="1323592"/>
            <a:chOff x="4298" y="3168"/>
            <a:chExt cx="742" cy="758"/>
          </a:xfrm>
        </p:grpSpPr>
        <p:sp>
          <p:nvSpPr>
            <p:cNvPr id="20" name="AutoShape 11"/>
            <p:cNvSpPr>
              <a:spLocks noChangeArrowheads="1"/>
            </p:cNvSpPr>
            <p:nvPr/>
          </p:nvSpPr>
          <p:spPr bwMode="auto">
            <a:xfrm>
              <a:off x="4560" y="3168"/>
              <a:ext cx="480" cy="480"/>
            </a:xfrm>
            <a:prstGeom prst="smileyFace">
              <a:avLst>
                <a:gd name="adj" fmla="val 465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Rectangle 16"/>
            <p:cNvSpPr>
              <a:spLocks noChangeArrowheads="1"/>
            </p:cNvSpPr>
            <p:nvPr/>
          </p:nvSpPr>
          <p:spPr bwMode="auto">
            <a:xfrm>
              <a:off x="4298" y="3695"/>
              <a:ext cx="59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dirty="0">
                  <a:solidFill>
                    <a:srgbClr val="003399"/>
                  </a:solidFill>
                  <a:latin typeface="Arial Narrow" pitchFamily="34" charset="0"/>
                  <a:cs typeface="Times New Roman" pitchFamily="18" charset="0"/>
                </a:rPr>
                <a:t>Pattern 1</a:t>
              </a:r>
            </a:p>
          </p:txBody>
        </p:sp>
      </p:grpSp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6921032" y="2071678"/>
            <a:ext cx="1126054" cy="946421"/>
            <a:chOff x="3268" y="2468"/>
            <a:chExt cx="1030" cy="542"/>
          </a:xfrm>
        </p:grpSpPr>
        <p:sp>
          <p:nvSpPr>
            <p:cNvPr id="18" name="AutoShape 17"/>
            <p:cNvSpPr>
              <a:spLocks noChangeArrowheads="1"/>
            </p:cNvSpPr>
            <p:nvPr/>
          </p:nvSpPr>
          <p:spPr bwMode="auto">
            <a:xfrm>
              <a:off x="3268" y="2530"/>
              <a:ext cx="480" cy="480"/>
            </a:xfrm>
            <a:prstGeom prst="smileyFace">
              <a:avLst>
                <a:gd name="adj" fmla="val 4653"/>
              </a:avLst>
            </a:prstGeom>
            <a:solidFill>
              <a:srgbClr val="9966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Rectangle 19"/>
            <p:cNvSpPr>
              <a:spLocks noChangeArrowheads="1"/>
            </p:cNvSpPr>
            <p:nvPr/>
          </p:nvSpPr>
          <p:spPr bwMode="auto">
            <a:xfrm>
              <a:off x="3701" y="2468"/>
              <a:ext cx="59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dirty="0">
                  <a:solidFill>
                    <a:srgbClr val="003399"/>
                  </a:solidFill>
                  <a:latin typeface="Arial Narrow" pitchFamily="34" charset="0"/>
                  <a:cs typeface="Times New Roman" pitchFamily="18" charset="0"/>
                </a:rPr>
                <a:t>Pattern 2</a:t>
              </a:r>
            </a:p>
          </p:txBody>
        </p:sp>
      </p:grpSp>
      <p:sp>
        <p:nvSpPr>
          <p:cNvPr id="17" name="Line 22"/>
          <p:cNvSpPr>
            <a:spLocks noChangeShapeType="1"/>
          </p:cNvSpPr>
          <p:nvPr/>
        </p:nvSpPr>
        <p:spPr bwMode="auto">
          <a:xfrm>
            <a:off x="7493898" y="2455834"/>
            <a:ext cx="839621" cy="100579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4" name="Group 26"/>
          <p:cNvGrpSpPr>
            <a:grpSpLocks/>
          </p:cNvGrpSpPr>
          <p:nvPr/>
        </p:nvGrpSpPr>
        <p:grpSpPr bwMode="auto">
          <a:xfrm>
            <a:off x="6501220" y="4132151"/>
            <a:ext cx="1072484" cy="1171676"/>
            <a:chOff x="2884" y="3648"/>
            <a:chExt cx="981" cy="671"/>
          </a:xfrm>
        </p:grpSpPr>
        <p:sp>
          <p:nvSpPr>
            <p:cNvPr id="14" name="AutoShape 18"/>
            <p:cNvSpPr>
              <a:spLocks noChangeArrowheads="1"/>
            </p:cNvSpPr>
            <p:nvPr/>
          </p:nvSpPr>
          <p:spPr bwMode="auto">
            <a:xfrm>
              <a:off x="2884" y="3648"/>
              <a:ext cx="480" cy="480"/>
            </a:xfrm>
            <a:prstGeom prst="smileyFace">
              <a:avLst>
                <a:gd name="adj" fmla="val 465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Rectangle 20"/>
            <p:cNvSpPr>
              <a:spLocks noChangeArrowheads="1"/>
            </p:cNvSpPr>
            <p:nvPr/>
          </p:nvSpPr>
          <p:spPr bwMode="auto">
            <a:xfrm>
              <a:off x="3268" y="4088"/>
              <a:ext cx="59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rgbClr val="003399"/>
                  </a:solidFill>
                  <a:latin typeface="Arial Narrow" pitchFamily="34" charset="0"/>
                  <a:cs typeface="Times New Roman" pitchFamily="18" charset="0"/>
                </a:rPr>
                <a:t>Pattern 4</a:t>
              </a:r>
            </a:p>
          </p:txBody>
        </p:sp>
      </p:grpSp>
      <p:sp>
        <p:nvSpPr>
          <p:cNvPr id="13" name="Line 24"/>
          <p:cNvSpPr>
            <a:spLocks noChangeShapeType="1"/>
          </p:cNvSpPr>
          <p:nvPr/>
        </p:nvSpPr>
        <p:spPr bwMode="auto">
          <a:xfrm flipV="1">
            <a:off x="7074086" y="4048335"/>
            <a:ext cx="1259431" cy="502895"/>
          </a:xfrm>
          <a:prstGeom prst="line">
            <a:avLst/>
          </a:prstGeom>
          <a:ln>
            <a:headEnd/>
            <a:tailEnd type="triangle" w="med" len="med"/>
          </a:ln>
          <a:effec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6" name="Group 34"/>
          <p:cNvGrpSpPr>
            <a:grpSpLocks/>
          </p:cNvGrpSpPr>
          <p:nvPr/>
        </p:nvGrpSpPr>
        <p:grpSpPr bwMode="auto">
          <a:xfrm>
            <a:off x="4500562" y="2204386"/>
            <a:ext cx="3360668" cy="1676317"/>
            <a:chOff x="1084" y="2545"/>
            <a:chExt cx="3074" cy="960"/>
          </a:xfrm>
        </p:grpSpPr>
        <p:sp>
          <p:nvSpPr>
            <p:cNvPr id="10" name="Oval 32"/>
            <p:cNvSpPr>
              <a:spLocks noChangeArrowheads="1"/>
            </p:cNvSpPr>
            <p:nvPr/>
          </p:nvSpPr>
          <p:spPr bwMode="auto">
            <a:xfrm rot="3345308">
              <a:off x="2478" y="1825"/>
              <a:ext cx="960" cy="240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Text Box 33"/>
            <p:cNvSpPr txBox="1">
              <a:spLocks noChangeArrowheads="1"/>
            </p:cNvSpPr>
            <p:nvPr/>
          </p:nvSpPr>
          <p:spPr bwMode="auto">
            <a:xfrm>
              <a:off x="1084" y="2636"/>
              <a:ext cx="1295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rgbClr val="003399"/>
                  </a:solidFill>
                  <a:latin typeface="Arial Narrow" pitchFamily="34" charset="0"/>
                </a:rPr>
                <a:t>Mismatch because </a:t>
              </a:r>
            </a:p>
            <a:p>
              <a:r>
                <a:rPr lang="en-US" sz="1800">
                  <a:solidFill>
                    <a:srgbClr val="003399"/>
                  </a:solidFill>
                  <a:latin typeface="Arial Narrow" pitchFamily="34" charset="0"/>
                </a:rPr>
                <a:t>unequal with Pattern 1</a:t>
              </a:r>
            </a:p>
          </p:txBody>
        </p:sp>
      </p:grpSp>
      <p:grpSp>
        <p:nvGrpSpPr>
          <p:cNvPr id="7" name="Group 28"/>
          <p:cNvGrpSpPr>
            <a:grpSpLocks/>
          </p:cNvGrpSpPr>
          <p:nvPr/>
        </p:nvGrpSpPr>
        <p:grpSpPr bwMode="auto">
          <a:xfrm>
            <a:off x="4943331" y="3107152"/>
            <a:ext cx="1396088" cy="974359"/>
            <a:chOff x="1459" y="3061"/>
            <a:chExt cx="1277" cy="558"/>
          </a:xfrm>
        </p:grpSpPr>
        <p:pic>
          <p:nvPicPr>
            <p:cNvPr id="25" name="Picture 12" descr="an01124_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02" y="3061"/>
              <a:ext cx="434" cy="5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6" name="Rectangle 21"/>
            <p:cNvSpPr>
              <a:spLocks noChangeArrowheads="1"/>
            </p:cNvSpPr>
            <p:nvPr/>
          </p:nvSpPr>
          <p:spPr bwMode="auto">
            <a:xfrm>
              <a:off x="1459" y="3407"/>
              <a:ext cx="1055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1800" dirty="0" smtClean="0">
                  <a:solidFill>
                    <a:srgbClr val="003399"/>
                  </a:solidFill>
                  <a:latin typeface="Arial Narrow" pitchFamily="34" charset="0"/>
                  <a:cs typeface="Times New Roman" pitchFamily="18" charset="0"/>
                </a:rPr>
                <a:t>Pattern </a:t>
              </a:r>
              <a:r>
                <a:rPr lang="en-US" sz="1800" dirty="0">
                  <a:solidFill>
                    <a:srgbClr val="003399"/>
                  </a:solidFill>
                  <a:latin typeface="Arial Narrow" pitchFamily="34" charset="0"/>
                  <a:cs typeface="Times New Roman" pitchFamily="18" charset="0"/>
                </a:rPr>
                <a:t>3</a:t>
              </a:r>
            </a:p>
          </p:txBody>
        </p:sp>
      </p:grpSp>
      <p:sp>
        <p:nvSpPr>
          <p:cNvPr id="24" name="Line 23"/>
          <p:cNvSpPr>
            <a:spLocks noChangeShapeType="1"/>
          </p:cNvSpPr>
          <p:nvPr/>
        </p:nvSpPr>
        <p:spPr bwMode="auto">
          <a:xfrm>
            <a:off x="6391895" y="3461623"/>
            <a:ext cx="1889146" cy="251447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887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2000" fill="hold"/>
                                        <p:tgtEl>
                                          <p:spTgt spid="7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472" y="1357298"/>
            <a:ext cx="4714908" cy="5072098"/>
          </a:xfrm>
        </p:spPr>
        <p:txBody>
          <a:bodyPr>
            <a:normAutofit/>
          </a:bodyPr>
          <a:lstStyle/>
          <a:p>
            <a:pPr marL="442468" indent="-292100"/>
            <a:r>
              <a:rPr lang="en-GB" sz="2400" dirty="0" smtClean="0">
                <a:solidFill>
                  <a:srgbClr val="00B0F0"/>
                </a:solidFill>
              </a:rPr>
              <a:t>Reasons</a:t>
            </a:r>
            <a:endParaRPr lang="en-GB" sz="2000" dirty="0" smtClean="0">
              <a:solidFill>
                <a:srgbClr val="00B0F0"/>
              </a:solidFill>
              <a:sym typeface="Symbol"/>
            </a:endParaRPr>
          </a:p>
        </p:txBody>
      </p:sp>
      <p:sp>
        <p:nvSpPr>
          <p:cNvPr id="5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Concept 1: Pattern Matching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3286116" y="4888230"/>
            <a:ext cx="184731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9213" indent="-292100"/>
            <a:endParaRPr lang="en-GB" sz="1800" b="0" dirty="0" smtClean="0">
              <a:solidFill>
                <a:srgbClr val="00B0F0"/>
              </a:solidFill>
              <a:sym typeface="Symbol"/>
            </a:endParaRPr>
          </a:p>
          <a:p>
            <a:endParaRPr lang="en-US" dirty="0"/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1119206" y="1857364"/>
          <a:ext cx="709613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2662"/>
                <a:gridCol w="4643470"/>
              </a:tblGrid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 err="1" smtClean="0"/>
                        <a:t>tweety</a:t>
                      </a:r>
                      <a:r>
                        <a:rPr lang="en-GB" sz="2000" dirty="0" smtClean="0"/>
                        <a:t> </a:t>
                      </a:r>
                      <a:r>
                        <a:rPr lang="en-GB" sz="2000" dirty="0" smtClean="0">
                          <a:sym typeface="Symbol"/>
                        </a:rPr>
                        <a:t> </a:t>
                      </a:r>
                      <a:r>
                        <a:rPr lang="en-GB" sz="2000" dirty="0" err="1" smtClean="0">
                          <a:sym typeface="Symbol"/>
                        </a:rPr>
                        <a:t>tweety</a:t>
                      </a:r>
                      <a:r>
                        <a:rPr lang="en-GB" sz="2000" dirty="0" smtClean="0">
                          <a:sym typeface="Symbol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Exactly the same string</a:t>
                      </a:r>
                      <a:r>
                        <a:rPr lang="en-US" baseline="0" dirty="0" smtClean="0"/>
                        <a:t> of symbols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 err="1" smtClean="0">
                          <a:sym typeface="Symbol"/>
                        </a:rPr>
                        <a:t>twe</a:t>
                      </a:r>
                      <a:r>
                        <a:rPr lang="en-GB" sz="2000" b="1" dirty="0" err="1" smtClean="0">
                          <a:solidFill>
                            <a:srgbClr val="FF0000"/>
                          </a:solidFill>
                          <a:sym typeface="Symbol"/>
                        </a:rPr>
                        <a:t>e</a:t>
                      </a:r>
                      <a:r>
                        <a:rPr lang="en-GB" sz="2000" dirty="0" err="1" smtClean="0">
                          <a:sym typeface="Symbol"/>
                        </a:rPr>
                        <a:t>ty</a:t>
                      </a:r>
                      <a:r>
                        <a:rPr lang="en-GB" sz="2000" dirty="0" smtClean="0">
                          <a:sym typeface="Symbol"/>
                        </a:rPr>
                        <a:t>  </a:t>
                      </a:r>
                      <a:r>
                        <a:rPr lang="en-GB" sz="2000" dirty="0" err="1" smtClean="0">
                          <a:sym typeface="Symbol"/>
                        </a:rPr>
                        <a:t>twe</a:t>
                      </a:r>
                      <a:r>
                        <a:rPr lang="en-GB" sz="2000" b="1" dirty="0" err="1" smtClean="0">
                          <a:solidFill>
                            <a:srgbClr val="FF0000"/>
                          </a:solidFill>
                          <a:sym typeface="Symbol"/>
                        </a:rPr>
                        <a:t>a</a:t>
                      </a:r>
                      <a:r>
                        <a:rPr lang="en-GB" sz="2000" dirty="0" err="1" smtClean="0">
                          <a:sym typeface="Symbol"/>
                        </a:rPr>
                        <a:t>ty</a:t>
                      </a:r>
                      <a:endParaRPr lang="en-GB" sz="2000" dirty="0" smtClean="0">
                        <a:sym typeface="Symbo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‘e’ ≠ ‘a’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 smtClean="0">
                          <a:sym typeface="Symbol"/>
                        </a:rPr>
                        <a:t>fl</a:t>
                      </a:r>
                      <a:r>
                        <a:rPr lang="en-GB" sz="2000" b="1" dirty="0" smtClean="0">
                          <a:solidFill>
                            <a:srgbClr val="FF0000"/>
                          </a:solidFill>
                          <a:sym typeface="Symbol"/>
                        </a:rPr>
                        <a:t>y</a:t>
                      </a:r>
                      <a:r>
                        <a:rPr lang="en-GB" sz="2000" dirty="0" smtClean="0">
                          <a:sym typeface="Symbol"/>
                        </a:rPr>
                        <a:t>  fl</a:t>
                      </a:r>
                      <a:r>
                        <a:rPr lang="en-GB" sz="2000" b="1" dirty="0" smtClean="0">
                          <a:solidFill>
                            <a:srgbClr val="FF0000"/>
                          </a:solidFill>
                          <a:sym typeface="Symbol"/>
                        </a:rPr>
                        <a:t>ies</a:t>
                      </a:r>
                      <a:endParaRPr lang="en-GB" sz="2000" dirty="0" smtClean="0">
                        <a:sym typeface="Symbo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‘y’ ≠ ‘</a:t>
                      </a:r>
                      <a:r>
                        <a:rPr lang="en-US" dirty="0" err="1" smtClean="0"/>
                        <a:t>ies</a:t>
                      </a:r>
                      <a:r>
                        <a:rPr lang="en-US" dirty="0" smtClean="0"/>
                        <a:t>’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 smtClean="0">
                          <a:sym typeface="Symbol"/>
                        </a:rPr>
                        <a:t>m</a:t>
                      </a:r>
                      <a:r>
                        <a:rPr lang="en-GB" sz="2000" b="1" dirty="0" smtClean="0">
                          <a:solidFill>
                            <a:srgbClr val="FF0000"/>
                          </a:solidFill>
                          <a:sym typeface="Symbol"/>
                        </a:rPr>
                        <a:t>a</a:t>
                      </a:r>
                      <a:r>
                        <a:rPr lang="en-GB" sz="2000" dirty="0" smtClean="0">
                          <a:sym typeface="Symbol"/>
                        </a:rPr>
                        <a:t>n  m</a:t>
                      </a:r>
                      <a:r>
                        <a:rPr lang="en-GB" sz="2000" b="1" dirty="0" smtClean="0">
                          <a:solidFill>
                            <a:srgbClr val="FF0000"/>
                          </a:solidFill>
                          <a:sym typeface="Symbol"/>
                        </a:rPr>
                        <a:t>e</a:t>
                      </a:r>
                      <a:r>
                        <a:rPr lang="en-GB" sz="2000" dirty="0" smtClean="0">
                          <a:sym typeface="Symbol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‘a’ ≠</a:t>
                      </a:r>
                      <a:r>
                        <a:rPr lang="en-US" baseline="0" dirty="0" smtClean="0"/>
                        <a:t> ‘e’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 smtClean="0">
                          <a:sym typeface="Symbol"/>
                        </a:rPr>
                        <a:t>teach(X, math)  teach(she, math)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9213" indent="-292100">
                        <a:buFont typeface="Arial" pitchFamily="34" charset="0"/>
                        <a:buChar char="•"/>
                      </a:pPr>
                      <a:r>
                        <a:rPr lang="en-GB" sz="1800" b="0" dirty="0" smtClean="0">
                          <a:solidFill>
                            <a:schemeClr val="tx1"/>
                          </a:solidFill>
                          <a:sym typeface="Symbol"/>
                        </a:rPr>
                        <a:t>identical predicate name/</a:t>
                      </a:r>
                      <a:r>
                        <a:rPr lang="en-GB" sz="1800" b="0" dirty="0" err="1" smtClean="0">
                          <a:solidFill>
                            <a:schemeClr val="tx1"/>
                          </a:solidFill>
                          <a:sym typeface="Symbol"/>
                        </a:rPr>
                        <a:t>functor</a:t>
                      </a:r>
                      <a:endParaRPr lang="en-GB" sz="1800" b="0" dirty="0" smtClean="0">
                        <a:solidFill>
                          <a:schemeClr val="tx1"/>
                        </a:solidFill>
                        <a:sym typeface="Symbol"/>
                      </a:endParaRPr>
                    </a:p>
                    <a:p>
                      <a:pPr marL="49213" indent="-292100">
                        <a:buFont typeface="Arial" pitchFamily="34" charset="0"/>
                        <a:buChar char="•"/>
                      </a:pPr>
                      <a:r>
                        <a:rPr lang="en-GB" sz="1800" b="0" dirty="0" smtClean="0">
                          <a:solidFill>
                            <a:schemeClr val="tx1"/>
                          </a:solidFill>
                          <a:sym typeface="Symbol"/>
                        </a:rPr>
                        <a:t>identical # of arguments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4148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57298"/>
            <a:ext cx="8229600" cy="4929222"/>
          </a:xfrm>
        </p:spPr>
        <p:txBody>
          <a:bodyPr/>
          <a:lstStyle/>
          <a:p>
            <a:pPr marL="609600" indent="-609600"/>
            <a:r>
              <a:rPr lang="en-GB" sz="2400" dirty="0" smtClean="0"/>
              <a:t>A variable can be instantiated with</a:t>
            </a:r>
          </a:p>
          <a:p>
            <a:pPr marL="901700" lvl="1" indent="-334963"/>
            <a:r>
              <a:rPr lang="en-GB" sz="2000" dirty="0" smtClean="0">
                <a:solidFill>
                  <a:srgbClr val="00B0F0"/>
                </a:solidFill>
              </a:rPr>
              <a:t>Another variable</a:t>
            </a:r>
            <a:r>
              <a:rPr lang="en-GB" sz="2000" dirty="0" smtClean="0"/>
              <a:t>, </a:t>
            </a:r>
            <a:r>
              <a:rPr lang="en-GB" sz="2000" dirty="0" err="1" smtClean="0"/>
              <a:t>e.g</a:t>
            </a:r>
            <a:r>
              <a:rPr lang="en-GB" dirty="0" smtClean="0"/>
              <a:t>: </a:t>
            </a:r>
            <a:r>
              <a:rPr lang="en-GB" dirty="0" smtClean="0">
                <a:solidFill>
                  <a:srgbClr val="FFC000"/>
                </a:solidFill>
              </a:rPr>
              <a:t>X</a:t>
            </a:r>
            <a:r>
              <a:rPr lang="en-GB" dirty="0" smtClean="0"/>
              <a:t>/</a:t>
            </a:r>
            <a:r>
              <a:rPr lang="en-GB" dirty="0" smtClean="0">
                <a:solidFill>
                  <a:srgbClr val="00B050"/>
                </a:solidFill>
              </a:rPr>
              <a:t>Y</a:t>
            </a:r>
            <a:r>
              <a:rPr lang="en-GB" dirty="0" smtClean="0"/>
              <a:t>; </a:t>
            </a:r>
            <a:r>
              <a:rPr lang="en-GB" dirty="0" smtClean="0">
                <a:solidFill>
                  <a:srgbClr val="FFC000"/>
                </a:solidFill>
              </a:rPr>
              <a:t>X</a:t>
            </a:r>
            <a:r>
              <a:rPr lang="en-GB" dirty="0" smtClean="0"/>
              <a:t>/</a:t>
            </a:r>
            <a:r>
              <a:rPr lang="en-GB" dirty="0" smtClean="0">
                <a:solidFill>
                  <a:srgbClr val="00B050"/>
                </a:solidFill>
              </a:rPr>
              <a:t>Z</a:t>
            </a:r>
          </a:p>
          <a:p>
            <a:pPr marL="901700" lvl="1" indent="-334963"/>
            <a:r>
              <a:rPr lang="en-GB" sz="2000" dirty="0" smtClean="0">
                <a:solidFill>
                  <a:srgbClr val="00B0F0"/>
                </a:solidFill>
              </a:rPr>
              <a:t>Constant, </a:t>
            </a:r>
            <a:r>
              <a:rPr lang="en-GB" sz="2000" dirty="0" smtClean="0"/>
              <a:t>e.g</a:t>
            </a:r>
            <a:r>
              <a:rPr lang="en-GB" dirty="0" smtClean="0"/>
              <a:t>.: </a:t>
            </a:r>
            <a:r>
              <a:rPr lang="en-GB" dirty="0" smtClean="0">
                <a:solidFill>
                  <a:srgbClr val="FFC000"/>
                </a:solidFill>
              </a:rPr>
              <a:t>X</a:t>
            </a:r>
            <a:r>
              <a:rPr lang="en-GB" dirty="0" smtClean="0">
                <a:solidFill>
                  <a:srgbClr val="00B050"/>
                </a:solidFill>
              </a:rPr>
              <a:t>/math;</a:t>
            </a:r>
            <a:r>
              <a:rPr lang="en-GB" dirty="0" smtClean="0"/>
              <a:t> </a:t>
            </a:r>
            <a:r>
              <a:rPr lang="en-GB" dirty="0" smtClean="0">
                <a:solidFill>
                  <a:srgbClr val="FFC000"/>
                </a:solidFill>
              </a:rPr>
              <a:t>Y</a:t>
            </a:r>
            <a:r>
              <a:rPr lang="en-GB" dirty="0" smtClean="0"/>
              <a:t>/</a:t>
            </a:r>
            <a:r>
              <a:rPr lang="en-GB" dirty="0" err="1" smtClean="0">
                <a:solidFill>
                  <a:srgbClr val="00B050"/>
                </a:solidFill>
              </a:rPr>
              <a:t>adam</a:t>
            </a:r>
            <a:endParaRPr lang="en-GB" dirty="0" smtClean="0">
              <a:solidFill>
                <a:srgbClr val="00B050"/>
              </a:solidFill>
            </a:endParaRPr>
          </a:p>
          <a:p>
            <a:pPr marL="901700" lvl="1" indent="-334963">
              <a:buNone/>
            </a:pPr>
            <a:endParaRPr lang="en-GB" dirty="0" smtClean="0">
              <a:solidFill>
                <a:srgbClr val="00B050"/>
              </a:solidFill>
            </a:endParaRPr>
          </a:p>
          <a:p>
            <a:pPr marL="609600" indent="-609600"/>
            <a:r>
              <a:rPr lang="en-GB" sz="2400" dirty="0" smtClean="0"/>
              <a:t>E.g.: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GB" sz="2400" dirty="0" smtClean="0"/>
              <a:t>		</a:t>
            </a:r>
            <a:r>
              <a:rPr lang="en-GB" sz="2000" dirty="0" smtClean="0"/>
              <a:t>man(X), man(Y) .....  </a:t>
            </a:r>
            <a:r>
              <a:rPr lang="en-GB" sz="2000" dirty="0" smtClean="0">
                <a:solidFill>
                  <a:srgbClr val="FF0000"/>
                </a:solidFill>
              </a:rPr>
              <a:t>X</a:t>
            </a:r>
            <a:r>
              <a:rPr lang="en-GB" sz="2000" dirty="0" smtClean="0"/>
              <a:t>/</a:t>
            </a:r>
            <a:r>
              <a:rPr lang="en-GB" sz="2000" dirty="0" smtClean="0">
                <a:solidFill>
                  <a:srgbClr val="00B0F0"/>
                </a:solidFill>
              </a:rPr>
              <a:t>Y</a:t>
            </a:r>
            <a:r>
              <a:rPr lang="en-GB" sz="2000" dirty="0" smtClean="0"/>
              <a:t> or </a:t>
            </a:r>
            <a:r>
              <a:rPr lang="en-GB" sz="2000" dirty="0" smtClean="0">
                <a:solidFill>
                  <a:srgbClr val="00B0F0"/>
                </a:solidFill>
              </a:rPr>
              <a:t>Y</a:t>
            </a:r>
            <a:r>
              <a:rPr lang="en-GB" sz="2000" dirty="0" smtClean="0"/>
              <a:t>/</a:t>
            </a:r>
            <a:r>
              <a:rPr lang="en-GB" sz="2000" dirty="0" smtClean="0">
                <a:solidFill>
                  <a:srgbClr val="FF0000"/>
                </a:solidFill>
              </a:rPr>
              <a:t>X</a:t>
            </a:r>
            <a:endParaRPr lang="en-GB" sz="2000" dirty="0" smtClean="0">
              <a:solidFill>
                <a:srgbClr val="FF0000"/>
              </a:solidFill>
              <a:sym typeface="Wingdings" pitchFamily="2" charset="2"/>
            </a:endParaRPr>
          </a:p>
          <a:p>
            <a:pPr marL="609600" indent="-609600">
              <a:buFont typeface="Wingdings" pitchFamily="2" charset="2"/>
              <a:buNone/>
            </a:pPr>
            <a:r>
              <a:rPr lang="en-GB" sz="2000" dirty="0" smtClean="0">
                <a:sym typeface="Wingdings" pitchFamily="2" charset="2"/>
              </a:rPr>
              <a:t>		man(X), man(</a:t>
            </a:r>
            <a:r>
              <a:rPr lang="en-GB" sz="2000" dirty="0" err="1" smtClean="0">
                <a:sym typeface="Wingdings" pitchFamily="2" charset="2"/>
              </a:rPr>
              <a:t>adam</a:t>
            </a:r>
            <a:r>
              <a:rPr lang="en-GB" sz="2000" dirty="0" smtClean="0">
                <a:sym typeface="Wingdings" pitchFamily="2" charset="2"/>
              </a:rPr>
              <a:t>) .....  </a:t>
            </a:r>
            <a:r>
              <a:rPr lang="en-GB" sz="2000" dirty="0" smtClean="0">
                <a:solidFill>
                  <a:srgbClr val="FF0000"/>
                </a:solidFill>
                <a:sym typeface="Wingdings" pitchFamily="2" charset="2"/>
              </a:rPr>
              <a:t>X</a:t>
            </a:r>
            <a:r>
              <a:rPr lang="en-GB" sz="2000" dirty="0" smtClean="0">
                <a:sym typeface="Wingdings" pitchFamily="2" charset="2"/>
              </a:rPr>
              <a:t>/</a:t>
            </a:r>
            <a:r>
              <a:rPr lang="en-GB" sz="2000" dirty="0" err="1" smtClean="0">
                <a:solidFill>
                  <a:srgbClr val="00B0F0"/>
                </a:solidFill>
                <a:sym typeface="Wingdings" pitchFamily="2" charset="2"/>
              </a:rPr>
              <a:t>adam</a:t>
            </a:r>
            <a:endParaRPr lang="en-GB" sz="2000" dirty="0" smtClean="0">
              <a:solidFill>
                <a:srgbClr val="00B0F0"/>
              </a:solidFill>
              <a:sym typeface="Wingdings" pitchFamily="2" charset="2"/>
            </a:endParaRPr>
          </a:p>
          <a:p>
            <a:pPr marL="609600" indent="-609600">
              <a:buFont typeface="Wingdings" pitchFamily="2" charset="2"/>
              <a:buNone/>
            </a:pPr>
            <a:r>
              <a:rPr lang="en-GB" sz="2000" dirty="0" smtClean="0">
                <a:sym typeface="Wingdings" pitchFamily="2" charset="2"/>
              </a:rPr>
              <a:t>		teach(X, math), teach(</a:t>
            </a:r>
            <a:r>
              <a:rPr lang="en-GB" sz="2000" dirty="0" err="1" smtClean="0">
                <a:sym typeface="Wingdings" pitchFamily="2" charset="2"/>
              </a:rPr>
              <a:t>joe,Y</a:t>
            </a:r>
            <a:r>
              <a:rPr lang="en-GB" sz="2000" dirty="0" smtClean="0">
                <a:sym typeface="Wingdings" pitchFamily="2" charset="2"/>
              </a:rPr>
              <a:t>) ... .. </a:t>
            </a:r>
            <a:r>
              <a:rPr lang="en-GB" sz="2000" dirty="0" smtClean="0">
                <a:solidFill>
                  <a:srgbClr val="FF0000"/>
                </a:solidFill>
                <a:sym typeface="Wingdings" pitchFamily="2" charset="2"/>
              </a:rPr>
              <a:t>X</a:t>
            </a:r>
            <a:r>
              <a:rPr lang="en-GB" sz="2000" dirty="0" smtClean="0">
                <a:sym typeface="Wingdings" pitchFamily="2" charset="2"/>
              </a:rPr>
              <a:t>/</a:t>
            </a:r>
            <a:r>
              <a:rPr lang="en-GB" sz="2000" dirty="0" err="1" smtClean="0">
                <a:solidFill>
                  <a:srgbClr val="00B0F0"/>
                </a:solidFill>
                <a:sym typeface="Wingdings" pitchFamily="2" charset="2"/>
              </a:rPr>
              <a:t>joe</a:t>
            </a:r>
            <a:r>
              <a:rPr lang="en-GB" sz="2000" dirty="0" smtClean="0">
                <a:sym typeface="Wingdings" pitchFamily="2" charset="2"/>
              </a:rPr>
              <a:t>; </a:t>
            </a:r>
            <a:r>
              <a:rPr lang="en-GB" sz="2000" dirty="0" smtClean="0">
                <a:solidFill>
                  <a:srgbClr val="00B050"/>
                </a:solidFill>
                <a:sym typeface="Wingdings" pitchFamily="2" charset="2"/>
              </a:rPr>
              <a:t>Y</a:t>
            </a:r>
            <a:r>
              <a:rPr lang="en-GB" sz="2000" dirty="0" smtClean="0">
                <a:sym typeface="Wingdings" pitchFamily="2" charset="2"/>
              </a:rPr>
              <a:t>/</a:t>
            </a:r>
            <a:r>
              <a:rPr lang="en-GB" sz="2000" dirty="0" smtClean="0">
                <a:solidFill>
                  <a:srgbClr val="FFC000"/>
                </a:solidFill>
                <a:sym typeface="Wingdings" pitchFamily="2" charset="2"/>
              </a:rPr>
              <a:t>math</a:t>
            </a:r>
          </a:p>
          <a:p>
            <a:pPr marL="609600" indent="-609600">
              <a:buFont typeface="Wingdings" pitchFamily="2" charset="2"/>
              <a:buNone/>
            </a:pPr>
            <a:endParaRPr lang="en-GB" sz="2000" dirty="0" smtClean="0">
              <a:sym typeface="Wingdings" pitchFamily="2" charset="2"/>
            </a:endParaRPr>
          </a:p>
          <a:p>
            <a:pPr marL="609600" indent="-609600">
              <a:buFont typeface="Wingdings" pitchFamily="2" charset="2"/>
              <a:buNone/>
            </a:pPr>
            <a:r>
              <a:rPr lang="en-GB" sz="2400" dirty="0" smtClean="0">
                <a:sym typeface="Wingdings" pitchFamily="2" charset="2"/>
              </a:rPr>
              <a:t>		</a:t>
            </a:r>
          </a:p>
          <a:p>
            <a:pPr marL="609600" indent="-609600">
              <a:buFont typeface="Wingdings" pitchFamily="2" charset="2"/>
              <a:buNone/>
            </a:pPr>
            <a:endParaRPr lang="en-GB" sz="2000" dirty="0"/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>
            <a:normAutofit/>
          </a:bodyPr>
          <a:lstStyle/>
          <a:p>
            <a:r>
              <a:rPr lang="en-US" dirty="0" smtClean="0"/>
              <a:t>Concept 2: Instantiation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031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57298"/>
            <a:ext cx="8229600" cy="5072098"/>
          </a:xfrm>
        </p:spPr>
        <p:txBody>
          <a:bodyPr>
            <a:normAutofit/>
          </a:bodyPr>
          <a:lstStyle/>
          <a:p>
            <a:pPr marL="609600" indent="-609600"/>
            <a:r>
              <a:rPr lang="en-GB" sz="2600" dirty="0" smtClean="0">
                <a:solidFill>
                  <a:srgbClr val="00B0F0"/>
                </a:solidFill>
                <a:sym typeface="Wingdings" pitchFamily="2" charset="2"/>
              </a:rPr>
              <a:t>Instantiation involving rules</a:t>
            </a:r>
          </a:p>
          <a:p>
            <a:pPr marL="901700" lvl="1" indent="-277813"/>
            <a:r>
              <a:rPr lang="en-GB" sz="2200" dirty="0" smtClean="0">
                <a:sym typeface="Wingdings" pitchFamily="2" charset="2"/>
              </a:rPr>
              <a:t>The same variable in the same rule must be instantiated with the same value (can be either another variable or constant).  </a:t>
            </a:r>
          </a:p>
          <a:p>
            <a:pPr marL="901700" lvl="1" indent="-277813"/>
            <a:r>
              <a:rPr lang="en-GB" sz="2200" dirty="0" smtClean="0">
                <a:sym typeface="Wingdings" pitchFamily="2" charset="2"/>
              </a:rPr>
              <a:t>E.g.:</a:t>
            </a:r>
          </a:p>
          <a:p>
            <a:pPr marL="1166813" lvl="2" indent="-277813">
              <a:buNone/>
            </a:pPr>
            <a:r>
              <a:rPr lang="en-GB" dirty="0" smtClean="0">
                <a:solidFill>
                  <a:srgbClr val="FFC000"/>
                </a:solidFill>
                <a:sym typeface="Wingdings" pitchFamily="2" charset="2"/>
              </a:rPr>
              <a:t>	Rule1:	</a:t>
            </a:r>
            <a:r>
              <a:rPr lang="en-GB" dirty="0" smtClean="0">
                <a:sym typeface="Wingdings" pitchFamily="2" charset="2"/>
              </a:rPr>
              <a:t>have(X, wings) </a:t>
            </a:r>
            <a:r>
              <a:rPr lang="en-GB" dirty="0" smtClean="0">
                <a:sym typeface="Symbol"/>
              </a:rPr>
              <a:t> flies(X)  </a:t>
            </a:r>
            <a:r>
              <a:rPr lang="en-GB" dirty="0" err="1" smtClean="0">
                <a:sym typeface="Symbol"/>
              </a:rPr>
              <a:t>isa</a:t>
            </a:r>
            <a:r>
              <a:rPr lang="en-GB" dirty="0" smtClean="0">
                <a:sym typeface="Symbol"/>
              </a:rPr>
              <a:t>(X, Y)</a:t>
            </a:r>
          </a:p>
          <a:p>
            <a:pPr marL="1166813" lvl="2" indent="-277813">
              <a:buNone/>
            </a:pPr>
            <a:r>
              <a:rPr lang="en-GB" dirty="0" smtClean="0">
                <a:solidFill>
                  <a:srgbClr val="00B050"/>
                </a:solidFill>
                <a:sym typeface="Symbol"/>
              </a:rPr>
              <a:t>	Axiom1:	</a:t>
            </a:r>
            <a:r>
              <a:rPr lang="en-GB" dirty="0" smtClean="0">
                <a:sym typeface="Symbol"/>
              </a:rPr>
              <a:t>flies(</a:t>
            </a:r>
            <a:r>
              <a:rPr lang="en-GB" dirty="0" err="1" smtClean="0">
                <a:sym typeface="Symbol"/>
              </a:rPr>
              <a:t>tweety</a:t>
            </a:r>
            <a:r>
              <a:rPr lang="en-GB" dirty="0" smtClean="0">
                <a:sym typeface="Symbol"/>
              </a:rPr>
              <a:t>)</a:t>
            </a:r>
          </a:p>
          <a:p>
            <a:pPr marL="1450277" lvl="3" indent="-277813">
              <a:buNone/>
            </a:pPr>
            <a:endParaRPr lang="en-GB" dirty="0" smtClean="0">
              <a:solidFill>
                <a:srgbClr val="00B050"/>
              </a:solidFill>
              <a:sym typeface="Symbol"/>
            </a:endParaRPr>
          </a:p>
          <a:p>
            <a:pPr marL="1450277" lvl="3" indent="-277813">
              <a:buNone/>
            </a:pPr>
            <a:r>
              <a:rPr lang="en-GB" dirty="0" smtClean="0">
                <a:sym typeface="Symbol"/>
              </a:rPr>
              <a:t>Predicate </a:t>
            </a:r>
            <a:r>
              <a:rPr lang="en-GB" dirty="0" smtClean="0">
                <a:solidFill>
                  <a:srgbClr val="00B0F0"/>
                </a:solidFill>
                <a:sym typeface="Symbol"/>
              </a:rPr>
              <a:t>flies(X) </a:t>
            </a:r>
            <a:r>
              <a:rPr lang="en-GB" dirty="0" smtClean="0">
                <a:sym typeface="Symbol"/>
              </a:rPr>
              <a:t>in Rule1 match with axiom</a:t>
            </a:r>
            <a:r>
              <a:rPr lang="en-GB" dirty="0" smtClean="0">
                <a:solidFill>
                  <a:srgbClr val="00B0F0"/>
                </a:solidFill>
                <a:sym typeface="Symbol"/>
              </a:rPr>
              <a:t> flies(</a:t>
            </a:r>
            <a:r>
              <a:rPr lang="en-GB" dirty="0" err="1" smtClean="0">
                <a:solidFill>
                  <a:srgbClr val="00B0F0"/>
                </a:solidFill>
                <a:sym typeface="Symbol"/>
              </a:rPr>
              <a:t>tweety</a:t>
            </a:r>
            <a:r>
              <a:rPr lang="en-GB" dirty="0" smtClean="0">
                <a:solidFill>
                  <a:srgbClr val="00B0F0"/>
                </a:solidFill>
                <a:sym typeface="Symbol"/>
              </a:rPr>
              <a:t>)</a:t>
            </a:r>
            <a:r>
              <a:rPr lang="en-GB" dirty="0" smtClean="0">
                <a:sym typeface="Symbol"/>
              </a:rPr>
              <a:t>, and </a:t>
            </a:r>
            <a:r>
              <a:rPr lang="en-GB" dirty="0" smtClean="0">
                <a:solidFill>
                  <a:srgbClr val="00B0F0"/>
                </a:solidFill>
                <a:sym typeface="Symbol"/>
              </a:rPr>
              <a:t>X</a:t>
            </a:r>
            <a:r>
              <a:rPr lang="en-GB" dirty="0" smtClean="0">
                <a:sym typeface="Symbol"/>
              </a:rPr>
              <a:t> is instantiated with </a:t>
            </a:r>
            <a:r>
              <a:rPr lang="en-GB" dirty="0" err="1" smtClean="0">
                <a:solidFill>
                  <a:srgbClr val="00B0F0"/>
                </a:solidFill>
                <a:sym typeface="Symbol"/>
              </a:rPr>
              <a:t>tweety</a:t>
            </a:r>
            <a:r>
              <a:rPr lang="en-GB" dirty="0" smtClean="0">
                <a:sym typeface="Symbol"/>
              </a:rPr>
              <a:t>, i.e. </a:t>
            </a:r>
            <a:r>
              <a:rPr lang="en-GB" dirty="0" smtClean="0">
                <a:solidFill>
                  <a:srgbClr val="FF0000"/>
                </a:solidFill>
                <a:sym typeface="Symbol"/>
              </a:rPr>
              <a:t>X/</a:t>
            </a:r>
            <a:r>
              <a:rPr lang="en-GB" dirty="0" err="1" smtClean="0">
                <a:solidFill>
                  <a:srgbClr val="FF0000"/>
                </a:solidFill>
                <a:sym typeface="Symbol"/>
              </a:rPr>
              <a:t>tweety</a:t>
            </a:r>
            <a:endParaRPr lang="en-GB" sz="2400" dirty="0">
              <a:sym typeface="Wingdings" pitchFamily="2" charset="2"/>
            </a:endParaRPr>
          </a:p>
          <a:p>
            <a:pPr marL="609600" indent="-609600">
              <a:buFont typeface="Wingdings" pitchFamily="2" charset="2"/>
              <a:buNone/>
            </a:pPr>
            <a:endParaRPr lang="en-GB" sz="2000" dirty="0"/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>
            <a:normAutofit/>
          </a:bodyPr>
          <a:lstStyle/>
          <a:p>
            <a:r>
              <a:rPr lang="en-US" dirty="0" smtClean="0"/>
              <a:t>Concept 2: Instantiation</a:t>
            </a:r>
            <a:endParaRPr lang="en-US" dirty="0"/>
          </a:p>
        </p:txBody>
      </p:sp>
      <p:sp>
        <p:nvSpPr>
          <p:cNvPr id="4" name="Down Arrow 3"/>
          <p:cNvSpPr/>
          <p:nvPr/>
        </p:nvSpPr>
        <p:spPr>
          <a:xfrm>
            <a:off x="4572000" y="5072074"/>
            <a:ext cx="285752" cy="428628"/>
          </a:xfrm>
          <a:prstGeom prst="down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70C0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428728" y="5529220"/>
            <a:ext cx="7358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413" indent="-277813"/>
            <a:r>
              <a:rPr lang="en-GB" sz="2000" b="0" dirty="0" smtClean="0">
                <a:solidFill>
                  <a:srgbClr val="FFC000"/>
                </a:solidFill>
                <a:latin typeface="+mn-lt"/>
                <a:sym typeface="Symbol"/>
              </a:rPr>
              <a:t>Rule1 : </a:t>
            </a:r>
            <a:r>
              <a:rPr lang="en-GB" sz="2000" b="0" dirty="0" smtClean="0">
                <a:latin typeface="+mn-lt"/>
                <a:sym typeface="Symbol"/>
              </a:rPr>
              <a:t>have(</a:t>
            </a:r>
            <a:r>
              <a:rPr lang="en-GB" sz="2000" b="0" dirty="0" err="1" smtClean="0">
                <a:solidFill>
                  <a:srgbClr val="FF0000"/>
                </a:solidFill>
                <a:latin typeface="+mn-lt"/>
                <a:sym typeface="Symbol"/>
              </a:rPr>
              <a:t>tweety</a:t>
            </a:r>
            <a:r>
              <a:rPr lang="en-GB" sz="2000" b="0" dirty="0" err="1" smtClean="0">
                <a:latin typeface="+mn-lt"/>
                <a:sym typeface="Symbol"/>
              </a:rPr>
              <a:t>,wings</a:t>
            </a:r>
            <a:r>
              <a:rPr lang="en-GB" sz="2000" b="0" dirty="0" smtClean="0">
                <a:latin typeface="+mn-lt"/>
                <a:sym typeface="Symbol"/>
              </a:rPr>
              <a:t>)  flies(</a:t>
            </a:r>
            <a:r>
              <a:rPr lang="en-GB" sz="2000" b="0" dirty="0" err="1" smtClean="0">
                <a:solidFill>
                  <a:srgbClr val="FF0000"/>
                </a:solidFill>
                <a:latin typeface="+mn-lt"/>
                <a:sym typeface="Symbol"/>
              </a:rPr>
              <a:t>tweety</a:t>
            </a:r>
            <a:r>
              <a:rPr lang="en-GB" sz="2000" b="0" dirty="0" smtClean="0">
                <a:latin typeface="+mn-lt"/>
                <a:sym typeface="Symbol"/>
              </a:rPr>
              <a:t>)  </a:t>
            </a:r>
            <a:r>
              <a:rPr lang="en-GB" sz="2000" b="0" dirty="0" err="1" smtClean="0">
                <a:latin typeface="+mn-lt"/>
                <a:sym typeface="Symbol"/>
              </a:rPr>
              <a:t>isa</a:t>
            </a:r>
            <a:r>
              <a:rPr lang="en-GB" sz="2000" b="0" dirty="0" smtClean="0">
                <a:latin typeface="+mn-lt"/>
                <a:sym typeface="Symbol"/>
              </a:rPr>
              <a:t>(</a:t>
            </a:r>
            <a:r>
              <a:rPr lang="en-GB" sz="2000" b="0" dirty="0" err="1" smtClean="0">
                <a:solidFill>
                  <a:srgbClr val="FF0000"/>
                </a:solidFill>
                <a:latin typeface="+mn-lt"/>
                <a:sym typeface="Symbol"/>
              </a:rPr>
              <a:t>tweety</a:t>
            </a:r>
            <a:r>
              <a:rPr lang="en-GB" sz="2000" b="0" dirty="0" err="1" smtClean="0">
                <a:latin typeface="+mn-lt"/>
                <a:sym typeface="Symbol"/>
              </a:rPr>
              <a:t>,Y</a:t>
            </a:r>
            <a:r>
              <a:rPr lang="en-GB" sz="2000" b="0" dirty="0" smtClean="0">
                <a:latin typeface="+mn-lt"/>
                <a:sym typeface="Symbol"/>
              </a:rPr>
              <a:t>)</a:t>
            </a:r>
            <a:endParaRPr lang="en-US" sz="20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6946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285860"/>
            <a:ext cx="8229600" cy="4929222"/>
          </a:xfrm>
        </p:spPr>
        <p:txBody>
          <a:bodyPr/>
          <a:lstStyle/>
          <a:p>
            <a:pPr marL="609600" indent="-609600"/>
            <a:r>
              <a:rPr lang="en-GB" sz="2400" dirty="0" smtClean="0"/>
              <a:t>Two predicates </a:t>
            </a:r>
            <a:r>
              <a:rPr lang="en-GB" sz="2400" dirty="0" smtClean="0">
                <a:solidFill>
                  <a:srgbClr val="00B0F0"/>
                </a:solidFill>
              </a:rPr>
              <a:t>unify</a:t>
            </a:r>
            <a:r>
              <a:rPr lang="en-GB" sz="2400" dirty="0" smtClean="0"/>
              <a:t> when they pass pattern matching and instantiation test.</a:t>
            </a:r>
          </a:p>
          <a:p>
            <a:pPr marL="609600" indent="-609600"/>
            <a:r>
              <a:rPr lang="en-GB" sz="2400" dirty="0" smtClean="0"/>
              <a:t>E.g.:</a:t>
            </a:r>
            <a:endParaRPr lang="en-GB" sz="2400" dirty="0"/>
          </a:p>
          <a:p>
            <a:pPr marL="973138" lvl="3" indent="-349250">
              <a:buFont typeface="+mj-lt"/>
              <a:buAutoNum type="arabicPeriod"/>
            </a:pPr>
            <a:r>
              <a:rPr lang="en-GB" dirty="0" err="1" smtClean="0"/>
              <a:t>isa</a:t>
            </a:r>
            <a:r>
              <a:rPr lang="en-GB" dirty="0" smtClean="0"/>
              <a:t>(</a:t>
            </a:r>
            <a:r>
              <a:rPr lang="en-GB" dirty="0" err="1" smtClean="0"/>
              <a:t>X,mammal</a:t>
            </a:r>
            <a:r>
              <a:rPr lang="en-GB" dirty="0" smtClean="0"/>
              <a:t>) and </a:t>
            </a:r>
            <a:r>
              <a:rPr lang="en-GB" dirty="0" err="1" smtClean="0"/>
              <a:t>isa</a:t>
            </a:r>
            <a:r>
              <a:rPr lang="en-GB" dirty="0" smtClean="0"/>
              <a:t>(</a:t>
            </a:r>
            <a:r>
              <a:rPr lang="en-GB" dirty="0" err="1" smtClean="0"/>
              <a:t>whale,mammal</a:t>
            </a:r>
            <a:r>
              <a:rPr lang="en-GB" dirty="0" smtClean="0"/>
              <a:t> ) .....  </a:t>
            </a:r>
            <a:r>
              <a:rPr lang="en-GB" b="1" dirty="0" smtClean="0">
                <a:solidFill>
                  <a:srgbClr val="FF0000"/>
                </a:solidFill>
              </a:rPr>
              <a:t>X/whale</a:t>
            </a:r>
            <a:r>
              <a:rPr lang="en-GB" dirty="0" smtClean="0"/>
              <a:t>; </a:t>
            </a:r>
            <a:r>
              <a:rPr lang="en-GB" b="1" dirty="0" err="1" smtClean="0">
                <a:solidFill>
                  <a:srgbClr val="00B0F0"/>
                </a:solidFill>
              </a:rPr>
              <a:t>mammal</a:t>
            </a:r>
            <a:r>
              <a:rPr lang="en-GB" b="1" dirty="0" err="1" smtClean="0">
                <a:solidFill>
                  <a:srgbClr val="00B0F0"/>
                </a:solidFill>
                <a:sym typeface="Symbol"/>
              </a:rPr>
              <a:t>mammal</a:t>
            </a:r>
            <a:endParaRPr lang="en-GB" b="1" dirty="0" smtClean="0">
              <a:solidFill>
                <a:srgbClr val="00B0F0"/>
              </a:solidFill>
            </a:endParaRPr>
          </a:p>
          <a:p>
            <a:pPr marL="973138" lvl="3" indent="-349250">
              <a:buFont typeface="+mj-lt"/>
              <a:buAutoNum type="arabicPeriod"/>
            </a:pPr>
            <a:r>
              <a:rPr lang="en-GB" dirty="0" err="1" smtClean="0"/>
              <a:t>isa</a:t>
            </a:r>
            <a:r>
              <a:rPr lang="en-GB" dirty="0" smtClean="0"/>
              <a:t>(</a:t>
            </a:r>
            <a:r>
              <a:rPr lang="en-GB" dirty="0" err="1" smtClean="0"/>
              <a:t>X,mammal</a:t>
            </a:r>
            <a:r>
              <a:rPr lang="en-GB" dirty="0" smtClean="0"/>
              <a:t>) and </a:t>
            </a:r>
            <a:r>
              <a:rPr lang="en-GB" dirty="0" err="1" smtClean="0"/>
              <a:t>isa</a:t>
            </a:r>
            <a:r>
              <a:rPr lang="en-GB" dirty="0" smtClean="0"/>
              <a:t>(Y,Z) .....  </a:t>
            </a:r>
            <a:r>
              <a:rPr lang="en-GB" b="1" dirty="0" smtClean="0">
                <a:solidFill>
                  <a:srgbClr val="FF0000"/>
                </a:solidFill>
              </a:rPr>
              <a:t>X/Y</a:t>
            </a:r>
            <a:r>
              <a:rPr lang="en-GB" b="1" dirty="0" smtClean="0"/>
              <a:t> </a:t>
            </a:r>
            <a:r>
              <a:rPr lang="en-GB" dirty="0" smtClean="0"/>
              <a:t>or</a:t>
            </a:r>
            <a:r>
              <a:rPr lang="en-GB" b="1" dirty="0" smtClean="0"/>
              <a:t> </a:t>
            </a:r>
            <a:r>
              <a:rPr lang="en-GB" b="1" dirty="0" smtClean="0">
                <a:solidFill>
                  <a:srgbClr val="FF0000"/>
                </a:solidFill>
              </a:rPr>
              <a:t>Y/X</a:t>
            </a:r>
            <a:r>
              <a:rPr lang="en-GB" dirty="0" smtClean="0"/>
              <a:t>; </a:t>
            </a:r>
            <a:r>
              <a:rPr lang="en-GB" b="1" dirty="0" smtClean="0">
                <a:solidFill>
                  <a:srgbClr val="FF0000"/>
                </a:solidFill>
              </a:rPr>
              <a:t>Z/mammal</a:t>
            </a:r>
          </a:p>
          <a:p>
            <a:pPr marL="973138" lvl="3" indent="-349250">
              <a:buFont typeface="+mj-lt"/>
              <a:buAutoNum type="arabicPeriod"/>
            </a:pPr>
            <a:r>
              <a:rPr lang="en-GB" dirty="0" err="1" smtClean="0"/>
              <a:t>isa</a:t>
            </a:r>
            <a:r>
              <a:rPr lang="en-GB" dirty="0" smtClean="0"/>
              <a:t>(X,Y) and </a:t>
            </a:r>
            <a:r>
              <a:rPr lang="en-GB" dirty="0" err="1" smtClean="0"/>
              <a:t>isa</a:t>
            </a:r>
            <a:r>
              <a:rPr lang="en-GB" dirty="0" smtClean="0"/>
              <a:t>(</a:t>
            </a:r>
            <a:r>
              <a:rPr lang="en-GB" dirty="0" err="1" smtClean="0"/>
              <a:t>whale,mammal</a:t>
            </a:r>
            <a:r>
              <a:rPr lang="en-GB" dirty="0" smtClean="0"/>
              <a:t>)  .....  </a:t>
            </a:r>
            <a:r>
              <a:rPr lang="en-GB" b="1" dirty="0" smtClean="0">
                <a:solidFill>
                  <a:srgbClr val="FF0000"/>
                </a:solidFill>
              </a:rPr>
              <a:t>X/whale</a:t>
            </a:r>
            <a:r>
              <a:rPr lang="en-GB" dirty="0" smtClean="0"/>
              <a:t>; </a:t>
            </a:r>
            <a:r>
              <a:rPr lang="en-GB" b="1" dirty="0" smtClean="0">
                <a:solidFill>
                  <a:srgbClr val="FF0000"/>
                </a:solidFill>
              </a:rPr>
              <a:t>Y/mammal</a:t>
            </a:r>
          </a:p>
          <a:p>
            <a:pPr marL="973138" lvl="3" indent="-349250">
              <a:buFont typeface="+mj-lt"/>
              <a:buAutoNum type="arabicPeriod"/>
            </a:pPr>
            <a:r>
              <a:rPr lang="en-GB" dirty="0" err="1" smtClean="0"/>
              <a:t>isa</a:t>
            </a:r>
            <a:r>
              <a:rPr lang="en-GB" dirty="0" smtClean="0"/>
              <a:t>(X,Y) and </a:t>
            </a:r>
            <a:r>
              <a:rPr lang="en-GB" dirty="0" err="1" smtClean="0"/>
              <a:t>isa</a:t>
            </a:r>
            <a:r>
              <a:rPr lang="en-GB" dirty="0" smtClean="0"/>
              <a:t>(</a:t>
            </a:r>
            <a:r>
              <a:rPr lang="en-GB" dirty="0" err="1" smtClean="0"/>
              <a:t>whale,fish</a:t>
            </a:r>
            <a:r>
              <a:rPr lang="en-GB" dirty="0" smtClean="0"/>
              <a:t>) .....  </a:t>
            </a:r>
            <a:r>
              <a:rPr lang="en-GB" b="1" dirty="0" smtClean="0">
                <a:solidFill>
                  <a:srgbClr val="FF0000"/>
                </a:solidFill>
              </a:rPr>
              <a:t>X/whale</a:t>
            </a:r>
            <a:r>
              <a:rPr lang="en-GB" dirty="0" smtClean="0"/>
              <a:t>; </a:t>
            </a:r>
            <a:r>
              <a:rPr lang="en-GB" b="1" dirty="0" smtClean="0">
                <a:solidFill>
                  <a:srgbClr val="FF0000"/>
                </a:solidFill>
              </a:rPr>
              <a:t>Y/fish</a:t>
            </a:r>
          </a:p>
          <a:p>
            <a:pPr marL="973138" lvl="3" indent="-349250">
              <a:buFont typeface="+mj-lt"/>
              <a:buAutoNum type="arabicPeriod"/>
            </a:pPr>
            <a:r>
              <a:rPr lang="en-GB" dirty="0" err="1" smtClean="0"/>
              <a:t>isa</a:t>
            </a:r>
            <a:r>
              <a:rPr lang="en-GB" dirty="0" smtClean="0"/>
              <a:t>(X,Y) and </a:t>
            </a:r>
            <a:r>
              <a:rPr lang="en-GB" dirty="0" err="1" smtClean="0"/>
              <a:t>isa</a:t>
            </a:r>
            <a:r>
              <a:rPr lang="en-GB" dirty="0" smtClean="0"/>
              <a:t>(P,Q) ..... </a:t>
            </a:r>
            <a:r>
              <a:rPr lang="en-GB" b="1" dirty="0" smtClean="0">
                <a:solidFill>
                  <a:srgbClr val="FF0000"/>
                </a:solidFill>
              </a:rPr>
              <a:t>X/P</a:t>
            </a:r>
            <a:r>
              <a:rPr lang="en-GB" dirty="0" smtClean="0"/>
              <a:t> or </a:t>
            </a:r>
            <a:r>
              <a:rPr lang="en-GB" b="1" dirty="0" smtClean="0">
                <a:solidFill>
                  <a:srgbClr val="FF0000"/>
                </a:solidFill>
              </a:rPr>
              <a:t>P/X</a:t>
            </a:r>
            <a:r>
              <a:rPr lang="en-GB" dirty="0" smtClean="0"/>
              <a:t>; </a:t>
            </a:r>
            <a:r>
              <a:rPr lang="en-GB" b="1" dirty="0" smtClean="0">
                <a:solidFill>
                  <a:srgbClr val="FF0000"/>
                </a:solidFill>
              </a:rPr>
              <a:t>Y/Q</a:t>
            </a:r>
            <a:r>
              <a:rPr lang="en-GB" dirty="0" smtClean="0"/>
              <a:t> or </a:t>
            </a:r>
            <a:r>
              <a:rPr lang="en-GB" b="1" dirty="0" smtClean="0">
                <a:solidFill>
                  <a:srgbClr val="FF0000"/>
                </a:solidFill>
              </a:rPr>
              <a:t>Q/Y</a:t>
            </a:r>
          </a:p>
          <a:p>
            <a:pPr marL="973138" lvl="3" indent="-349250">
              <a:buFont typeface="+mj-lt"/>
              <a:buAutoNum type="arabicPeriod"/>
            </a:pPr>
            <a:r>
              <a:rPr lang="en-GB" dirty="0" err="1" smtClean="0"/>
              <a:t>isa</a:t>
            </a:r>
            <a:r>
              <a:rPr lang="en-GB" dirty="0" smtClean="0"/>
              <a:t>(</a:t>
            </a:r>
            <a:r>
              <a:rPr lang="en-GB" dirty="0" err="1" smtClean="0"/>
              <a:t>X,Mammal</a:t>
            </a:r>
            <a:r>
              <a:rPr lang="en-GB" dirty="0" smtClean="0"/>
              <a:t>) and </a:t>
            </a:r>
            <a:r>
              <a:rPr lang="en-GB" dirty="0" err="1" smtClean="0"/>
              <a:t>isa</a:t>
            </a:r>
            <a:r>
              <a:rPr lang="en-GB" dirty="0" smtClean="0"/>
              <a:t>(</a:t>
            </a:r>
            <a:r>
              <a:rPr lang="en-GB" dirty="0" err="1" smtClean="0"/>
              <a:t>Whale,mammal</a:t>
            </a:r>
            <a:r>
              <a:rPr lang="en-GB" dirty="0" smtClean="0"/>
              <a:t>) .....  </a:t>
            </a:r>
            <a:r>
              <a:rPr lang="en-GB" b="1" dirty="0" smtClean="0">
                <a:solidFill>
                  <a:srgbClr val="FF0000"/>
                </a:solidFill>
              </a:rPr>
              <a:t>X/Whale</a:t>
            </a:r>
            <a:r>
              <a:rPr lang="en-GB" dirty="0" smtClean="0"/>
              <a:t> or </a:t>
            </a:r>
            <a:r>
              <a:rPr lang="en-GB" b="1" dirty="0" smtClean="0">
                <a:solidFill>
                  <a:srgbClr val="FF0000"/>
                </a:solidFill>
              </a:rPr>
              <a:t>Whale/X</a:t>
            </a:r>
            <a:r>
              <a:rPr lang="en-GB" dirty="0" smtClean="0"/>
              <a:t>; </a:t>
            </a:r>
            <a:r>
              <a:rPr lang="en-GB" b="1" dirty="0" smtClean="0">
                <a:solidFill>
                  <a:srgbClr val="FF0000"/>
                </a:solidFill>
              </a:rPr>
              <a:t>Mammal/mammal</a:t>
            </a:r>
          </a:p>
          <a:p>
            <a:pPr marL="973138" lvl="3" indent="-349250">
              <a:buFont typeface="+mj-lt"/>
              <a:buAutoNum type="arabicPeriod"/>
            </a:pPr>
            <a:r>
              <a:rPr lang="en-GB" dirty="0" err="1" smtClean="0"/>
              <a:t>isa</a:t>
            </a:r>
            <a:r>
              <a:rPr lang="en-GB" dirty="0" smtClean="0"/>
              <a:t>(X,Y) and </a:t>
            </a:r>
            <a:r>
              <a:rPr lang="en-GB" dirty="0" err="1" smtClean="0"/>
              <a:t>isa</a:t>
            </a:r>
            <a:r>
              <a:rPr lang="en-GB" dirty="0" smtClean="0"/>
              <a:t>(</a:t>
            </a:r>
            <a:r>
              <a:rPr lang="en-GB" dirty="0" err="1" smtClean="0"/>
              <a:t>whale,X</a:t>
            </a:r>
            <a:r>
              <a:rPr lang="en-GB" dirty="0" smtClean="0"/>
              <a:t>) ..... </a:t>
            </a:r>
            <a:r>
              <a:rPr lang="en-GB" b="1" dirty="0" smtClean="0">
                <a:solidFill>
                  <a:srgbClr val="FF0000"/>
                </a:solidFill>
              </a:rPr>
              <a:t>X/whale</a:t>
            </a:r>
            <a:r>
              <a:rPr lang="en-GB" dirty="0" smtClean="0"/>
              <a:t>; </a:t>
            </a:r>
            <a:r>
              <a:rPr lang="en-GB" b="1" dirty="0" smtClean="0">
                <a:solidFill>
                  <a:srgbClr val="FF0000"/>
                </a:solidFill>
              </a:rPr>
              <a:t>Y/whale</a:t>
            </a:r>
          </a:p>
          <a:p>
            <a:pPr marL="1387475" lvl="3" indent="-609600">
              <a:buFont typeface="+mj-lt"/>
              <a:buAutoNum type="arabicPeriod"/>
            </a:pPr>
            <a:endParaRPr lang="en-GB" dirty="0" smtClean="0"/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>
            <a:normAutofit/>
          </a:bodyPr>
          <a:lstStyle/>
          <a:p>
            <a:r>
              <a:rPr lang="en-US" dirty="0" smtClean="0"/>
              <a:t>Concept 3: Unification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749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 tmFilter="0,0; .5, 1; 1, 1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 tmFilter="0,0; .5, 1; 1, 1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 tmFilter="0,0; .5, 1; 1, 1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 tmFilter="0,0; .5, 1; 1, 1"/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 tmFilter="0,0; .5, 1; 1, 1"/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571612"/>
            <a:ext cx="8229600" cy="4929222"/>
          </a:xfrm>
        </p:spPr>
        <p:txBody>
          <a:bodyPr/>
          <a:lstStyle/>
          <a:p>
            <a:pPr marL="609600" indent="-609600"/>
            <a:r>
              <a:rPr lang="en-GB" sz="2800" dirty="0" smtClean="0"/>
              <a:t>Two predicates </a:t>
            </a:r>
            <a:r>
              <a:rPr lang="en-GB" sz="2800" dirty="0" smtClean="0">
                <a:solidFill>
                  <a:srgbClr val="00B0F0"/>
                </a:solidFill>
              </a:rPr>
              <a:t>cannot unify</a:t>
            </a:r>
            <a:r>
              <a:rPr lang="en-GB" sz="2800" dirty="0" smtClean="0"/>
              <a:t> if they failed pattern matching and/or instantiation test.</a:t>
            </a:r>
          </a:p>
          <a:p>
            <a:pPr marL="609600" indent="-609600"/>
            <a:r>
              <a:rPr lang="en-GB" sz="2800" dirty="0" smtClean="0"/>
              <a:t>E.g.:</a:t>
            </a:r>
            <a:endParaRPr lang="en-GB" sz="2800" dirty="0"/>
          </a:p>
          <a:p>
            <a:pPr marL="973138" lvl="3" indent="-349250">
              <a:buFont typeface="+mj-lt"/>
              <a:buAutoNum type="arabicPeriod"/>
            </a:pPr>
            <a:r>
              <a:rPr lang="en-GB" dirty="0" err="1" smtClean="0"/>
              <a:t>isa</a:t>
            </a:r>
            <a:r>
              <a:rPr lang="en-GB" dirty="0" smtClean="0"/>
              <a:t>(</a:t>
            </a:r>
            <a:r>
              <a:rPr lang="en-GB" dirty="0" err="1" smtClean="0"/>
              <a:t>X,mammal</a:t>
            </a:r>
            <a:r>
              <a:rPr lang="en-GB" dirty="0" smtClean="0"/>
              <a:t>) and </a:t>
            </a:r>
            <a:r>
              <a:rPr lang="en-GB" dirty="0" err="1" smtClean="0"/>
              <a:t>isa</a:t>
            </a:r>
            <a:r>
              <a:rPr lang="en-GB" dirty="0" smtClean="0"/>
              <a:t>(</a:t>
            </a:r>
            <a:r>
              <a:rPr lang="en-GB" dirty="0" err="1" smtClean="0"/>
              <a:t>whale,fish</a:t>
            </a:r>
            <a:r>
              <a:rPr lang="en-GB" dirty="0" smtClean="0"/>
              <a:t> ) ..... </a:t>
            </a:r>
            <a:r>
              <a:rPr lang="en-GB" b="1" dirty="0" smtClean="0">
                <a:solidFill>
                  <a:srgbClr val="00B050"/>
                </a:solidFill>
              </a:rPr>
              <a:t>mammal </a:t>
            </a:r>
            <a:r>
              <a:rPr lang="en-GB" b="1" dirty="0" smtClean="0">
                <a:solidFill>
                  <a:srgbClr val="00B050"/>
                </a:solidFill>
                <a:sym typeface="Symbol"/>
              </a:rPr>
              <a:t> fish</a:t>
            </a:r>
            <a:endParaRPr lang="en-GB" b="1" dirty="0" smtClean="0">
              <a:solidFill>
                <a:srgbClr val="00B050"/>
              </a:solidFill>
            </a:endParaRPr>
          </a:p>
          <a:p>
            <a:pPr marL="973138" lvl="3" indent="-349250">
              <a:buFont typeface="+mj-lt"/>
              <a:buAutoNum type="arabicPeriod"/>
            </a:pPr>
            <a:r>
              <a:rPr lang="en-GB" dirty="0" err="1" smtClean="0"/>
              <a:t>isa</a:t>
            </a:r>
            <a:r>
              <a:rPr lang="en-GB" dirty="0" smtClean="0"/>
              <a:t>(</a:t>
            </a:r>
            <a:r>
              <a:rPr lang="en-GB" dirty="0" err="1" smtClean="0"/>
              <a:t>X,mammal</a:t>
            </a:r>
            <a:r>
              <a:rPr lang="en-GB" dirty="0" smtClean="0"/>
              <a:t>) and is(Y,Z) ..... </a:t>
            </a:r>
            <a:r>
              <a:rPr lang="en-GB" b="1" dirty="0" err="1" smtClean="0">
                <a:solidFill>
                  <a:srgbClr val="00B050"/>
                </a:solidFill>
              </a:rPr>
              <a:t>isa</a:t>
            </a:r>
            <a:r>
              <a:rPr lang="en-GB" b="1" dirty="0" smtClean="0">
                <a:solidFill>
                  <a:srgbClr val="00B050"/>
                </a:solidFill>
              </a:rPr>
              <a:t> </a:t>
            </a:r>
            <a:r>
              <a:rPr lang="en-GB" b="1" dirty="0" smtClean="0">
                <a:solidFill>
                  <a:srgbClr val="00B050"/>
                </a:solidFill>
                <a:sym typeface="Symbol"/>
              </a:rPr>
              <a:t> is</a:t>
            </a:r>
            <a:endParaRPr lang="en-GB" b="1" dirty="0" smtClean="0">
              <a:solidFill>
                <a:srgbClr val="00B050"/>
              </a:solidFill>
            </a:endParaRPr>
          </a:p>
          <a:p>
            <a:pPr marL="973138" lvl="3" indent="-349250">
              <a:buFont typeface="+mj-lt"/>
              <a:buAutoNum type="arabicPeriod"/>
            </a:pPr>
            <a:r>
              <a:rPr lang="en-GB" dirty="0" err="1" smtClean="0"/>
              <a:t>isa</a:t>
            </a:r>
            <a:r>
              <a:rPr lang="en-GB" dirty="0" smtClean="0"/>
              <a:t>(X,Y) and </a:t>
            </a:r>
            <a:r>
              <a:rPr lang="en-GB" dirty="0" err="1" smtClean="0"/>
              <a:t>isa</a:t>
            </a:r>
            <a:r>
              <a:rPr lang="en-GB" dirty="0" smtClean="0"/>
              <a:t>(</a:t>
            </a:r>
            <a:r>
              <a:rPr lang="en-GB" dirty="0" err="1" smtClean="0"/>
              <a:t>whale,mammal,animal</a:t>
            </a:r>
            <a:r>
              <a:rPr lang="en-GB" dirty="0" smtClean="0"/>
              <a:t>)  ..... </a:t>
            </a:r>
            <a:r>
              <a:rPr lang="en-GB" b="1" dirty="0" smtClean="0">
                <a:solidFill>
                  <a:srgbClr val="FFC000"/>
                </a:solidFill>
              </a:rPr>
              <a:t>different # of arguments</a:t>
            </a:r>
          </a:p>
          <a:p>
            <a:pPr marL="973138" lvl="3" indent="-349250">
              <a:buFont typeface="+mj-lt"/>
              <a:buAutoNum type="arabicPeriod"/>
            </a:pPr>
            <a:r>
              <a:rPr lang="en-GB" dirty="0" err="1" smtClean="0"/>
              <a:t>isa</a:t>
            </a:r>
            <a:r>
              <a:rPr lang="en-GB" dirty="0" smtClean="0"/>
              <a:t>(X,X) and </a:t>
            </a:r>
            <a:r>
              <a:rPr lang="en-GB" dirty="0" err="1" smtClean="0"/>
              <a:t>isa</a:t>
            </a:r>
            <a:r>
              <a:rPr lang="en-GB" dirty="0" smtClean="0"/>
              <a:t>(</a:t>
            </a:r>
            <a:r>
              <a:rPr lang="en-GB" dirty="0" err="1" smtClean="0"/>
              <a:t>whale,mammal</a:t>
            </a:r>
            <a:r>
              <a:rPr lang="en-GB" dirty="0" smtClean="0"/>
              <a:t>) .....  </a:t>
            </a:r>
            <a:r>
              <a:rPr lang="en-GB" b="1" dirty="0" smtClean="0">
                <a:solidFill>
                  <a:srgbClr val="00B050"/>
                </a:solidFill>
              </a:rPr>
              <a:t>whale </a:t>
            </a:r>
            <a:r>
              <a:rPr lang="en-GB" b="1" dirty="0" smtClean="0">
                <a:solidFill>
                  <a:srgbClr val="00B050"/>
                </a:solidFill>
                <a:sym typeface="Symbol"/>
              </a:rPr>
              <a:t> mammal</a:t>
            </a:r>
            <a:endParaRPr lang="en-GB" b="1" dirty="0" smtClean="0">
              <a:solidFill>
                <a:srgbClr val="00B050"/>
              </a:solidFill>
            </a:endParaRPr>
          </a:p>
          <a:p>
            <a:pPr marL="973138" lvl="3" indent="-349250">
              <a:buFont typeface="+mj-lt"/>
              <a:buAutoNum type="arabicPeriod"/>
            </a:pPr>
            <a:r>
              <a:rPr lang="en-GB" dirty="0" err="1" smtClean="0"/>
              <a:t>isa</a:t>
            </a:r>
            <a:r>
              <a:rPr lang="en-GB" dirty="0" smtClean="0"/>
              <a:t>(</a:t>
            </a:r>
            <a:r>
              <a:rPr lang="en-GB" dirty="0" err="1" smtClean="0"/>
              <a:t>X,mammal</a:t>
            </a:r>
            <a:r>
              <a:rPr lang="en-GB" dirty="0" smtClean="0"/>
              <a:t>) and </a:t>
            </a:r>
            <a:r>
              <a:rPr lang="en-GB" dirty="0" err="1" smtClean="0"/>
              <a:t>isa</a:t>
            </a:r>
            <a:r>
              <a:rPr lang="en-GB" dirty="0" smtClean="0"/>
              <a:t>(</a:t>
            </a:r>
            <a:r>
              <a:rPr lang="en-GB" dirty="0" err="1" smtClean="0"/>
              <a:t>whale,X</a:t>
            </a:r>
            <a:r>
              <a:rPr lang="en-GB" dirty="0" smtClean="0"/>
              <a:t>) ..... </a:t>
            </a:r>
            <a:r>
              <a:rPr lang="en-GB" b="1" dirty="0" smtClean="0">
                <a:solidFill>
                  <a:srgbClr val="FF0000"/>
                </a:solidFill>
              </a:rPr>
              <a:t>X/whale</a:t>
            </a:r>
            <a:r>
              <a:rPr lang="en-GB" dirty="0" smtClean="0"/>
              <a:t>; </a:t>
            </a:r>
            <a:r>
              <a:rPr lang="en-GB" b="1" dirty="0" smtClean="0">
                <a:solidFill>
                  <a:srgbClr val="FF0000"/>
                </a:solidFill>
              </a:rPr>
              <a:t>X/mammal</a:t>
            </a:r>
            <a:endParaRPr lang="en-GB" b="1" dirty="0" smtClean="0"/>
          </a:p>
          <a:p>
            <a:pPr marL="973138" lvl="3" indent="-349250">
              <a:buFont typeface="+mj-lt"/>
              <a:buAutoNum type="arabicPeriod"/>
            </a:pPr>
            <a:r>
              <a:rPr lang="en-GB" dirty="0" smtClean="0"/>
              <a:t>What about ‘teach(X, math) and ‘teach(she, math)’?  Are they unifying? </a:t>
            </a: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>
            <a:normAutofit/>
          </a:bodyPr>
          <a:lstStyle/>
          <a:p>
            <a:r>
              <a:rPr lang="en-US" dirty="0" smtClean="0"/>
              <a:t>Concept 3: Unification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686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Entailment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000000"/>
                </a:solidFill>
                <a:latin typeface="Helvetica"/>
              </a:rPr>
              <a:t>Entailment means that “one thing follows from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0000"/>
                </a:solidFill>
                <a:latin typeface="Helvetica"/>
              </a:rPr>
              <a:t> another</a:t>
            </a:r>
            <a:r>
              <a:rPr lang="en-US" dirty="0">
                <a:solidFill>
                  <a:srgbClr val="000000"/>
                </a:solidFill>
                <a:latin typeface="Helvetica"/>
              </a:rPr>
              <a:t>”</a:t>
            </a:r>
          </a:p>
          <a:p>
            <a:pPr marL="0" indent="0">
              <a:buNone/>
            </a:pPr>
            <a:r>
              <a:rPr lang="en-US" sz="4400" dirty="0" smtClean="0">
                <a:solidFill>
                  <a:srgbClr val="000000"/>
                </a:solidFill>
                <a:latin typeface="Helvetica"/>
              </a:rPr>
              <a:t> - </a:t>
            </a:r>
            <a:r>
              <a:rPr lang="en-US" sz="2400" dirty="0">
                <a:solidFill>
                  <a:srgbClr val="000000"/>
                </a:solidFill>
                <a:latin typeface="Helvetica"/>
              </a:rPr>
              <a:t>KB |= </a:t>
            </a:r>
            <a:r>
              <a:rPr lang="el-GR" sz="2400" dirty="0">
                <a:solidFill>
                  <a:srgbClr val="000000"/>
                </a:solidFill>
                <a:latin typeface="Helvetica"/>
              </a:rPr>
              <a:t>α</a:t>
            </a:r>
          </a:p>
          <a:p>
            <a:r>
              <a:rPr lang="en-US" dirty="0" smtClean="0">
                <a:solidFill>
                  <a:srgbClr val="000000"/>
                </a:solidFill>
                <a:latin typeface="Helvetica"/>
              </a:rPr>
              <a:t>Knowledge </a:t>
            </a:r>
            <a:r>
              <a:rPr lang="en-US" dirty="0">
                <a:solidFill>
                  <a:srgbClr val="000000"/>
                </a:solidFill>
                <a:latin typeface="Helvetica"/>
              </a:rPr>
              <a:t>base (KB) </a:t>
            </a:r>
            <a:r>
              <a:rPr lang="en-US" b="1" dirty="0">
                <a:solidFill>
                  <a:srgbClr val="6E0500"/>
                </a:solidFill>
                <a:latin typeface="Helvetica-Bold"/>
              </a:rPr>
              <a:t>entails </a:t>
            </a:r>
            <a:r>
              <a:rPr lang="en-US" dirty="0">
                <a:solidFill>
                  <a:srgbClr val="000000"/>
                </a:solidFill>
                <a:latin typeface="Helvetica"/>
              </a:rPr>
              <a:t>sentence α if and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Helvetica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Helvetica"/>
              </a:rPr>
              <a:t>only </a:t>
            </a:r>
            <a:r>
              <a:rPr lang="en-US" dirty="0">
                <a:solidFill>
                  <a:srgbClr val="000000"/>
                </a:solidFill>
                <a:latin typeface="Helvetica"/>
              </a:rPr>
              <a:t>if α is true in all possible worlds where KB is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0000"/>
                </a:solidFill>
                <a:latin typeface="Helvetica"/>
              </a:rPr>
              <a:t> true</a:t>
            </a:r>
            <a:endParaRPr lang="en-US" dirty="0">
              <a:solidFill>
                <a:srgbClr val="000000"/>
              </a:solidFill>
              <a:latin typeface="Helvetica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Helvetica"/>
              </a:rPr>
              <a:t>Example</a:t>
            </a:r>
            <a:r>
              <a:rPr lang="en-US" dirty="0">
                <a:solidFill>
                  <a:srgbClr val="000000"/>
                </a:solidFill>
                <a:latin typeface="Helvetica"/>
              </a:rPr>
              <a:t>:</a:t>
            </a:r>
          </a:p>
          <a:p>
            <a:r>
              <a:rPr lang="en-US" sz="4400" dirty="0">
                <a:solidFill>
                  <a:srgbClr val="000000"/>
                </a:solidFill>
                <a:latin typeface="Helvetica"/>
              </a:rPr>
              <a:t>- </a:t>
            </a:r>
            <a:r>
              <a:rPr lang="en-US" sz="2400" dirty="0">
                <a:solidFill>
                  <a:srgbClr val="000000"/>
                </a:solidFill>
                <a:latin typeface="Helvetica"/>
              </a:rPr>
              <a:t>KB: I finished the AI assignment. I am happy</a:t>
            </a:r>
          </a:p>
          <a:p>
            <a:r>
              <a:rPr lang="en-US" sz="4400" dirty="0">
                <a:solidFill>
                  <a:srgbClr val="000000"/>
                </a:solidFill>
                <a:latin typeface="Helvetica"/>
              </a:rPr>
              <a:t>- </a:t>
            </a:r>
            <a:r>
              <a:rPr lang="en-US" sz="2400" dirty="0">
                <a:solidFill>
                  <a:srgbClr val="000000"/>
                </a:solidFill>
                <a:latin typeface="Helvetica"/>
              </a:rPr>
              <a:t>α: I finished the AI assignment and I am happy.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2368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inference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Logical inference problem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Given:</a:t>
            </a:r>
          </a:p>
          <a:p>
            <a:pPr marL="0" indent="0">
              <a:buNone/>
            </a:pPr>
            <a:r>
              <a:rPr lang="en-US" dirty="0" smtClean="0"/>
              <a:t>	– </a:t>
            </a:r>
            <a:r>
              <a:rPr lang="en-US" dirty="0"/>
              <a:t>a knowledge base KB (a set of sentences) and</a:t>
            </a:r>
          </a:p>
          <a:p>
            <a:pPr marL="0" indent="0">
              <a:buNone/>
            </a:pPr>
            <a:r>
              <a:rPr lang="en-US" dirty="0" smtClean="0"/>
              <a:t>	– </a:t>
            </a:r>
            <a:r>
              <a:rPr lang="en-US" dirty="0"/>
              <a:t>a </a:t>
            </a:r>
            <a:r>
              <a:rPr lang="en-US" dirty="0" smtClean="0"/>
              <a:t>sentence </a:t>
            </a:r>
            <a:r>
              <a:rPr lang="el-GR" dirty="0" smtClean="0"/>
              <a:t>α</a:t>
            </a:r>
            <a:r>
              <a:rPr lang="en-US" dirty="0" smtClean="0"/>
              <a:t> </a:t>
            </a:r>
            <a:r>
              <a:rPr lang="en-US" dirty="0"/>
              <a:t>(called </a:t>
            </a:r>
            <a:r>
              <a:rPr lang="en-US" b="1" dirty="0"/>
              <a:t>a theorem)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Does a KB semantically entail </a:t>
            </a:r>
            <a:r>
              <a:rPr lang="en-US" b="1" dirty="0" smtClean="0"/>
              <a:t> </a:t>
            </a:r>
            <a:r>
              <a:rPr lang="el-GR" dirty="0"/>
              <a:t>α</a:t>
            </a:r>
            <a:r>
              <a:rPr lang="en-US" dirty="0" smtClean="0"/>
              <a:t>?</a:t>
            </a:r>
            <a:r>
              <a:rPr lang="en-US" i="1" dirty="0"/>
              <a:t> KB </a:t>
            </a:r>
            <a:r>
              <a:rPr lang="en-US" dirty="0"/>
              <a:t>|=</a:t>
            </a:r>
            <a:r>
              <a:rPr lang="el-GR" dirty="0"/>
              <a:t>α ?</a:t>
            </a:r>
            <a:r>
              <a:rPr lang="en-US" dirty="0" smtClean="0"/>
              <a:t> </a:t>
            </a:r>
            <a:endParaRPr lang="en-US" dirty="0"/>
          </a:p>
          <a:p>
            <a:r>
              <a:rPr lang="en-US" dirty="0"/>
              <a:t>In other words: In all interpretations in which sentences in the</a:t>
            </a:r>
          </a:p>
          <a:p>
            <a:pPr marL="0" indent="0">
              <a:buNone/>
            </a:pPr>
            <a:r>
              <a:rPr lang="en-US" dirty="0" smtClean="0"/>
              <a:t>       KB </a:t>
            </a:r>
            <a:r>
              <a:rPr lang="en-US" dirty="0"/>
              <a:t>are true, is also </a:t>
            </a:r>
            <a:r>
              <a:rPr lang="en-US" dirty="0" smtClean="0"/>
              <a:t>true </a:t>
            </a:r>
            <a:r>
              <a:rPr lang="el-GR" dirty="0"/>
              <a:t>α</a:t>
            </a:r>
            <a:r>
              <a:rPr lang="en-US" dirty="0" smtClean="0"/>
              <a:t>?</a:t>
            </a:r>
            <a:endParaRPr lang="en-US" dirty="0"/>
          </a:p>
          <a:p>
            <a:r>
              <a:rPr lang="en-US" b="1" dirty="0"/>
              <a:t>Question: </a:t>
            </a:r>
            <a:r>
              <a:rPr lang="en-US" dirty="0"/>
              <a:t>Is there a procedure (program) that can decide this</a:t>
            </a:r>
          </a:p>
          <a:p>
            <a:pPr marL="0" indent="0">
              <a:buNone/>
            </a:pPr>
            <a:r>
              <a:rPr lang="en-US" dirty="0" smtClean="0"/>
              <a:t>	problem </a:t>
            </a:r>
            <a:r>
              <a:rPr lang="en-US" dirty="0"/>
              <a:t>in a finite number of steps?</a:t>
            </a:r>
          </a:p>
          <a:p>
            <a:r>
              <a:rPr lang="en-US" b="1" dirty="0"/>
              <a:t>Answer: Yes</a:t>
            </a:r>
            <a:r>
              <a:rPr lang="en-US" dirty="0"/>
              <a:t>. Logical inference problem for the propositional</a:t>
            </a:r>
          </a:p>
          <a:p>
            <a:pPr marL="0" indent="0">
              <a:buNone/>
            </a:pPr>
            <a:r>
              <a:rPr lang="en-US" dirty="0" smtClean="0"/>
              <a:t>	logic </a:t>
            </a:r>
            <a:r>
              <a:rPr lang="en-US" dirty="0"/>
              <a:t>is </a:t>
            </a:r>
            <a:r>
              <a:rPr lang="en-US" b="1" dirty="0"/>
              <a:t>decidable</a:t>
            </a:r>
            <a:r>
              <a:rPr lang="en-US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42054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Solving logical inference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NewRoman"/>
              </a:rPr>
              <a:t>In the following:</a:t>
            </a:r>
          </a:p>
          <a:p>
            <a:r>
              <a:rPr lang="en-US" b="1" dirty="0">
                <a:solidFill>
                  <a:srgbClr val="0000FF"/>
                </a:solidFill>
                <a:latin typeface="TimesNewRoman,Bold"/>
              </a:rPr>
              <a:t>How to design the procedure that answers:</a:t>
            </a:r>
          </a:p>
          <a:p>
            <a:r>
              <a:rPr lang="en-US" b="1" dirty="0">
                <a:solidFill>
                  <a:srgbClr val="0000FF"/>
                </a:solidFill>
                <a:latin typeface="TimesNewRoman,Bold"/>
              </a:rPr>
              <a:t>Three approaches: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0000"/>
                </a:solidFill>
                <a:latin typeface="TimesNewRoman"/>
              </a:rPr>
              <a:t>	• </a:t>
            </a:r>
            <a:r>
              <a:rPr lang="en-US" b="1" dirty="0">
                <a:solidFill>
                  <a:srgbClr val="000000"/>
                </a:solidFill>
                <a:latin typeface="TimesNewRoman,Bold"/>
              </a:rPr>
              <a:t>Truth-table approach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0000"/>
                </a:solidFill>
                <a:latin typeface="TimesNewRoman"/>
              </a:rPr>
              <a:t>	• </a:t>
            </a:r>
            <a:r>
              <a:rPr lang="en-US" b="1" dirty="0">
                <a:solidFill>
                  <a:srgbClr val="000000"/>
                </a:solidFill>
                <a:latin typeface="TimesNewRoman,Bold"/>
              </a:rPr>
              <a:t>Inference </a:t>
            </a:r>
            <a:r>
              <a:rPr lang="en-US" b="1" dirty="0" smtClean="0">
                <a:solidFill>
                  <a:srgbClr val="000000"/>
                </a:solidFill>
                <a:latin typeface="TimesNewRoman,Bold"/>
              </a:rPr>
              <a:t>rules</a:t>
            </a:r>
            <a:endParaRPr lang="en-US" b="1" dirty="0">
              <a:solidFill>
                <a:srgbClr val="000000"/>
              </a:solidFill>
              <a:latin typeface="TimesNewRoman,Bold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000000"/>
                </a:solidFill>
                <a:latin typeface="TimesNewRoman"/>
              </a:rPr>
              <a:t>	– </a:t>
            </a:r>
            <a:r>
              <a:rPr lang="en-US" b="1" dirty="0" smtClean="0">
                <a:solidFill>
                  <a:srgbClr val="000000"/>
                </a:solidFill>
                <a:latin typeface="TimesNewRoman,Bold"/>
              </a:rPr>
              <a:t>Resolution-refutation</a:t>
            </a:r>
            <a:endParaRPr lang="en-US" b="1" dirty="0">
              <a:solidFill>
                <a:srgbClr val="000000"/>
              </a:solidFill>
              <a:latin typeface="TimesNewRoman,Bold"/>
            </a:endParaRPr>
          </a:p>
          <a:p>
            <a:pPr lvl="2"/>
            <a:r>
              <a:rPr lang="en-US" i="1" dirty="0">
                <a:solidFill>
                  <a:srgbClr val="000000"/>
                </a:solidFill>
                <a:latin typeface="TimesNewRoman,Italic"/>
              </a:rPr>
              <a:t>KB </a:t>
            </a:r>
            <a:r>
              <a:rPr lang="en-US" dirty="0">
                <a:solidFill>
                  <a:srgbClr val="000000"/>
                </a:solidFill>
                <a:latin typeface="TimesNewRoman"/>
              </a:rPr>
              <a:t>|</a:t>
            </a:r>
            <a:r>
              <a:rPr lang="en-US" dirty="0">
                <a:solidFill>
                  <a:srgbClr val="000000"/>
                </a:solidFill>
                <a:latin typeface="SymbolMT"/>
              </a:rPr>
              <a:t>=</a:t>
            </a:r>
            <a:r>
              <a:rPr lang="el-GR" dirty="0">
                <a:solidFill>
                  <a:srgbClr val="000000"/>
                </a:solidFill>
                <a:latin typeface="SymbolMT"/>
              </a:rPr>
              <a:t>α </a:t>
            </a:r>
            <a:r>
              <a:rPr lang="el-GR" dirty="0">
                <a:solidFill>
                  <a:srgbClr val="000000"/>
                </a:solidFill>
                <a:latin typeface="TimesNewRoman"/>
              </a:rPr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4510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Truth-table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 two steps procedure:</a:t>
            </a:r>
          </a:p>
          <a:p>
            <a:r>
              <a:rPr lang="en-US" b="1" dirty="0"/>
              <a:t>1. Generate table for all possible interpretations</a:t>
            </a:r>
          </a:p>
          <a:p>
            <a:r>
              <a:rPr lang="en-US" dirty="0"/>
              <a:t>2. Check whether the </a:t>
            </a:r>
            <a:r>
              <a:rPr lang="en-US" dirty="0" smtClean="0"/>
              <a:t>sentence </a:t>
            </a:r>
            <a:r>
              <a:rPr lang="el-GR" dirty="0"/>
              <a:t>α</a:t>
            </a:r>
            <a:r>
              <a:rPr lang="en-US" dirty="0" smtClean="0"/>
              <a:t> </a:t>
            </a:r>
            <a:r>
              <a:rPr lang="en-US" dirty="0"/>
              <a:t>evaluates to true whenever </a:t>
            </a:r>
            <a:r>
              <a:rPr lang="en-US" i="1" dirty="0" smtClean="0"/>
              <a:t>KB </a:t>
            </a:r>
            <a:r>
              <a:rPr lang="en-US" dirty="0" smtClean="0"/>
              <a:t>evaluates </a:t>
            </a:r>
            <a:r>
              <a:rPr lang="en-US" dirty="0"/>
              <a:t>to true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5104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10" t="44641" r="34766" b="20388"/>
          <a:stretch/>
        </p:blipFill>
        <p:spPr bwMode="auto">
          <a:xfrm>
            <a:off x="609600" y="2438400"/>
            <a:ext cx="7772400" cy="3741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06000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A two steps procedure:</a:t>
            </a:r>
          </a:p>
          <a:p>
            <a:r>
              <a:rPr lang="en-US" sz="2000" dirty="0"/>
              <a:t>1. Generate table for all possible interpretations</a:t>
            </a:r>
          </a:p>
          <a:p>
            <a:r>
              <a:rPr lang="en-US" sz="2000" dirty="0"/>
              <a:t>2. Check whether the sentence α evaluates to true whenever KB evaluates to true</a:t>
            </a:r>
          </a:p>
          <a:p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78" t="38901" r="34875" b="24176"/>
          <a:stretch/>
        </p:blipFill>
        <p:spPr bwMode="auto">
          <a:xfrm>
            <a:off x="1295400" y="3352800"/>
            <a:ext cx="5913120" cy="2560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558888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55000" lnSpcReduction="20000"/>
          </a:bodyPr>
          <a:lstStyle/>
          <a:p>
            <a:r>
              <a:rPr lang="pt-BR" sz="5800" i="1" dirty="0"/>
              <a:t>KB </a:t>
            </a:r>
            <a:r>
              <a:rPr lang="pt-BR" sz="5800" dirty="0"/>
              <a:t>= ( </a:t>
            </a:r>
            <a:r>
              <a:rPr lang="pt-BR" sz="5800" i="1" dirty="0"/>
              <a:t>A </a:t>
            </a:r>
            <a:r>
              <a:rPr lang="pt-BR" sz="5800" dirty="0"/>
              <a:t>∨ </a:t>
            </a:r>
            <a:r>
              <a:rPr lang="pt-BR" sz="5800" i="1" dirty="0"/>
              <a:t>C </a:t>
            </a:r>
            <a:r>
              <a:rPr lang="pt-BR" sz="5800" dirty="0"/>
              <a:t>) ∧ (</a:t>
            </a:r>
            <a:r>
              <a:rPr lang="pt-BR" sz="5800" i="1" dirty="0"/>
              <a:t>B </a:t>
            </a:r>
            <a:r>
              <a:rPr lang="pt-BR" sz="5800" dirty="0"/>
              <a:t>∨ ¬</a:t>
            </a:r>
            <a:r>
              <a:rPr lang="pt-BR" sz="5800" i="1" dirty="0"/>
              <a:t>C </a:t>
            </a:r>
            <a:r>
              <a:rPr lang="pt-BR" sz="5800" dirty="0"/>
              <a:t>) α = ( </a:t>
            </a:r>
            <a:r>
              <a:rPr lang="pt-BR" sz="5800" i="1" dirty="0"/>
              <a:t>A </a:t>
            </a:r>
            <a:r>
              <a:rPr lang="pt-BR" sz="5800" dirty="0"/>
              <a:t>∨ </a:t>
            </a:r>
            <a:r>
              <a:rPr lang="pt-BR" sz="5800" i="1" dirty="0"/>
              <a:t>B </a:t>
            </a:r>
            <a:r>
              <a:rPr lang="pt-BR" sz="5800" dirty="0" smtClean="0"/>
              <a:t>)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 smtClean="0"/>
          </a:p>
          <a:p>
            <a:r>
              <a:rPr lang="en-US" dirty="0"/>
              <a:t>The </a:t>
            </a:r>
            <a:r>
              <a:rPr lang="en-US" b="1" dirty="0"/>
              <a:t>truth-table approach </a:t>
            </a:r>
            <a:r>
              <a:rPr lang="en-US" dirty="0"/>
              <a:t>is </a:t>
            </a:r>
            <a:r>
              <a:rPr lang="en-US" b="1" dirty="0"/>
              <a:t>sound and complete </a:t>
            </a:r>
            <a:r>
              <a:rPr lang="en-US" dirty="0"/>
              <a:t>for </a:t>
            </a:r>
            <a:r>
              <a:rPr lang="en-US" dirty="0" smtClean="0"/>
              <a:t>the propositional </a:t>
            </a:r>
            <a:r>
              <a:rPr lang="en-US" dirty="0"/>
              <a:t>logic!!</a:t>
            </a:r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99" t="50000" r="32779" b="13969"/>
          <a:stretch/>
        </p:blipFill>
        <p:spPr bwMode="auto">
          <a:xfrm>
            <a:off x="838200" y="2286000"/>
            <a:ext cx="7315200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5299587"/>
            <a:ext cx="2084387" cy="744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72129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4 techniques:</a:t>
            </a:r>
            <a:endParaRPr lang="en-US" dirty="0">
              <a:solidFill>
                <a:srgbClr val="0070C0"/>
              </a:solidFill>
            </a:endParaRPr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/>
          </a:p>
          <a:p>
            <a:endParaRPr lang="en-US" sz="2800" dirty="0" smtClean="0"/>
          </a:p>
          <a:p>
            <a:endParaRPr lang="en-US" sz="2800" dirty="0" smtClean="0"/>
          </a:p>
          <a:p>
            <a:r>
              <a:rPr lang="en-US" sz="2800" dirty="0" smtClean="0"/>
              <a:t>Besides, there are also </a:t>
            </a:r>
            <a:r>
              <a:rPr lang="en-US" sz="2800" dirty="0" smtClean="0">
                <a:solidFill>
                  <a:srgbClr val="0070C0"/>
                </a:solidFill>
              </a:rPr>
              <a:t>2 control strategies</a:t>
            </a:r>
            <a:r>
              <a:rPr lang="en-US" sz="2800" dirty="0" smtClean="0"/>
              <a:t>:</a:t>
            </a:r>
            <a:endParaRPr lang="en-US" sz="2800" dirty="0"/>
          </a:p>
          <a:p>
            <a:pPr lvl="1"/>
            <a:r>
              <a:rPr lang="en-US" sz="2400" dirty="0"/>
              <a:t>Forward chaining</a:t>
            </a:r>
          </a:p>
          <a:p>
            <a:pPr lvl="1"/>
            <a:r>
              <a:rPr lang="en-US" sz="2400" dirty="0"/>
              <a:t>Backward </a:t>
            </a:r>
            <a:r>
              <a:rPr lang="en-US" sz="2400" dirty="0" smtClean="0"/>
              <a:t>chaining</a:t>
            </a:r>
            <a:endParaRPr 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Inference Technique</a:t>
            </a:r>
            <a:endParaRPr lang="en-US" dirty="0"/>
          </a:p>
        </p:txBody>
      </p:sp>
      <p:grpSp>
        <p:nvGrpSpPr>
          <p:cNvPr id="2" name="Group 4"/>
          <p:cNvGrpSpPr/>
          <p:nvPr/>
        </p:nvGrpSpPr>
        <p:grpSpPr>
          <a:xfrm>
            <a:off x="1643042" y="2071678"/>
            <a:ext cx="6000792" cy="2123222"/>
            <a:chOff x="-1293600" y="1981200"/>
            <a:chExt cx="14162383" cy="4319114"/>
          </a:xfrm>
        </p:grpSpPr>
        <p:pic>
          <p:nvPicPr>
            <p:cNvPr id="16" name="Picture 6" descr="ani_128"/>
            <p:cNvPicPr>
              <a:picLocks noChangeAspect="1" noChangeArrowheads="1" noCrop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962400" y="3657604"/>
              <a:ext cx="1828800" cy="573088"/>
            </a:xfrm>
            <a:prstGeom prst="rect">
              <a:avLst/>
            </a:prstGeom>
            <a:noFill/>
          </p:spPr>
        </p:pic>
        <p:pic>
          <p:nvPicPr>
            <p:cNvPr id="7" name="Picture 8" descr="gearsmotion"/>
            <p:cNvPicPr>
              <a:picLocks noChangeAspect="1" noChangeArrowheads="1" noCrop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114800" y="3048000"/>
              <a:ext cx="949325" cy="857250"/>
            </a:xfrm>
            <a:prstGeom prst="rect">
              <a:avLst/>
            </a:prstGeom>
            <a:noFill/>
          </p:spPr>
        </p:pic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1066799" y="1981200"/>
              <a:ext cx="4248260" cy="8139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dirty="0">
                  <a:sym typeface="Wingdings" pitchFamily="2" charset="2"/>
                </a:rPr>
                <a:t>Modus Ponens</a:t>
              </a: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>
              <a:off x="-1293600" y="4490390"/>
              <a:ext cx="4116905" cy="8139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dirty="0">
                  <a:sym typeface="Wingdings" pitchFamily="2" charset="2"/>
                </a:rPr>
                <a:t>Modus </a:t>
              </a:r>
              <a:r>
                <a:rPr lang="en-US" sz="2000" dirty="0" err="1">
                  <a:sym typeface="Wingdings" pitchFamily="2" charset="2"/>
                </a:rPr>
                <a:t>Tollens</a:t>
              </a:r>
              <a:endParaRPr lang="en-US" sz="2000" dirty="0">
                <a:sym typeface="Wingdings" pitchFamily="2" charset="2"/>
              </a:endParaRPr>
            </a:p>
          </p:txBody>
        </p:sp>
        <p:sp>
          <p:nvSpPr>
            <p:cNvPr id="10" name="Rectangle 12"/>
            <p:cNvSpPr>
              <a:spLocks noChangeArrowheads="1"/>
            </p:cNvSpPr>
            <p:nvPr/>
          </p:nvSpPr>
          <p:spPr bwMode="auto">
            <a:xfrm>
              <a:off x="6541417" y="5486400"/>
              <a:ext cx="6327366" cy="8139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dirty="0">
                  <a:sym typeface="Wingdings" pitchFamily="2" charset="2"/>
                </a:rPr>
                <a:t>Hypothetical Syllogism</a:t>
              </a:r>
            </a:p>
          </p:txBody>
        </p:sp>
        <p:sp>
          <p:nvSpPr>
            <p:cNvPr id="11" name="Rectangle 13"/>
            <p:cNvSpPr>
              <a:spLocks noChangeArrowheads="1"/>
            </p:cNvSpPr>
            <p:nvPr/>
          </p:nvSpPr>
          <p:spPr bwMode="auto">
            <a:xfrm>
              <a:off x="6858001" y="2514601"/>
              <a:ext cx="3201515" cy="8139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dirty="0">
                  <a:sym typeface="Wingdings" pitchFamily="2" charset="2"/>
                </a:rPr>
                <a:t>Resolution</a:t>
              </a:r>
            </a:p>
          </p:txBody>
        </p:sp>
        <p:sp>
          <p:nvSpPr>
            <p:cNvPr id="12" name="AutoShape 14"/>
            <p:cNvSpPr>
              <a:spLocks noChangeArrowheads="1"/>
            </p:cNvSpPr>
            <p:nvPr/>
          </p:nvSpPr>
          <p:spPr bwMode="auto">
            <a:xfrm rot="2406629">
              <a:off x="2286000" y="2743200"/>
              <a:ext cx="1371600" cy="762000"/>
            </a:xfrm>
            <a:prstGeom prst="leftArrow">
              <a:avLst>
                <a:gd name="adj1" fmla="val 50000"/>
                <a:gd name="adj2" fmla="val 45000"/>
              </a:avLst>
            </a:prstGeom>
            <a:gradFill rotWithShape="1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AutoShape 15"/>
            <p:cNvSpPr>
              <a:spLocks noChangeArrowheads="1"/>
            </p:cNvSpPr>
            <p:nvPr/>
          </p:nvSpPr>
          <p:spPr bwMode="auto">
            <a:xfrm>
              <a:off x="4728586" y="4490390"/>
              <a:ext cx="1733405" cy="996010"/>
            </a:xfrm>
            <a:prstGeom prst="lightningBol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AutoShape 17"/>
            <p:cNvSpPr>
              <a:spLocks noChangeArrowheads="1"/>
            </p:cNvSpPr>
            <p:nvPr/>
          </p:nvSpPr>
          <p:spPr bwMode="auto">
            <a:xfrm rot="-3089961">
              <a:off x="5905500" y="3009900"/>
              <a:ext cx="1219200" cy="533400"/>
            </a:xfrm>
            <a:prstGeom prst="rtTriangl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99CC00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AutoShape 18"/>
            <p:cNvSpPr>
              <a:spLocks noChangeArrowheads="1"/>
            </p:cNvSpPr>
            <p:nvPr/>
          </p:nvSpPr>
          <p:spPr bwMode="auto">
            <a:xfrm rot="14148832">
              <a:off x="2975934" y="3905619"/>
              <a:ext cx="838201" cy="1299853"/>
            </a:xfrm>
            <a:prstGeom prst="triangle">
              <a:avLst>
                <a:gd name="adj" fmla="val 50000"/>
              </a:avLst>
            </a:prstGeom>
            <a:gradFill rotWithShape="1">
              <a:gsLst>
                <a:gs pos="0">
                  <a:srgbClr val="800080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16809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43050"/>
            <a:ext cx="8229600" cy="4616450"/>
          </a:xfrm>
        </p:spPr>
        <p:txBody>
          <a:bodyPr>
            <a:normAutofit lnSpcReduction="10000"/>
          </a:bodyPr>
          <a:lstStyle/>
          <a:p>
            <a:pPr marL="609600" indent="-609600">
              <a:lnSpc>
                <a:spcPct val="80000"/>
              </a:lnSpc>
            </a:pPr>
            <a:r>
              <a:rPr lang="en-US" sz="2800" dirty="0" smtClean="0">
                <a:solidFill>
                  <a:srgbClr val="00B0F0"/>
                </a:solidFill>
              </a:rPr>
              <a:t>Definition</a:t>
            </a:r>
            <a:r>
              <a:rPr lang="en-US" sz="2800" dirty="0" smtClean="0">
                <a:solidFill>
                  <a:srgbClr val="FFC000"/>
                </a:solidFill>
              </a:rPr>
              <a:t>:</a:t>
            </a:r>
            <a:r>
              <a:rPr lang="en-US" sz="2800" dirty="0" smtClean="0">
                <a:solidFill>
                  <a:srgbClr val="92D050"/>
                </a:solidFill>
              </a:rPr>
              <a:t> </a:t>
            </a:r>
            <a:r>
              <a:rPr lang="en-US" sz="2800" dirty="0" smtClean="0"/>
              <a:t>Rule of logic that asserts IF </a:t>
            </a:r>
            <a:r>
              <a:rPr lang="en-US" sz="2800" dirty="0" smtClean="0">
                <a:solidFill>
                  <a:srgbClr val="FF0000"/>
                </a:solidFill>
              </a:rPr>
              <a:t>A</a:t>
            </a:r>
            <a:r>
              <a:rPr lang="en-US" sz="2800" dirty="0" smtClean="0">
                <a:solidFill>
                  <a:srgbClr val="00B050"/>
                </a:solidFill>
              </a:rPr>
              <a:t> </a:t>
            </a:r>
            <a:r>
              <a:rPr lang="en-US" sz="2800" dirty="0" smtClean="0"/>
              <a:t>and (</a:t>
            </a:r>
            <a:r>
              <a:rPr lang="en-US" sz="2800" dirty="0" smtClean="0">
                <a:solidFill>
                  <a:srgbClr val="FF0000"/>
                </a:solidFill>
              </a:rPr>
              <a:t>A </a:t>
            </a:r>
            <a:r>
              <a:rPr lang="en-GB" sz="2800" dirty="0">
                <a:solidFill>
                  <a:srgbClr val="FF0000"/>
                </a:solidFill>
                <a:sym typeface="Symbol" pitchFamily="18" charset="2"/>
              </a:rPr>
              <a:t>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B</a:t>
            </a:r>
            <a:r>
              <a:rPr lang="en-US" sz="2800" dirty="0" smtClean="0"/>
              <a:t>) </a:t>
            </a:r>
            <a:r>
              <a:rPr lang="en-US" sz="2800" dirty="0"/>
              <a:t>are known to be true, then one can infer that </a:t>
            </a:r>
            <a:r>
              <a:rPr lang="en-US" sz="2800" dirty="0" smtClean="0">
                <a:solidFill>
                  <a:srgbClr val="FF0000"/>
                </a:solidFill>
              </a:rPr>
              <a:t>B</a:t>
            </a:r>
            <a:r>
              <a:rPr lang="en-US" sz="2800" dirty="0" smtClean="0">
                <a:solidFill>
                  <a:srgbClr val="00B050"/>
                </a:solidFill>
              </a:rPr>
              <a:t> </a:t>
            </a:r>
            <a:r>
              <a:rPr lang="en-US" sz="2800" dirty="0" smtClean="0"/>
              <a:t>is </a:t>
            </a:r>
            <a:r>
              <a:rPr lang="en-US" sz="2800" dirty="0"/>
              <a:t>true.</a:t>
            </a:r>
          </a:p>
          <a:p>
            <a:pPr marL="609600" indent="-609600">
              <a:lnSpc>
                <a:spcPct val="80000"/>
              </a:lnSpc>
            </a:pPr>
            <a:r>
              <a:rPr lang="en-US" sz="2800" dirty="0"/>
              <a:t>E.g.</a:t>
            </a:r>
            <a:endParaRPr lang="en-GB" sz="2800" dirty="0"/>
          </a:p>
          <a:p>
            <a:pPr marL="2209800" lvl="4" indent="-381000">
              <a:lnSpc>
                <a:spcPct val="80000"/>
              </a:lnSpc>
              <a:buClr>
                <a:schemeClr val="tx1"/>
              </a:buClr>
              <a:buFont typeface="Wingdings" pitchFamily="2" charset="2"/>
              <a:buAutoNum type="arabicPeriod"/>
            </a:pPr>
            <a:r>
              <a:rPr lang="en-GB" sz="2400" dirty="0">
                <a:solidFill>
                  <a:srgbClr val="00B0F0"/>
                </a:solidFill>
              </a:rPr>
              <a:t>It is sunny </a:t>
            </a:r>
            <a:r>
              <a:rPr lang="en-GB" sz="2400" dirty="0" smtClean="0">
                <a:solidFill>
                  <a:srgbClr val="00B0F0"/>
                </a:solidFill>
              </a:rPr>
              <a:t>day (</a:t>
            </a:r>
            <a:r>
              <a:rPr lang="en-GB" sz="2400" dirty="0" smtClean="0">
                <a:solidFill>
                  <a:srgbClr val="FF0000"/>
                </a:solidFill>
              </a:rPr>
              <a:t>A</a:t>
            </a:r>
            <a:r>
              <a:rPr lang="en-GB" sz="2400" dirty="0" smtClean="0">
                <a:solidFill>
                  <a:srgbClr val="00B0F0"/>
                </a:solidFill>
              </a:rPr>
              <a:t>)</a:t>
            </a:r>
            <a:endParaRPr lang="en-GB" sz="2400" dirty="0">
              <a:solidFill>
                <a:srgbClr val="00B0F0"/>
              </a:solidFill>
            </a:endParaRPr>
          </a:p>
          <a:p>
            <a:pPr marL="2209800" lvl="4" indent="-381000">
              <a:lnSpc>
                <a:spcPct val="80000"/>
              </a:lnSpc>
              <a:buClr>
                <a:schemeClr val="tx1"/>
              </a:buClr>
              <a:buFont typeface="Wingdings" pitchFamily="2" charset="2"/>
              <a:buAutoNum type="arabicPeriod"/>
            </a:pPr>
            <a:r>
              <a:rPr lang="en-GB" sz="2400" dirty="0">
                <a:solidFill>
                  <a:srgbClr val="00B0F0"/>
                </a:solidFill>
              </a:rPr>
              <a:t>If it is </a:t>
            </a:r>
            <a:r>
              <a:rPr lang="en-GB" sz="2400" dirty="0" smtClean="0">
                <a:solidFill>
                  <a:srgbClr val="00B0F0"/>
                </a:solidFill>
              </a:rPr>
              <a:t>sunny (</a:t>
            </a:r>
            <a:r>
              <a:rPr lang="en-GB" sz="2400" dirty="0" smtClean="0">
                <a:solidFill>
                  <a:srgbClr val="FF0000"/>
                </a:solidFill>
              </a:rPr>
              <a:t>A</a:t>
            </a:r>
            <a:r>
              <a:rPr lang="en-GB" sz="2400" dirty="0" smtClean="0">
                <a:solidFill>
                  <a:srgbClr val="00B0F0"/>
                </a:solidFill>
              </a:rPr>
              <a:t>), </a:t>
            </a:r>
            <a:r>
              <a:rPr lang="en-GB" sz="2400" dirty="0">
                <a:solidFill>
                  <a:srgbClr val="00B0F0"/>
                </a:solidFill>
              </a:rPr>
              <a:t>then we will go to the </a:t>
            </a:r>
            <a:r>
              <a:rPr lang="en-GB" sz="2400" dirty="0" smtClean="0">
                <a:solidFill>
                  <a:srgbClr val="00B0F0"/>
                </a:solidFill>
              </a:rPr>
              <a:t>beach (</a:t>
            </a:r>
            <a:r>
              <a:rPr lang="en-GB" sz="2400" dirty="0" smtClean="0">
                <a:solidFill>
                  <a:srgbClr val="FF0000"/>
                </a:solidFill>
              </a:rPr>
              <a:t>B</a:t>
            </a:r>
            <a:r>
              <a:rPr lang="en-GB" sz="2400" dirty="0" smtClean="0">
                <a:solidFill>
                  <a:srgbClr val="00B0F0"/>
                </a:solidFill>
              </a:rPr>
              <a:t>)</a:t>
            </a:r>
            <a:endParaRPr lang="en-GB" sz="2400" dirty="0">
              <a:solidFill>
                <a:srgbClr val="00B0F0"/>
              </a:solidFill>
            </a:endParaRPr>
          </a:p>
          <a:p>
            <a:pPr marL="2209800" lvl="4" indent="-381000">
              <a:lnSpc>
                <a:spcPct val="80000"/>
              </a:lnSpc>
              <a:buClr>
                <a:schemeClr val="tx1"/>
              </a:buClr>
              <a:buFont typeface="Wingdings" pitchFamily="2" charset="2"/>
              <a:buAutoNum type="arabicPeriod"/>
            </a:pPr>
            <a:r>
              <a:rPr lang="en-GB" sz="2400" dirty="0">
                <a:solidFill>
                  <a:srgbClr val="00B0F0"/>
                </a:solidFill>
              </a:rPr>
              <a:t>We will go to the </a:t>
            </a:r>
            <a:r>
              <a:rPr lang="en-GB" sz="2400" dirty="0" smtClean="0">
                <a:solidFill>
                  <a:srgbClr val="00B0F0"/>
                </a:solidFill>
              </a:rPr>
              <a:t>beach (</a:t>
            </a:r>
            <a:r>
              <a:rPr lang="en-GB" sz="2400" dirty="0" smtClean="0">
                <a:solidFill>
                  <a:srgbClr val="FF0000"/>
                </a:solidFill>
              </a:rPr>
              <a:t>B</a:t>
            </a:r>
            <a:r>
              <a:rPr lang="en-GB" sz="2400" dirty="0" smtClean="0">
                <a:solidFill>
                  <a:srgbClr val="00B0F0"/>
                </a:solidFill>
              </a:rPr>
              <a:t>)</a:t>
            </a:r>
            <a:endParaRPr lang="en-GB" sz="2400" dirty="0">
              <a:solidFill>
                <a:srgbClr val="00B0F0"/>
              </a:solidFill>
            </a:endParaRP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endParaRPr lang="en-GB" sz="2400" dirty="0"/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GB" sz="2400" dirty="0"/>
              <a:t>	</a:t>
            </a:r>
            <a:r>
              <a:rPr lang="en-GB" sz="2400" dirty="0" smtClean="0"/>
              <a:t>or </a:t>
            </a:r>
            <a:r>
              <a:rPr lang="en-GB" sz="2400" dirty="0"/>
              <a:t>(in PL)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endParaRPr lang="en-GB" sz="2400" dirty="0"/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GB" sz="2400" dirty="0"/>
              <a:t>			1.	</a:t>
            </a:r>
            <a:r>
              <a:rPr lang="en-GB" sz="2400" dirty="0" smtClean="0">
                <a:solidFill>
                  <a:srgbClr val="FF0000"/>
                </a:solidFill>
              </a:rPr>
              <a:t>A</a:t>
            </a:r>
            <a:endParaRPr lang="en-GB" sz="2400" dirty="0">
              <a:solidFill>
                <a:srgbClr val="FF0000"/>
              </a:solidFill>
            </a:endParaRP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GB" sz="2400" dirty="0"/>
              <a:t>			2.	</a:t>
            </a:r>
            <a:r>
              <a:rPr lang="en-GB" sz="2400" dirty="0" smtClean="0">
                <a:solidFill>
                  <a:srgbClr val="FF0000"/>
                </a:solidFill>
              </a:rPr>
              <a:t>A </a:t>
            </a:r>
            <a:r>
              <a:rPr lang="en-GB" sz="2400" dirty="0" smtClean="0">
                <a:sym typeface="Symbol" pitchFamily="18" charset="2"/>
              </a:rPr>
              <a:t></a:t>
            </a:r>
            <a:r>
              <a:rPr lang="en-GB" sz="2400" dirty="0" smtClean="0"/>
              <a:t> </a:t>
            </a:r>
            <a:r>
              <a:rPr lang="en-GB" sz="2400" dirty="0" smtClean="0">
                <a:solidFill>
                  <a:srgbClr val="FF0000"/>
                </a:solidFill>
              </a:rPr>
              <a:t>B</a:t>
            </a:r>
            <a:endParaRPr lang="en-GB" sz="2400" dirty="0">
              <a:solidFill>
                <a:srgbClr val="FF0000"/>
              </a:solidFill>
            </a:endParaRP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GB" sz="2400" dirty="0"/>
              <a:t>			3. 	</a:t>
            </a:r>
            <a:r>
              <a:rPr lang="en-GB" sz="2400" dirty="0" smtClean="0">
                <a:solidFill>
                  <a:srgbClr val="FF0000"/>
                </a:solidFill>
              </a:rPr>
              <a:t>B</a:t>
            </a:r>
            <a:endParaRPr lang="en-GB" sz="2400" dirty="0">
              <a:solidFill>
                <a:srgbClr val="FF0000"/>
              </a:solidFill>
            </a:endParaRP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endParaRPr lang="en-US" sz="1400" dirty="0"/>
          </a:p>
          <a:p>
            <a:pPr marL="609600" indent="-609600">
              <a:lnSpc>
                <a:spcPct val="80000"/>
              </a:lnSpc>
            </a:pPr>
            <a:endParaRPr lang="en-US" sz="14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Technique 1: Modus Ponens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906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1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 Diagonal Corner Rectangle 9"/>
          <p:cNvSpPr/>
          <p:nvPr/>
        </p:nvSpPr>
        <p:spPr>
          <a:xfrm>
            <a:off x="1357290" y="2214554"/>
            <a:ext cx="2714644" cy="1428760"/>
          </a:xfrm>
          <a:prstGeom prst="round2Diag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5804" y="1285860"/>
            <a:ext cx="8229600" cy="5214974"/>
          </a:xfrm>
        </p:spPr>
        <p:txBody>
          <a:bodyPr>
            <a:normAutofit fontScale="85000" lnSpcReduction="20000"/>
          </a:bodyPr>
          <a:lstStyle/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endParaRPr lang="en-GB" sz="2800" dirty="0" smtClean="0">
              <a:solidFill>
                <a:srgbClr val="FF0000"/>
              </a:solidFill>
            </a:endParaRP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GB" sz="2800" dirty="0" smtClean="0">
                <a:solidFill>
                  <a:srgbClr val="FF0000"/>
                </a:solidFill>
              </a:rPr>
              <a:t>Basic form:</a:t>
            </a:r>
            <a:endParaRPr lang="en-GB" sz="2800" dirty="0">
              <a:solidFill>
                <a:srgbClr val="FF0000"/>
              </a:solidFill>
            </a:endParaRP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endParaRPr lang="en-GB" sz="2800" dirty="0"/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GB" sz="2800" dirty="0"/>
              <a:t>		</a:t>
            </a:r>
            <a:endParaRPr lang="en-GB" sz="2800" dirty="0" smtClean="0"/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GB" sz="2800" dirty="0" smtClean="0"/>
              <a:t>		A</a:t>
            </a:r>
            <a:r>
              <a:rPr lang="en-GB" sz="2800" dirty="0"/>
              <a:t>	</a:t>
            </a:r>
            <a:r>
              <a:rPr lang="en-GB" sz="2800" dirty="0">
                <a:sym typeface="Wingdings" pitchFamily="2" charset="2"/>
              </a:rPr>
              <a:t>	B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GB" sz="2800" dirty="0">
                <a:sym typeface="Wingdings" pitchFamily="2" charset="2"/>
              </a:rPr>
              <a:t>		</a:t>
            </a:r>
            <a:r>
              <a:rPr lang="en-GB" sz="2800" u="sng" dirty="0">
                <a:sym typeface="Wingdings" pitchFamily="2" charset="2"/>
              </a:rPr>
              <a:t>A		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GB" sz="2800" dirty="0">
                <a:sym typeface="Wingdings" pitchFamily="2" charset="2"/>
              </a:rPr>
              <a:t>		</a:t>
            </a:r>
            <a:r>
              <a:rPr lang="en-GB" sz="2800" dirty="0" smtClean="0">
                <a:sym typeface="Wingdings" pitchFamily="2" charset="2"/>
              </a:rPr>
              <a:t>B</a:t>
            </a:r>
            <a:endParaRPr lang="en-GB" sz="2800" dirty="0">
              <a:sym typeface="Wingdings" pitchFamily="2" charset="2"/>
            </a:endParaRP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endParaRPr lang="en-GB" sz="2800" dirty="0">
              <a:sym typeface="Wingdings" pitchFamily="2" charset="2"/>
            </a:endParaRP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GB" sz="2800" dirty="0">
                <a:sym typeface="Wingdings" pitchFamily="2" charset="2"/>
              </a:rPr>
              <a:t>		</a:t>
            </a:r>
            <a:endParaRPr lang="en-GB" sz="2800" dirty="0" smtClean="0">
              <a:sym typeface="Wingdings" pitchFamily="2" charset="2"/>
            </a:endParaRP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GB" sz="2800" dirty="0" smtClean="0">
                <a:sym typeface="Wingdings" pitchFamily="2" charset="2"/>
              </a:rPr>
              <a:t>                                   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GB" sz="2800" dirty="0" smtClean="0">
                <a:sym typeface="Wingdings" pitchFamily="2" charset="2"/>
              </a:rPr>
              <a:t>				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GB" sz="2800" dirty="0" smtClean="0">
                <a:sym typeface="Wingdings" pitchFamily="2" charset="2"/>
              </a:rPr>
              <a:t>					((</a:t>
            </a:r>
            <a:r>
              <a:rPr lang="en-GB" sz="2800" dirty="0">
                <a:sym typeface="Wingdings" pitchFamily="2" charset="2"/>
              </a:rPr>
              <a:t>A  B) </a:t>
            </a:r>
            <a:r>
              <a:rPr lang="en-GB" sz="2800" dirty="0">
                <a:sym typeface="Symbol" pitchFamily="18" charset="2"/>
              </a:rPr>
              <a:t> A) </a:t>
            </a:r>
            <a:r>
              <a:rPr lang="en-GB" sz="2800" dirty="0">
                <a:sym typeface="Wingdings" pitchFamily="2" charset="2"/>
              </a:rPr>
              <a:t> B	</a:t>
            </a:r>
            <a:r>
              <a:rPr lang="en-GB" sz="2800" dirty="0" smtClean="0">
                <a:sym typeface="Wingdings" pitchFamily="2" charset="2"/>
              </a:rPr>
              <a:t>				</a:t>
            </a:r>
            <a:r>
              <a:rPr lang="en-GB" sz="2800" dirty="0">
                <a:sym typeface="Wingdings" pitchFamily="2" charset="2"/>
              </a:rPr>
              <a:t>	</a:t>
            </a:r>
            <a:endParaRPr lang="en-GB" sz="2800" dirty="0" smtClean="0">
              <a:sym typeface="Wingdings" pitchFamily="2" charset="2"/>
            </a:endParaRP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GB" sz="2800" dirty="0" smtClean="0">
                <a:sym typeface="Wingdings" pitchFamily="2" charset="2"/>
              </a:rPr>
              <a:t>					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GB" sz="2800" dirty="0" smtClean="0">
                <a:sym typeface="Wingdings" pitchFamily="2" charset="2"/>
              </a:rPr>
              <a:t>	                                                       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GB" sz="2800" dirty="0" smtClean="0">
                <a:sym typeface="Wingdings" pitchFamily="2" charset="2"/>
              </a:rPr>
              <a:t>					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GB" sz="2800" dirty="0" smtClean="0">
                <a:sym typeface="Wingdings" pitchFamily="2" charset="2"/>
              </a:rPr>
              <a:t>					..... a </a:t>
            </a:r>
            <a:r>
              <a:rPr lang="en-GB" sz="2800" dirty="0">
                <a:sym typeface="Wingdings" pitchFamily="2" charset="2"/>
              </a:rPr>
              <a:t>tautology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endParaRPr lang="en-GB" sz="2400" dirty="0">
              <a:sym typeface="Symbol" pitchFamily="18" charset="2"/>
            </a:endParaRPr>
          </a:p>
        </p:txBody>
      </p:sp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/>
          <a:p>
            <a:r>
              <a:rPr lang="en-US" dirty="0" smtClean="0"/>
              <a:t>Modus Ponens</a:t>
            </a:r>
            <a:endParaRPr lang="en-US" dirty="0"/>
          </a:p>
        </p:txBody>
      </p:sp>
      <p:sp>
        <p:nvSpPr>
          <p:cNvPr id="7" name="Down Arrow 6"/>
          <p:cNvSpPr/>
          <p:nvPr/>
        </p:nvSpPr>
        <p:spPr>
          <a:xfrm>
            <a:off x="5143504" y="5072074"/>
            <a:ext cx="785818" cy="500066"/>
          </a:xfrm>
          <a:prstGeom prst="downArrow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rved Down Arrow 7"/>
          <p:cNvSpPr/>
          <p:nvPr/>
        </p:nvSpPr>
        <p:spPr>
          <a:xfrm rot="2657587">
            <a:off x="4176971" y="3104940"/>
            <a:ext cx="1769214" cy="407110"/>
          </a:xfrm>
          <a:prstGeom prst="curvedDownArrow">
            <a:avLst>
              <a:gd name="adj1" fmla="val 25000"/>
              <a:gd name="adj2" fmla="val 111637"/>
              <a:gd name="adj3" fmla="val 44255"/>
            </a:avLst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043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0" dur="2000"/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3" dur="2000"/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6" dur="2000"/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2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22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22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714488"/>
            <a:ext cx="8229600" cy="3886200"/>
          </a:xfrm>
        </p:spPr>
        <p:txBody>
          <a:bodyPr>
            <a:normAutofit lnSpcReduction="10000"/>
          </a:bodyPr>
          <a:lstStyle/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GB" sz="2800" dirty="0"/>
              <a:t>Example with </a:t>
            </a:r>
            <a:r>
              <a:rPr lang="en-GB" sz="2800" dirty="0">
                <a:solidFill>
                  <a:srgbClr val="FF0000"/>
                </a:solidFill>
              </a:rPr>
              <a:t>rules with &gt;1</a:t>
            </a:r>
            <a:r>
              <a:rPr lang="en-GB" sz="2800" dirty="0"/>
              <a:t> propositions: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endParaRPr lang="en-GB" sz="2400" dirty="0"/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GB" sz="2400" dirty="0"/>
              <a:t>		</a:t>
            </a:r>
            <a:endParaRPr lang="en-GB" sz="2400" dirty="0" smtClean="0"/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GB" sz="2400" dirty="0" smtClean="0"/>
              <a:t>		</a:t>
            </a:r>
            <a:r>
              <a:rPr lang="en-GB" sz="2800" dirty="0" smtClean="0"/>
              <a:t>A </a:t>
            </a:r>
            <a:r>
              <a:rPr lang="en-GB" sz="2800" dirty="0">
                <a:sym typeface="Symbol" pitchFamily="18" charset="2"/>
              </a:rPr>
              <a:t> </a:t>
            </a:r>
            <a:r>
              <a:rPr lang="en-GB" sz="2800" dirty="0">
                <a:sym typeface="Wingdings" pitchFamily="2" charset="2"/>
              </a:rPr>
              <a:t>B  C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GB" sz="2800" dirty="0">
                <a:sym typeface="Wingdings" pitchFamily="2" charset="2"/>
              </a:rPr>
              <a:t>		A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GB" sz="2800" dirty="0">
                <a:sym typeface="Wingdings" pitchFamily="2" charset="2"/>
              </a:rPr>
              <a:t>		</a:t>
            </a:r>
            <a:r>
              <a:rPr lang="en-GB" sz="2800" u="sng" dirty="0">
                <a:sym typeface="Wingdings" pitchFamily="2" charset="2"/>
              </a:rPr>
              <a:t>B			</a:t>
            </a:r>
            <a:r>
              <a:rPr lang="en-GB" sz="2800" dirty="0">
                <a:sym typeface="Wingdings" pitchFamily="2" charset="2"/>
              </a:rPr>
              <a:t>			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GB" sz="2800" dirty="0">
                <a:sym typeface="Wingdings" pitchFamily="2" charset="2"/>
              </a:rPr>
              <a:t>		</a:t>
            </a:r>
            <a:r>
              <a:rPr lang="en-GB" sz="2800" dirty="0" smtClean="0">
                <a:sym typeface="Wingdings" pitchFamily="2" charset="2"/>
              </a:rPr>
              <a:t>C</a:t>
            </a:r>
            <a:endParaRPr lang="en-GB" sz="2800" dirty="0">
              <a:sym typeface="Wingdings" pitchFamily="2" charset="2"/>
            </a:endParaRP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endParaRPr lang="en-GB" sz="2800" dirty="0">
              <a:sym typeface="Wingdings" pitchFamily="2" charset="2"/>
            </a:endParaRP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GB" sz="2800" dirty="0">
                <a:sym typeface="Wingdings" pitchFamily="2" charset="2"/>
              </a:rPr>
              <a:t>		</a:t>
            </a:r>
            <a:r>
              <a:rPr lang="en-GB" sz="2800" dirty="0" smtClean="0">
                <a:sym typeface="Wingdings" pitchFamily="2" charset="2"/>
              </a:rPr>
              <a:t>                       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GB" sz="2800" dirty="0" smtClean="0">
                <a:sym typeface="Wingdings" pitchFamily="2" charset="2"/>
              </a:rPr>
              <a:t>                         ((((</a:t>
            </a:r>
            <a:r>
              <a:rPr lang="en-GB" sz="2800" dirty="0">
                <a:sym typeface="Wingdings" pitchFamily="2" charset="2"/>
              </a:rPr>
              <a:t>A </a:t>
            </a:r>
            <a:r>
              <a:rPr lang="en-GB" sz="2800" dirty="0">
                <a:sym typeface="Symbol" pitchFamily="18" charset="2"/>
              </a:rPr>
              <a:t> B</a:t>
            </a:r>
            <a:r>
              <a:rPr lang="en-GB" sz="2800" dirty="0">
                <a:sym typeface="Wingdings" pitchFamily="2" charset="2"/>
              </a:rPr>
              <a:t>)  C) </a:t>
            </a:r>
            <a:r>
              <a:rPr lang="en-GB" sz="2800" dirty="0">
                <a:sym typeface="Symbol" pitchFamily="18" charset="2"/>
              </a:rPr>
              <a:t> A)  B) </a:t>
            </a:r>
            <a:r>
              <a:rPr lang="en-GB" sz="2800" dirty="0">
                <a:sym typeface="Wingdings" pitchFamily="2" charset="2"/>
              </a:rPr>
              <a:t> C  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endParaRPr lang="en-GB" sz="2400" dirty="0">
              <a:sym typeface="Symbol" pitchFamily="18" charset="2"/>
            </a:endParaRPr>
          </a:p>
        </p:txBody>
      </p:sp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/>
          <a:p>
            <a:r>
              <a:rPr lang="en-US" dirty="0" smtClean="0"/>
              <a:t>Modus Ponens</a:t>
            </a:r>
            <a:endParaRPr lang="en-US" dirty="0"/>
          </a:p>
        </p:txBody>
      </p:sp>
      <p:sp>
        <p:nvSpPr>
          <p:cNvPr id="6" name="Right Brace 5"/>
          <p:cNvSpPr/>
          <p:nvPr/>
        </p:nvSpPr>
        <p:spPr>
          <a:xfrm>
            <a:off x="4143372" y="2714620"/>
            <a:ext cx="500066" cy="1357322"/>
          </a:xfrm>
          <a:prstGeom prst="rightBrace">
            <a:avLst/>
          </a:prstGeom>
          <a:ln w="28575">
            <a:solidFill>
              <a:srgbClr val="00B0F0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rved Down Arrow 6"/>
          <p:cNvSpPr/>
          <p:nvPr/>
        </p:nvSpPr>
        <p:spPr>
          <a:xfrm rot="2657587">
            <a:off x="4819913" y="3747882"/>
            <a:ext cx="1769214" cy="407110"/>
          </a:xfrm>
          <a:prstGeom prst="curvedDownArrow">
            <a:avLst>
              <a:gd name="adj1" fmla="val 25000"/>
              <a:gd name="adj2" fmla="val 111637"/>
              <a:gd name="adj3" fmla="val 44255"/>
            </a:avLst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7024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Punched Tape 7"/>
          <p:cNvSpPr/>
          <p:nvPr/>
        </p:nvSpPr>
        <p:spPr>
          <a:xfrm>
            <a:off x="1142976" y="2857496"/>
            <a:ext cx="2857520" cy="1857388"/>
          </a:xfrm>
          <a:prstGeom prst="flowChartPunchedTap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7242" y="1428736"/>
            <a:ext cx="8229600" cy="5286412"/>
          </a:xfrm>
        </p:spPr>
        <p:txBody>
          <a:bodyPr>
            <a:normAutofit lnSpcReduction="10000"/>
          </a:bodyPr>
          <a:lstStyle/>
          <a:p>
            <a:pPr marL="609600" indent="-609600"/>
            <a:r>
              <a:rPr lang="en-US" sz="2400" dirty="0" smtClean="0">
                <a:solidFill>
                  <a:srgbClr val="00B0F0"/>
                </a:solidFill>
              </a:rPr>
              <a:t>Definition</a:t>
            </a:r>
            <a:r>
              <a:rPr lang="en-US" sz="2400" dirty="0" smtClean="0">
                <a:solidFill>
                  <a:srgbClr val="FFC000"/>
                </a:solidFill>
              </a:rPr>
              <a:t>: </a:t>
            </a:r>
            <a:r>
              <a:rPr lang="en-US" sz="2400" dirty="0" smtClean="0"/>
              <a:t>Rule of logic that asserts IF 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00B050"/>
                </a:solidFill>
              </a:rPr>
              <a:t>a </a:t>
            </a:r>
            <a:r>
              <a:rPr lang="en-GB" sz="2400" dirty="0">
                <a:solidFill>
                  <a:srgbClr val="00B050"/>
                </a:solidFill>
                <a:sym typeface="Symbol" pitchFamily="18" charset="2"/>
              </a:rPr>
              <a:t></a:t>
            </a:r>
            <a:r>
              <a:rPr lang="en-US" sz="2400" dirty="0">
                <a:solidFill>
                  <a:srgbClr val="00B050"/>
                </a:solidFill>
              </a:rPr>
              <a:t> b</a:t>
            </a:r>
            <a:r>
              <a:rPr lang="en-US" sz="2400" dirty="0"/>
              <a:t>), and </a:t>
            </a:r>
            <a:r>
              <a:rPr lang="en-US" sz="2400" dirty="0">
                <a:solidFill>
                  <a:srgbClr val="00B050"/>
                </a:solidFill>
              </a:rPr>
              <a:t>b</a:t>
            </a:r>
            <a:r>
              <a:rPr lang="en-US" sz="2400" dirty="0"/>
              <a:t> is known to be not true , then one can infer that </a:t>
            </a:r>
            <a:r>
              <a:rPr lang="en-US" sz="2400" dirty="0">
                <a:solidFill>
                  <a:srgbClr val="00B050"/>
                </a:solidFill>
              </a:rPr>
              <a:t>a</a:t>
            </a:r>
            <a:r>
              <a:rPr lang="en-US" sz="2400" dirty="0"/>
              <a:t> is not true</a:t>
            </a:r>
            <a:r>
              <a:rPr lang="en-US" sz="2400" dirty="0" smtClean="0"/>
              <a:t>.</a:t>
            </a:r>
          </a:p>
          <a:p>
            <a:pPr marL="609600" indent="-609600"/>
            <a:r>
              <a:rPr lang="en-US" sz="2400" dirty="0" smtClean="0">
                <a:solidFill>
                  <a:srgbClr val="FF0000"/>
                </a:solidFill>
              </a:rPr>
              <a:t>Basic </a:t>
            </a:r>
            <a:r>
              <a:rPr lang="en-US" sz="2400" dirty="0">
                <a:solidFill>
                  <a:srgbClr val="FF0000"/>
                </a:solidFill>
              </a:rPr>
              <a:t>form</a:t>
            </a:r>
            <a:r>
              <a:rPr lang="en-US" sz="2400" dirty="0" smtClean="0"/>
              <a:t>:</a:t>
            </a:r>
          </a:p>
          <a:p>
            <a:pPr marL="609600" indent="-609600">
              <a:buFont typeface="Wingdings" pitchFamily="2" charset="2"/>
              <a:buNone/>
            </a:pPr>
            <a:endParaRPr lang="en-US" sz="2800" dirty="0" smtClean="0"/>
          </a:p>
          <a:p>
            <a:pPr marL="609600" indent="-609600">
              <a:buFont typeface="Wingdings" pitchFamily="2" charset="2"/>
              <a:buNone/>
            </a:pPr>
            <a:r>
              <a:rPr lang="en-US" sz="2800" dirty="0" smtClean="0"/>
              <a:t>        A</a:t>
            </a:r>
            <a:r>
              <a:rPr lang="en-US" sz="2800" dirty="0"/>
              <a:t>	</a:t>
            </a:r>
            <a:r>
              <a:rPr lang="en-US" sz="2800" dirty="0">
                <a:sym typeface="Wingdings" pitchFamily="2" charset="2"/>
              </a:rPr>
              <a:t>	B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sz="2800" dirty="0">
                <a:sym typeface="Wingdings" pitchFamily="2" charset="2"/>
              </a:rPr>
              <a:t>		</a:t>
            </a:r>
            <a:r>
              <a:rPr lang="en-US" sz="2800" u="sng" dirty="0" smtClean="0">
                <a:sym typeface="Symbol" pitchFamily="18" charset="2"/>
              </a:rPr>
              <a:t></a:t>
            </a:r>
            <a:r>
              <a:rPr lang="en-US" sz="2800" u="sng" dirty="0">
                <a:sym typeface="Symbol" pitchFamily="18" charset="2"/>
              </a:rPr>
              <a:t>B		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sz="2800" dirty="0">
                <a:sym typeface="Symbol" pitchFamily="18" charset="2"/>
              </a:rPr>
              <a:t>		</a:t>
            </a:r>
            <a:r>
              <a:rPr lang="en-US" sz="2800" dirty="0" smtClean="0">
                <a:sym typeface="Symbol" pitchFamily="18" charset="2"/>
              </a:rPr>
              <a:t></a:t>
            </a:r>
            <a:r>
              <a:rPr lang="en-US" sz="2800" dirty="0">
                <a:sym typeface="Symbol" pitchFamily="18" charset="2"/>
              </a:rPr>
              <a:t>A</a:t>
            </a:r>
          </a:p>
          <a:p>
            <a:pPr marL="609600" indent="-609600">
              <a:buFont typeface="Wingdings" pitchFamily="2" charset="2"/>
              <a:buNone/>
            </a:pPr>
            <a:endParaRPr lang="en-US" sz="2800" dirty="0">
              <a:sym typeface="Symbol" pitchFamily="18" charset="2"/>
            </a:endParaRPr>
          </a:p>
          <a:p>
            <a:pPr marL="609600" indent="-609600">
              <a:buFont typeface="Wingdings" pitchFamily="2" charset="2"/>
              <a:buNone/>
            </a:pPr>
            <a:r>
              <a:rPr lang="en-GB" sz="2800" dirty="0"/>
              <a:t>			</a:t>
            </a:r>
            <a:r>
              <a:rPr lang="en-GB" sz="2800" dirty="0" smtClean="0"/>
              <a:t>                               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GB" sz="2800" dirty="0" smtClean="0"/>
              <a:t>				((</a:t>
            </a:r>
            <a:r>
              <a:rPr lang="en-GB" sz="2800" dirty="0"/>
              <a:t>A </a:t>
            </a:r>
            <a:r>
              <a:rPr lang="en-GB" sz="2800" dirty="0">
                <a:sym typeface="Wingdings" pitchFamily="2" charset="2"/>
              </a:rPr>
              <a:t> B) </a:t>
            </a:r>
            <a:r>
              <a:rPr lang="en-GB" sz="2800" dirty="0">
                <a:sym typeface="Symbol" pitchFamily="18" charset="2"/>
              </a:rPr>
              <a:t> B) </a:t>
            </a:r>
            <a:r>
              <a:rPr lang="en-GB" sz="2800" dirty="0">
                <a:sym typeface="Wingdings" pitchFamily="2" charset="2"/>
              </a:rPr>
              <a:t> </a:t>
            </a:r>
            <a:r>
              <a:rPr lang="en-GB" sz="2800" dirty="0">
                <a:sym typeface="Symbol" pitchFamily="18" charset="2"/>
              </a:rPr>
              <a:t>A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sz="2800" dirty="0"/>
              <a:t>			</a:t>
            </a:r>
          </a:p>
        </p:txBody>
      </p:sp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/>
          <a:p>
            <a:r>
              <a:rPr lang="en-US" dirty="0" smtClean="0"/>
              <a:t>Technique 2: Modus </a:t>
            </a:r>
            <a:r>
              <a:rPr lang="en-US" dirty="0" err="1" smtClean="0"/>
              <a:t>Tollens</a:t>
            </a:r>
            <a:endParaRPr lang="en-US" dirty="0"/>
          </a:p>
        </p:txBody>
      </p:sp>
      <p:sp>
        <p:nvSpPr>
          <p:cNvPr id="7" name="Curved Down Arrow 6"/>
          <p:cNvSpPr/>
          <p:nvPr/>
        </p:nvSpPr>
        <p:spPr>
          <a:xfrm rot="2657587">
            <a:off x="4037750" y="4599252"/>
            <a:ext cx="1662482" cy="374139"/>
          </a:xfrm>
          <a:prstGeom prst="curvedDownArrow">
            <a:avLst>
              <a:gd name="adj1" fmla="val 25000"/>
              <a:gd name="adj2" fmla="val 111637"/>
              <a:gd name="adj3" fmla="val 44255"/>
            </a:avLst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2754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2000" tmFilter="0,0; .5, 1; 1, 1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2000" tmFilter="0,0; .5, 1; 1, 1"/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5804" y="1571612"/>
            <a:ext cx="8229600" cy="4616450"/>
          </a:xfrm>
        </p:spPr>
        <p:txBody>
          <a:bodyPr/>
          <a:lstStyle/>
          <a:p>
            <a:pPr marL="609600" indent="-609600"/>
            <a:r>
              <a:rPr lang="en-US" sz="2400" dirty="0" smtClean="0">
                <a:solidFill>
                  <a:srgbClr val="00B0F0"/>
                </a:solidFill>
              </a:rPr>
              <a:t>Definition: </a:t>
            </a:r>
            <a:r>
              <a:rPr lang="en-US" sz="2400" dirty="0" smtClean="0"/>
              <a:t>Rule of logic that asserts IF (</a:t>
            </a:r>
            <a:r>
              <a:rPr lang="en-US" sz="2400" dirty="0" smtClean="0">
                <a:solidFill>
                  <a:srgbClr val="00B050"/>
                </a:solidFill>
              </a:rPr>
              <a:t>a </a:t>
            </a:r>
            <a:r>
              <a:rPr lang="en-US" sz="2400" dirty="0" smtClean="0">
                <a:solidFill>
                  <a:srgbClr val="00B050"/>
                </a:solidFill>
                <a:sym typeface="Symbol"/>
              </a:rPr>
              <a:t> b</a:t>
            </a:r>
            <a:r>
              <a:rPr lang="en-US" sz="2400" dirty="0" smtClean="0"/>
              <a:t>) and (</a:t>
            </a:r>
            <a:r>
              <a:rPr lang="en-US" sz="2400" dirty="0" smtClean="0">
                <a:solidFill>
                  <a:srgbClr val="00B050"/>
                </a:solidFill>
              </a:rPr>
              <a:t>b </a:t>
            </a:r>
            <a:r>
              <a:rPr lang="en-US" sz="2400" dirty="0" smtClean="0">
                <a:solidFill>
                  <a:srgbClr val="00B050"/>
                </a:solidFill>
                <a:sym typeface="Symbol"/>
              </a:rPr>
              <a:t> c</a:t>
            </a:r>
            <a:r>
              <a:rPr lang="en-US" sz="2400" dirty="0" smtClean="0"/>
              <a:t>) are true, (</a:t>
            </a:r>
            <a:r>
              <a:rPr lang="en-US" sz="2400" dirty="0" smtClean="0">
                <a:solidFill>
                  <a:srgbClr val="00B050"/>
                </a:solidFill>
              </a:rPr>
              <a:t>a </a:t>
            </a:r>
            <a:r>
              <a:rPr lang="en-US" sz="2400" dirty="0" smtClean="0">
                <a:solidFill>
                  <a:srgbClr val="00B050"/>
                </a:solidFill>
                <a:sym typeface="Symbol"/>
              </a:rPr>
              <a:t> c</a:t>
            </a:r>
            <a:r>
              <a:rPr lang="en-US" sz="2400" dirty="0" smtClean="0"/>
              <a:t>) is also true.</a:t>
            </a:r>
          </a:p>
          <a:p>
            <a:pPr marL="609600" indent="-609600">
              <a:buNone/>
            </a:pPr>
            <a:endParaRPr lang="en-US" sz="2400" dirty="0" smtClean="0"/>
          </a:p>
          <a:p>
            <a:pPr marL="609600" indent="-609600"/>
            <a:r>
              <a:rPr lang="en-US" sz="2400" dirty="0" smtClean="0"/>
              <a:t>Antecedent of the 1</a:t>
            </a:r>
            <a:r>
              <a:rPr lang="en-US" sz="2400" baseline="30000" dirty="0" smtClean="0"/>
              <a:t>st</a:t>
            </a:r>
            <a:r>
              <a:rPr lang="en-US" sz="2400" dirty="0" smtClean="0"/>
              <a:t> rule (</a:t>
            </a:r>
            <a:r>
              <a:rPr lang="en-US" sz="2400" dirty="0" smtClean="0">
                <a:solidFill>
                  <a:srgbClr val="00B050"/>
                </a:solidFill>
              </a:rPr>
              <a:t>b</a:t>
            </a:r>
            <a:r>
              <a:rPr lang="en-US" sz="2400" dirty="0" smtClean="0"/>
              <a:t>) is a premise of the 2</a:t>
            </a:r>
            <a:r>
              <a:rPr lang="en-US" sz="2400" baseline="30000" dirty="0" smtClean="0"/>
              <a:t>nd</a:t>
            </a:r>
            <a:r>
              <a:rPr lang="en-US" sz="2400" dirty="0" smtClean="0"/>
              <a:t> rule.  The 3</a:t>
            </a:r>
            <a:r>
              <a:rPr lang="en-US" sz="2400" baseline="30000" dirty="0" smtClean="0"/>
              <a:t>rd</a:t>
            </a:r>
            <a:r>
              <a:rPr lang="en-US" sz="2400" dirty="0" smtClean="0"/>
              <a:t> rule concluded consists of:</a:t>
            </a:r>
          </a:p>
          <a:p>
            <a:pPr marL="855663" lvl="1" indent="-288925"/>
            <a:r>
              <a:rPr lang="en-US" dirty="0" smtClean="0"/>
              <a:t> </a:t>
            </a:r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antecedent of the first rule </a:t>
            </a:r>
            <a:r>
              <a:rPr lang="en-US" dirty="0" smtClean="0"/>
              <a:t>(</a:t>
            </a:r>
            <a:r>
              <a:rPr lang="en-US" dirty="0" smtClean="0">
                <a:solidFill>
                  <a:srgbClr val="00B050"/>
                </a:solidFill>
              </a:rPr>
              <a:t>a</a:t>
            </a:r>
            <a:r>
              <a:rPr lang="en-US" dirty="0" smtClean="0"/>
              <a:t>) and </a:t>
            </a:r>
          </a:p>
          <a:p>
            <a:pPr marL="901700" lvl="1" indent="-334963"/>
            <a:r>
              <a:rPr lang="en-US" dirty="0" smtClean="0"/>
              <a:t>the consequent </a:t>
            </a:r>
            <a:r>
              <a:rPr lang="en-US" dirty="0"/>
              <a:t>of the second </a:t>
            </a:r>
            <a:r>
              <a:rPr lang="en-US" dirty="0" smtClean="0"/>
              <a:t>rule (</a:t>
            </a:r>
            <a:r>
              <a:rPr lang="en-US" dirty="0" smtClean="0">
                <a:solidFill>
                  <a:srgbClr val="00B050"/>
                </a:solidFill>
              </a:rPr>
              <a:t>c</a:t>
            </a:r>
            <a:r>
              <a:rPr lang="en-US" dirty="0" smtClean="0"/>
              <a:t>) .</a:t>
            </a:r>
            <a:endParaRPr lang="en-US" dirty="0"/>
          </a:p>
        </p:txBody>
      </p:sp>
      <p:sp>
        <p:nvSpPr>
          <p:cNvPr id="5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Technique 3: Hypothetical Syllogism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796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Document 7"/>
          <p:cNvSpPr/>
          <p:nvPr/>
        </p:nvSpPr>
        <p:spPr>
          <a:xfrm>
            <a:off x="1285852" y="2428868"/>
            <a:ext cx="2428892" cy="1857388"/>
          </a:xfrm>
          <a:prstGeom prst="flowChartDocumen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34" y="1598632"/>
            <a:ext cx="8229600" cy="4616450"/>
          </a:xfrm>
        </p:spPr>
        <p:txBody>
          <a:bodyPr/>
          <a:lstStyle/>
          <a:p>
            <a:pPr marL="609600" indent="-609600"/>
            <a:r>
              <a:rPr lang="en-US" dirty="0" smtClean="0">
                <a:solidFill>
                  <a:srgbClr val="FF0000"/>
                </a:solidFill>
              </a:rPr>
              <a:t>Basic </a:t>
            </a:r>
            <a:r>
              <a:rPr lang="en-US" dirty="0">
                <a:solidFill>
                  <a:srgbClr val="FF0000"/>
                </a:solidFill>
              </a:rPr>
              <a:t>form</a:t>
            </a:r>
            <a:r>
              <a:rPr lang="en-US" dirty="0" smtClean="0">
                <a:solidFill>
                  <a:srgbClr val="FF0000"/>
                </a:solidFill>
              </a:rPr>
              <a:t>:</a:t>
            </a:r>
          </a:p>
          <a:p>
            <a:pPr marL="609600" indent="-609600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609600" indent="-609600">
              <a:buFont typeface="Wingdings" pitchFamily="2" charset="2"/>
              <a:buNone/>
            </a:pPr>
            <a:r>
              <a:rPr lang="en-US" dirty="0"/>
              <a:t>	</a:t>
            </a:r>
            <a:r>
              <a:rPr lang="en-US" sz="2400" dirty="0"/>
              <a:t>	</a:t>
            </a:r>
            <a:r>
              <a:rPr lang="en-US" sz="2800" dirty="0" smtClean="0"/>
              <a:t>A</a:t>
            </a:r>
            <a:r>
              <a:rPr lang="en-US" sz="2800" dirty="0"/>
              <a:t>	</a:t>
            </a:r>
            <a:r>
              <a:rPr lang="en-US" sz="2800" dirty="0">
                <a:sym typeface="Wingdings" pitchFamily="2" charset="2"/>
              </a:rPr>
              <a:t>	B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sz="2800" dirty="0">
                <a:sym typeface="Wingdings" pitchFamily="2" charset="2"/>
              </a:rPr>
              <a:t>		</a:t>
            </a:r>
            <a:r>
              <a:rPr lang="en-US" sz="2800" u="sng" dirty="0" smtClean="0">
                <a:sym typeface="Wingdings" pitchFamily="2" charset="2"/>
              </a:rPr>
              <a:t>B</a:t>
            </a:r>
            <a:r>
              <a:rPr lang="en-US" sz="2800" u="sng" dirty="0">
                <a:sym typeface="Wingdings" pitchFamily="2" charset="2"/>
              </a:rPr>
              <a:t>		C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sz="2800" dirty="0">
                <a:sym typeface="Wingdings" pitchFamily="2" charset="2"/>
              </a:rPr>
              <a:t>		</a:t>
            </a:r>
            <a:r>
              <a:rPr lang="en-US" sz="2800" dirty="0" smtClean="0">
                <a:sym typeface="Wingdings" pitchFamily="2" charset="2"/>
              </a:rPr>
              <a:t>A           </a:t>
            </a:r>
            <a:r>
              <a:rPr lang="en-US" sz="2800" dirty="0">
                <a:sym typeface="Wingdings" pitchFamily="2" charset="2"/>
              </a:rPr>
              <a:t>C</a:t>
            </a:r>
          </a:p>
          <a:p>
            <a:pPr marL="609600" indent="-609600">
              <a:buFont typeface="Wingdings" pitchFamily="2" charset="2"/>
              <a:buNone/>
            </a:pPr>
            <a:endParaRPr lang="en-US" sz="2800" dirty="0">
              <a:sym typeface="Wingdings" pitchFamily="2" charset="2"/>
            </a:endParaRPr>
          </a:p>
          <a:p>
            <a:pPr marL="609600" indent="-609600">
              <a:buFont typeface="Wingdings" pitchFamily="2" charset="2"/>
              <a:buNone/>
            </a:pPr>
            <a:r>
              <a:rPr lang="en-US" sz="2800" dirty="0"/>
              <a:t>		</a:t>
            </a:r>
            <a:r>
              <a:rPr lang="en-US" sz="2800" dirty="0" smtClean="0"/>
              <a:t>		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sz="2800" dirty="0" smtClean="0"/>
              <a:t>				((</a:t>
            </a:r>
            <a:r>
              <a:rPr lang="en-US" sz="2800" dirty="0"/>
              <a:t>A </a:t>
            </a:r>
            <a:r>
              <a:rPr lang="en-US" sz="2800" dirty="0">
                <a:sym typeface="Wingdings" pitchFamily="2" charset="2"/>
              </a:rPr>
              <a:t> B) </a:t>
            </a:r>
            <a:r>
              <a:rPr lang="en-US" sz="2800" dirty="0">
                <a:sym typeface="Symbol" pitchFamily="18" charset="2"/>
              </a:rPr>
              <a:t> (B </a:t>
            </a:r>
            <a:r>
              <a:rPr lang="en-US" sz="2800" dirty="0">
                <a:sym typeface="Wingdings" pitchFamily="2" charset="2"/>
              </a:rPr>
              <a:t> C</a:t>
            </a:r>
            <a:r>
              <a:rPr lang="en-US" sz="2800" dirty="0" smtClean="0">
                <a:sym typeface="Wingdings" pitchFamily="2" charset="2"/>
              </a:rPr>
              <a:t>))</a:t>
            </a:r>
            <a:r>
              <a:rPr lang="en-US" sz="2800" dirty="0" smtClean="0"/>
              <a:t> </a:t>
            </a:r>
            <a:r>
              <a:rPr lang="en-US" sz="2800" dirty="0">
                <a:sym typeface="Wingdings" pitchFamily="2" charset="2"/>
              </a:rPr>
              <a:t> (A  C)</a:t>
            </a:r>
            <a:endParaRPr lang="en-US" sz="2800" dirty="0"/>
          </a:p>
          <a:p>
            <a:pPr marL="609600" indent="-609600"/>
            <a:endParaRPr lang="en-US" sz="2800" dirty="0"/>
          </a:p>
        </p:txBody>
      </p:sp>
      <p:sp>
        <p:nvSpPr>
          <p:cNvPr id="5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Hypothetical Syllogism</a:t>
            </a:r>
            <a:endParaRPr lang="en-US" dirty="0"/>
          </a:p>
        </p:txBody>
      </p:sp>
      <p:sp>
        <p:nvSpPr>
          <p:cNvPr id="7" name="Curved Down Arrow 6"/>
          <p:cNvSpPr/>
          <p:nvPr/>
        </p:nvSpPr>
        <p:spPr>
          <a:xfrm rot="2657587">
            <a:off x="3813035" y="3754698"/>
            <a:ext cx="1783188" cy="393477"/>
          </a:xfrm>
          <a:prstGeom prst="curvedDownArrow">
            <a:avLst>
              <a:gd name="adj1" fmla="val 25000"/>
              <a:gd name="adj2" fmla="val 111637"/>
              <a:gd name="adj3" fmla="val 44255"/>
            </a:avLst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  <a:reflection blurRad="6350" stA="50000" endA="300" endPos="5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5589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2000" fill="hold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B0F0"/>
                </a:solidFill>
              </a:rPr>
              <a:t>Definition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An inference </a:t>
            </a:r>
            <a:r>
              <a:rPr lang="en-US" dirty="0">
                <a:sym typeface="Wingdings" pitchFamily="2" charset="2"/>
              </a:rPr>
              <a:t>strategy </a:t>
            </a:r>
            <a:r>
              <a:rPr lang="en-US" dirty="0" smtClean="0">
                <a:sym typeface="Wingdings" pitchFamily="2" charset="2"/>
              </a:rPr>
              <a:t>that is used </a:t>
            </a:r>
            <a:r>
              <a:rPr lang="en-US" dirty="0">
                <a:sym typeface="Wingdings" pitchFamily="2" charset="2"/>
              </a:rPr>
              <a:t>to determine the truth of an insertion (new fact</a:t>
            </a:r>
            <a:r>
              <a:rPr lang="en-US" dirty="0" smtClean="0">
                <a:sym typeface="Wingdings" pitchFamily="2" charset="2"/>
              </a:rPr>
              <a:t>)</a:t>
            </a:r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Structure: </a:t>
            </a:r>
            <a:endParaRPr lang="en-US" dirty="0" smtClean="0">
              <a:sym typeface="Wingdings" pitchFamily="2" charset="2"/>
            </a:endParaRPr>
          </a:p>
          <a:p>
            <a:pPr lvl="1"/>
            <a:r>
              <a:rPr lang="en-US" b="1" dirty="0" smtClean="0">
                <a:sym typeface="Wingdings" pitchFamily="2" charset="2"/>
              </a:rPr>
              <a:t>(</a:t>
            </a:r>
            <a:r>
              <a:rPr lang="en-US" b="1" dirty="0">
                <a:sym typeface="Wingdings" pitchFamily="2" charset="2"/>
              </a:rPr>
              <a:t>A v B) </a:t>
            </a:r>
            <a:r>
              <a:rPr lang="en-US" b="1" dirty="0" smtClean="0">
                <a:sym typeface="Symbol"/>
              </a:rPr>
              <a:t> </a:t>
            </a:r>
            <a:r>
              <a:rPr lang="en-US" b="1" dirty="0" smtClean="0">
                <a:sym typeface="Wingdings" pitchFamily="2" charset="2"/>
              </a:rPr>
              <a:t>(</a:t>
            </a:r>
            <a:r>
              <a:rPr lang="en-US" b="1" dirty="0">
                <a:sym typeface="Symbol" pitchFamily="18" charset="2"/>
              </a:rPr>
              <a:t></a:t>
            </a:r>
            <a:r>
              <a:rPr lang="en-US" b="1" dirty="0">
                <a:sym typeface="Wingdings" pitchFamily="2" charset="2"/>
              </a:rPr>
              <a:t>B v C) = (A v C) </a:t>
            </a:r>
            <a:r>
              <a:rPr lang="en-US" dirty="0">
                <a:sym typeface="Wingdings" pitchFamily="2" charset="2"/>
              </a:rPr>
              <a:t>* since B </a:t>
            </a:r>
            <a:r>
              <a:rPr lang="en-US" dirty="0">
                <a:sym typeface="Symbol" pitchFamily="18" charset="2"/>
              </a:rPr>
              <a:t> B can be resolved.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Technique 4: Resolution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919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-32" y="1731983"/>
            <a:ext cx="8715436" cy="4625975"/>
          </a:xfrm>
        </p:spPr>
        <p:txBody>
          <a:bodyPr/>
          <a:lstStyle/>
          <a:p>
            <a:pPr lvl="1" algn="just"/>
            <a:r>
              <a:rPr lang="en-US" dirty="0" smtClean="0">
                <a:sym typeface="Symbol" pitchFamily="18" charset="2"/>
              </a:rPr>
              <a:t>New </a:t>
            </a:r>
            <a:r>
              <a:rPr lang="en-US" dirty="0">
                <a:sym typeface="Symbol" pitchFamily="18" charset="2"/>
              </a:rPr>
              <a:t>insertion should contradict with </a:t>
            </a:r>
            <a:r>
              <a:rPr lang="en-US" dirty="0" smtClean="0">
                <a:sym typeface="Symbol" pitchFamily="18" charset="2"/>
              </a:rPr>
              <a:t>original insertion.</a:t>
            </a:r>
            <a:endParaRPr lang="en-US" dirty="0">
              <a:sym typeface="Symbol" pitchFamily="18" charset="2"/>
            </a:endParaRPr>
          </a:p>
          <a:p>
            <a:pPr lvl="1" algn="just"/>
            <a:r>
              <a:rPr lang="en-US" dirty="0">
                <a:sym typeface="Symbol" pitchFamily="18" charset="2"/>
              </a:rPr>
              <a:t>A </a:t>
            </a:r>
            <a:r>
              <a:rPr lang="en-US" dirty="0">
                <a:solidFill>
                  <a:srgbClr val="00B0F0"/>
                </a:solidFill>
                <a:sym typeface="Symbol" pitchFamily="18" charset="2"/>
              </a:rPr>
              <a:t>contradiction</a:t>
            </a:r>
            <a:r>
              <a:rPr lang="en-US" dirty="0">
                <a:sym typeface="Symbol" pitchFamily="18" charset="2"/>
              </a:rPr>
              <a:t> is simply two axioms that are </a:t>
            </a:r>
            <a:r>
              <a:rPr lang="en-US" dirty="0">
                <a:solidFill>
                  <a:srgbClr val="FF0000"/>
                </a:solidFill>
                <a:sym typeface="Symbol" pitchFamily="18" charset="2"/>
              </a:rPr>
              <a:t>logically contradictory</a:t>
            </a:r>
            <a:r>
              <a:rPr lang="en-US" dirty="0">
                <a:sym typeface="Symbol" pitchFamily="18" charset="2"/>
              </a:rPr>
              <a:t> (</a:t>
            </a:r>
            <a:r>
              <a:rPr lang="en-US" dirty="0" err="1">
                <a:sym typeface="Symbol" pitchFamily="18" charset="2"/>
              </a:rPr>
              <a:t>Eg</a:t>
            </a:r>
            <a:r>
              <a:rPr lang="en-US" dirty="0">
                <a:sym typeface="Symbol" pitchFamily="18" charset="2"/>
              </a:rPr>
              <a:t>: </a:t>
            </a:r>
            <a:r>
              <a:rPr lang="en-US" dirty="0">
                <a:sym typeface="Wingdings" pitchFamily="2" charset="2"/>
              </a:rPr>
              <a:t>B  and</a:t>
            </a:r>
            <a:r>
              <a:rPr lang="en-US" dirty="0">
                <a:sym typeface="Symbol" pitchFamily="18" charset="2"/>
              </a:rPr>
              <a:t> B</a:t>
            </a:r>
            <a:r>
              <a:rPr lang="en-US" dirty="0" smtClean="0">
                <a:sym typeface="Symbol" pitchFamily="18" charset="2"/>
              </a:rPr>
              <a:t>).</a:t>
            </a:r>
          </a:p>
          <a:p>
            <a:pPr lvl="2" algn="just"/>
            <a:r>
              <a:rPr lang="en-US" dirty="0" smtClean="0">
                <a:sym typeface="Symbol" pitchFamily="18" charset="2"/>
              </a:rPr>
              <a:t>If B is true, saying that B is false is definitely contradict.</a:t>
            </a:r>
            <a:endParaRPr lang="en-US" dirty="0">
              <a:sym typeface="Symbol" pitchFamily="18" charset="2"/>
            </a:endParaRPr>
          </a:p>
          <a:p>
            <a:pPr lvl="1" algn="just"/>
            <a:r>
              <a:rPr lang="en-US" dirty="0">
                <a:sym typeface="Symbol" pitchFamily="18" charset="2"/>
              </a:rPr>
              <a:t>Known as “proof by refutation”</a:t>
            </a:r>
          </a:p>
          <a:p>
            <a:pPr lvl="1" algn="just"/>
            <a:r>
              <a:rPr lang="en-US" dirty="0" err="1" smtClean="0">
                <a:solidFill>
                  <a:srgbClr val="00B050"/>
                </a:solidFill>
                <a:sym typeface="Symbol" pitchFamily="18" charset="2"/>
              </a:rPr>
              <a:t>Resolvent</a:t>
            </a:r>
            <a:r>
              <a:rPr lang="en-US" dirty="0" smtClean="0">
                <a:solidFill>
                  <a:srgbClr val="00B050"/>
                </a:solidFill>
                <a:sym typeface="Symbol" pitchFamily="18" charset="2"/>
              </a:rPr>
              <a:t> is</a:t>
            </a:r>
            <a:r>
              <a:rPr lang="en-US" dirty="0" smtClean="0">
                <a:sym typeface="Wingdings" pitchFamily="2" charset="2"/>
              </a:rPr>
              <a:t> a new expression </a:t>
            </a:r>
            <a:r>
              <a:rPr lang="en-US" dirty="0">
                <a:sym typeface="Wingdings" pitchFamily="2" charset="2"/>
              </a:rPr>
              <a:t>from the resolution of existing axioms. 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Resolution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199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4488"/>
            <a:ext cx="8229600" cy="4625975"/>
          </a:xfrm>
        </p:spPr>
        <p:txBody>
          <a:bodyPr/>
          <a:lstStyle/>
          <a:p>
            <a:pPr marL="609600" indent="-609600">
              <a:lnSpc>
                <a:spcPct val="80000"/>
              </a:lnSpc>
            </a:pPr>
            <a:r>
              <a:rPr lang="en-US" sz="2800" dirty="0" smtClean="0">
                <a:solidFill>
                  <a:srgbClr val="00B0F0"/>
                </a:solidFill>
                <a:sym typeface="Wingdings" pitchFamily="2" charset="2"/>
              </a:rPr>
              <a:t>Algorithm</a:t>
            </a:r>
            <a:endParaRPr lang="en-US" sz="2800" dirty="0">
              <a:solidFill>
                <a:srgbClr val="00B0F0"/>
              </a:solidFill>
              <a:sym typeface="Wingdings" pitchFamily="2" charset="2"/>
            </a:endParaRPr>
          </a:p>
          <a:p>
            <a:pPr marL="609600" indent="-609600">
              <a:lnSpc>
                <a:spcPct val="80000"/>
              </a:lnSpc>
            </a:pPr>
            <a:endParaRPr lang="en-US" sz="2800" b="1" dirty="0">
              <a:sym typeface="Wingdings" pitchFamily="2" charset="2"/>
            </a:endParaRPr>
          </a:p>
          <a:p>
            <a:pPr marL="1181100" lvl="1" indent="-457200">
              <a:lnSpc>
                <a:spcPct val="80000"/>
              </a:lnSpc>
              <a:buClr>
                <a:srgbClr val="FFC000"/>
              </a:buClr>
              <a:buSzPct val="100000"/>
              <a:buFont typeface="+mj-lt"/>
              <a:buAutoNum type="arabicPeriod"/>
            </a:pPr>
            <a:r>
              <a:rPr lang="en-US" sz="2400" dirty="0" smtClean="0">
                <a:sym typeface="Symbol" pitchFamily="18" charset="2"/>
              </a:rPr>
              <a:t> Assume </a:t>
            </a:r>
            <a:r>
              <a:rPr lang="en-US" sz="2400" dirty="0">
                <a:sym typeface="Symbol" pitchFamily="18" charset="2"/>
              </a:rPr>
              <a:t>P is </a:t>
            </a:r>
            <a:r>
              <a:rPr lang="en-US" sz="2400" dirty="0" smtClean="0">
                <a:sym typeface="Symbol" pitchFamily="18" charset="2"/>
              </a:rPr>
              <a:t>TRUE</a:t>
            </a:r>
          </a:p>
          <a:p>
            <a:pPr marL="1181100" lvl="1" indent="-457200">
              <a:lnSpc>
                <a:spcPct val="80000"/>
              </a:lnSpc>
              <a:buClr>
                <a:srgbClr val="FFC000"/>
              </a:buClr>
              <a:buSzPct val="100000"/>
              <a:buFont typeface="+mj-lt"/>
              <a:buAutoNum type="arabicPeriod"/>
            </a:pPr>
            <a:r>
              <a:rPr lang="en-US" sz="2400" dirty="0" smtClean="0">
                <a:sym typeface="Symbol" pitchFamily="18" charset="2"/>
              </a:rPr>
              <a:t>Show </a:t>
            </a:r>
            <a:r>
              <a:rPr lang="en-US" sz="2400" dirty="0">
                <a:sym typeface="Symbol" pitchFamily="18" charset="2"/>
              </a:rPr>
              <a:t>that the axioms and P lead to a </a:t>
            </a:r>
          </a:p>
          <a:p>
            <a:pPr marL="746125" lvl="1" indent="-22225">
              <a:lnSpc>
                <a:spcPct val="80000"/>
              </a:lnSpc>
              <a:buClr>
                <a:srgbClr val="FFC000"/>
              </a:buClr>
              <a:buSzPct val="100000"/>
              <a:buFontTx/>
              <a:buNone/>
            </a:pPr>
            <a:r>
              <a:rPr lang="en-US" sz="2400" dirty="0">
                <a:sym typeface="Symbol" pitchFamily="18" charset="2"/>
              </a:rPr>
              <a:t>		  </a:t>
            </a:r>
            <a:r>
              <a:rPr lang="en-US" sz="2400" dirty="0" smtClean="0">
                <a:sym typeface="Symbol" pitchFamily="18" charset="2"/>
              </a:rPr>
              <a:t>   contradiction</a:t>
            </a:r>
          </a:p>
          <a:p>
            <a:pPr marL="1181100" lvl="1" indent="-457200">
              <a:lnSpc>
                <a:spcPct val="80000"/>
              </a:lnSpc>
              <a:buClr>
                <a:srgbClr val="FFC000"/>
              </a:buClr>
              <a:buSzPct val="100000"/>
              <a:buFont typeface="+mj-lt"/>
              <a:buAutoNum type="arabicPeriod" startAt="3"/>
            </a:pPr>
            <a:r>
              <a:rPr lang="en-US" sz="2400" dirty="0" smtClean="0">
                <a:sym typeface="Symbol" pitchFamily="18" charset="2"/>
              </a:rPr>
              <a:t>Conclude </a:t>
            </a:r>
            <a:r>
              <a:rPr lang="en-US" sz="2400" dirty="0">
                <a:sym typeface="Symbol" pitchFamily="18" charset="2"/>
              </a:rPr>
              <a:t>that P  is FALSE since it leads to a </a:t>
            </a:r>
          </a:p>
          <a:p>
            <a:pPr marL="746125" lvl="1" indent="-22225">
              <a:lnSpc>
                <a:spcPct val="80000"/>
              </a:lnSpc>
              <a:buClr>
                <a:srgbClr val="FFC000"/>
              </a:buClr>
              <a:buSzPct val="100000"/>
              <a:buFontTx/>
              <a:buNone/>
            </a:pPr>
            <a:r>
              <a:rPr lang="en-US" sz="2400" dirty="0">
                <a:sym typeface="Symbol" pitchFamily="18" charset="2"/>
              </a:rPr>
              <a:t>    </a:t>
            </a:r>
            <a:r>
              <a:rPr lang="en-US" sz="2400" dirty="0" smtClean="0">
                <a:sym typeface="Symbol" pitchFamily="18" charset="2"/>
              </a:rPr>
              <a:t>    contradiction.</a:t>
            </a:r>
          </a:p>
          <a:p>
            <a:pPr marL="1181100" lvl="1" indent="-457200">
              <a:lnSpc>
                <a:spcPct val="80000"/>
              </a:lnSpc>
              <a:buClr>
                <a:srgbClr val="FFC000"/>
              </a:buClr>
              <a:buSzPct val="100000"/>
              <a:buFont typeface="+mj-lt"/>
              <a:buAutoNum type="arabicPeriod" startAt="4"/>
            </a:pPr>
            <a:r>
              <a:rPr lang="en-US" sz="2400" dirty="0" smtClean="0">
                <a:sym typeface="Symbol" pitchFamily="18" charset="2"/>
              </a:rPr>
              <a:t>Conclude </a:t>
            </a:r>
            <a:r>
              <a:rPr lang="en-US" sz="2400" dirty="0">
                <a:sym typeface="Symbol" pitchFamily="18" charset="2"/>
              </a:rPr>
              <a:t>that P is TRUE since P is FALSE</a:t>
            </a:r>
          </a:p>
          <a:p>
            <a:pPr marL="609600" indent="-609600">
              <a:lnSpc>
                <a:spcPct val="80000"/>
              </a:lnSpc>
              <a:buFontTx/>
              <a:buNone/>
            </a:pPr>
            <a:endParaRPr lang="en-US" sz="2800" dirty="0">
              <a:sym typeface="Symbol" pitchFamily="18" charset="2"/>
            </a:endParaRPr>
          </a:p>
          <a:p>
            <a:pPr marL="746125" lvl="1" indent="-22225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solidFill>
                  <a:srgbClr val="00B0F0"/>
                </a:solidFill>
                <a:sym typeface="Symbol" pitchFamily="18" charset="2"/>
              </a:rPr>
              <a:t>The processes continue </a:t>
            </a:r>
            <a:r>
              <a:rPr lang="en-US" sz="2000" dirty="0">
                <a:solidFill>
                  <a:srgbClr val="00B0F0"/>
                </a:solidFill>
                <a:sym typeface="Symbol" pitchFamily="18" charset="2"/>
              </a:rPr>
              <a:t>until a contradiction is produced.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Resolution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235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Normal forms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Sentences in the propositional logic can be transformed into one </a:t>
            </a:r>
            <a:r>
              <a:rPr lang="en-US" sz="2400" dirty="0" smtClean="0"/>
              <a:t>of the </a:t>
            </a:r>
            <a:r>
              <a:rPr lang="en-US" sz="2400" dirty="0"/>
              <a:t>normal forms. </a:t>
            </a:r>
            <a:r>
              <a:rPr lang="en-US" sz="2400" dirty="0" smtClean="0"/>
              <a:t>This </a:t>
            </a:r>
            <a:r>
              <a:rPr lang="en-US" sz="2400" dirty="0"/>
              <a:t>can simplify the inferences</a:t>
            </a:r>
            <a:r>
              <a:rPr lang="en-US" sz="2400" dirty="0" smtClean="0"/>
              <a:t>.</a:t>
            </a:r>
          </a:p>
          <a:p>
            <a:r>
              <a:rPr lang="en-US" sz="2400" b="1" dirty="0">
                <a:solidFill>
                  <a:srgbClr val="000000"/>
                </a:solidFill>
                <a:latin typeface="TimesNewRoman,Bold"/>
              </a:rPr>
              <a:t>Normal forms used:</a:t>
            </a:r>
          </a:p>
          <a:p>
            <a:r>
              <a:rPr lang="en-US" sz="2400" b="1" dirty="0">
                <a:solidFill>
                  <a:srgbClr val="0000FF"/>
                </a:solidFill>
                <a:latin typeface="TimesNewRoman,Bold"/>
              </a:rPr>
              <a:t>Conjunctive normal form (CNF)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NewRoman"/>
              </a:rPr>
              <a:t>• conjunction of clauses (clauses include disjunctions of literals</a:t>
            </a:r>
            <a:r>
              <a:rPr lang="en-US" sz="2400" dirty="0" smtClean="0">
                <a:solidFill>
                  <a:srgbClr val="000000"/>
                </a:solidFill>
                <a:latin typeface="TimesNewRoman"/>
              </a:rPr>
              <a:t>)</a:t>
            </a:r>
          </a:p>
          <a:p>
            <a:r>
              <a:rPr lang="pt-BR" sz="2400" dirty="0">
                <a:solidFill>
                  <a:srgbClr val="000000"/>
                </a:solidFill>
                <a:latin typeface="TimesNewRoman"/>
              </a:rPr>
              <a:t>( </a:t>
            </a:r>
            <a:r>
              <a:rPr lang="pt-BR" sz="2400" i="1" dirty="0">
                <a:solidFill>
                  <a:srgbClr val="000000"/>
                </a:solidFill>
                <a:latin typeface="TimesNewRoman,Italic"/>
              </a:rPr>
              <a:t>A </a:t>
            </a:r>
            <a:r>
              <a:rPr lang="pt-BR" sz="2400" dirty="0">
                <a:solidFill>
                  <a:srgbClr val="000000"/>
                </a:solidFill>
                <a:latin typeface="SymbolMT"/>
              </a:rPr>
              <a:t>∨ </a:t>
            </a:r>
            <a:r>
              <a:rPr lang="pt-BR" sz="2400" i="1" dirty="0">
                <a:solidFill>
                  <a:srgbClr val="000000"/>
                </a:solidFill>
                <a:latin typeface="TimesNewRoman,Italic"/>
              </a:rPr>
              <a:t>B</a:t>
            </a:r>
            <a:r>
              <a:rPr lang="pt-BR" sz="2400" dirty="0">
                <a:solidFill>
                  <a:srgbClr val="000000"/>
                </a:solidFill>
                <a:latin typeface="TimesNewRoman"/>
              </a:rPr>
              <a:t>) </a:t>
            </a:r>
            <a:r>
              <a:rPr lang="pt-BR" sz="2400" dirty="0">
                <a:solidFill>
                  <a:srgbClr val="000000"/>
                </a:solidFill>
                <a:latin typeface="SymbolMT"/>
              </a:rPr>
              <a:t>∧ </a:t>
            </a:r>
            <a:r>
              <a:rPr lang="pt-BR" sz="2400" dirty="0">
                <a:solidFill>
                  <a:srgbClr val="000000"/>
                </a:solidFill>
                <a:latin typeface="TimesNewRoman"/>
              </a:rPr>
              <a:t>(</a:t>
            </a:r>
            <a:r>
              <a:rPr lang="pt-BR" sz="2400" dirty="0">
                <a:solidFill>
                  <a:srgbClr val="000000"/>
                </a:solidFill>
                <a:latin typeface="SymbolMT"/>
              </a:rPr>
              <a:t>¬</a:t>
            </a:r>
            <a:r>
              <a:rPr lang="pt-BR" sz="2400" i="1" dirty="0">
                <a:solidFill>
                  <a:srgbClr val="000000"/>
                </a:solidFill>
                <a:latin typeface="TimesNewRoman,Italic"/>
              </a:rPr>
              <a:t>A </a:t>
            </a:r>
            <a:r>
              <a:rPr lang="pt-BR" sz="2400" dirty="0">
                <a:solidFill>
                  <a:srgbClr val="000000"/>
                </a:solidFill>
                <a:latin typeface="SymbolMT"/>
              </a:rPr>
              <a:t>∨ ¬</a:t>
            </a:r>
            <a:r>
              <a:rPr lang="pt-BR" sz="2400" i="1" dirty="0">
                <a:solidFill>
                  <a:srgbClr val="000000"/>
                </a:solidFill>
                <a:latin typeface="TimesNewRoman,Italic"/>
              </a:rPr>
              <a:t>C </a:t>
            </a:r>
            <a:r>
              <a:rPr lang="pt-BR" sz="2400" dirty="0">
                <a:solidFill>
                  <a:srgbClr val="000000"/>
                </a:solidFill>
                <a:latin typeface="SymbolMT"/>
              </a:rPr>
              <a:t>∨ </a:t>
            </a:r>
            <a:r>
              <a:rPr lang="pt-BR" sz="2400" i="1" dirty="0">
                <a:solidFill>
                  <a:srgbClr val="000000"/>
                </a:solidFill>
                <a:latin typeface="TimesNewRoman,Italic"/>
              </a:rPr>
              <a:t>D</a:t>
            </a:r>
            <a:r>
              <a:rPr lang="pt-BR" sz="2400" dirty="0">
                <a:solidFill>
                  <a:srgbClr val="000000"/>
                </a:solidFill>
                <a:latin typeface="TimesNewRoman"/>
              </a:rPr>
              <a:t>)</a:t>
            </a:r>
          </a:p>
          <a:p>
            <a:endParaRPr lang="en-US" sz="2400" dirty="0">
              <a:solidFill>
                <a:srgbClr val="000000"/>
              </a:solidFill>
              <a:latin typeface="TimesNewRoman"/>
            </a:endParaRPr>
          </a:p>
          <a:p>
            <a:r>
              <a:rPr lang="en-US" sz="2400" b="1" dirty="0">
                <a:solidFill>
                  <a:srgbClr val="0000FF"/>
                </a:solidFill>
                <a:latin typeface="TimesNewRoman,Bold"/>
              </a:rPr>
              <a:t>Disjunctive normal form (DNF)</a:t>
            </a:r>
          </a:p>
          <a:p>
            <a:r>
              <a:rPr lang="en-US" sz="2400" dirty="0">
                <a:solidFill>
                  <a:srgbClr val="000000"/>
                </a:solidFill>
                <a:latin typeface="TimesNewRoman"/>
              </a:rPr>
              <a:t>• Disjunction of terms (terms include conjunction of literals)</a:t>
            </a:r>
          </a:p>
          <a:p>
            <a:r>
              <a:rPr lang="pt-BR" sz="2400" dirty="0" smtClean="0">
                <a:solidFill>
                  <a:srgbClr val="000000"/>
                </a:solidFill>
                <a:latin typeface="TimesNewRoman"/>
              </a:rPr>
              <a:t>( </a:t>
            </a:r>
            <a:r>
              <a:rPr lang="pt-BR" sz="2400" i="1" dirty="0">
                <a:solidFill>
                  <a:srgbClr val="000000"/>
                </a:solidFill>
                <a:latin typeface="TimesNewRoman,Italic"/>
              </a:rPr>
              <a:t>A </a:t>
            </a:r>
            <a:r>
              <a:rPr lang="pt-BR" sz="2400" dirty="0">
                <a:solidFill>
                  <a:srgbClr val="000000"/>
                </a:solidFill>
                <a:latin typeface="SymbolMT"/>
              </a:rPr>
              <a:t>∧ ¬</a:t>
            </a:r>
            <a:r>
              <a:rPr lang="pt-BR" sz="2400" i="1" dirty="0">
                <a:solidFill>
                  <a:srgbClr val="000000"/>
                </a:solidFill>
                <a:latin typeface="TimesNewRoman,Italic"/>
              </a:rPr>
              <a:t>B</a:t>
            </a:r>
            <a:r>
              <a:rPr lang="pt-BR" sz="2400" dirty="0">
                <a:solidFill>
                  <a:srgbClr val="000000"/>
                </a:solidFill>
                <a:latin typeface="TimesNewRoman"/>
              </a:rPr>
              <a:t>) </a:t>
            </a:r>
            <a:r>
              <a:rPr lang="pt-BR" sz="2400" dirty="0">
                <a:solidFill>
                  <a:srgbClr val="000000"/>
                </a:solidFill>
                <a:latin typeface="SymbolMT"/>
              </a:rPr>
              <a:t>∨ </a:t>
            </a:r>
            <a:r>
              <a:rPr lang="pt-BR" sz="2400" dirty="0">
                <a:solidFill>
                  <a:srgbClr val="000000"/>
                </a:solidFill>
                <a:latin typeface="TimesNewRoman"/>
              </a:rPr>
              <a:t>(</a:t>
            </a:r>
            <a:r>
              <a:rPr lang="pt-BR" sz="2400" dirty="0">
                <a:solidFill>
                  <a:srgbClr val="000000"/>
                </a:solidFill>
                <a:latin typeface="SymbolMT"/>
              </a:rPr>
              <a:t>¬</a:t>
            </a:r>
            <a:r>
              <a:rPr lang="pt-BR" sz="2400" i="1" dirty="0">
                <a:solidFill>
                  <a:srgbClr val="000000"/>
                </a:solidFill>
                <a:latin typeface="TimesNewRoman,Italic"/>
              </a:rPr>
              <a:t>A </a:t>
            </a:r>
            <a:r>
              <a:rPr lang="pt-BR" sz="2400" dirty="0">
                <a:solidFill>
                  <a:srgbClr val="000000"/>
                </a:solidFill>
                <a:latin typeface="SymbolMT"/>
              </a:rPr>
              <a:t>∧ </a:t>
            </a:r>
            <a:r>
              <a:rPr lang="pt-BR" sz="2400" i="1" dirty="0">
                <a:solidFill>
                  <a:srgbClr val="000000"/>
                </a:solidFill>
                <a:latin typeface="TimesNewRoman,Italic"/>
              </a:rPr>
              <a:t>C</a:t>
            </a:r>
            <a:r>
              <a:rPr lang="pt-BR" sz="2400" dirty="0">
                <a:solidFill>
                  <a:srgbClr val="000000"/>
                </a:solidFill>
                <a:latin typeface="TimesNewRoman"/>
              </a:rPr>
              <a:t>) </a:t>
            </a:r>
            <a:r>
              <a:rPr lang="pt-BR" sz="2400" dirty="0">
                <a:solidFill>
                  <a:srgbClr val="000000"/>
                </a:solidFill>
                <a:latin typeface="SymbolMT"/>
              </a:rPr>
              <a:t>∨ </a:t>
            </a:r>
            <a:r>
              <a:rPr lang="pt-BR" sz="2400" dirty="0">
                <a:solidFill>
                  <a:srgbClr val="000000"/>
                </a:solidFill>
                <a:latin typeface="TimesNewRoman"/>
              </a:rPr>
              <a:t>(</a:t>
            </a:r>
            <a:r>
              <a:rPr lang="pt-BR" sz="2400" i="1" dirty="0">
                <a:solidFill>
                  <a:srgbClr val="000000"/>
                </a:solidFill>
                <a:latin typeface="TimesNewRoman,Italic"/>
              </a:rPr>
              <a:t>C </a:t>
            </a:r>
            <a:r>
              <a:rPr lang="pt-BR" sz="2400" dirty="0">
                <a:solidFill>
                  <a:srgbClr val="000000"/>
                </a:solidFill>
                <a:latin typeface="SymbolMT"/>
              </a:rPr>
              <a:t>∧ ¬</a:t>
            </a:r>
            <a:r>
              <a:rPr lang="pt-BR" sz="2400" i="1" dirty="0">
                <a:solidFill>
                  <a:srgbClr val="000000"/>
                </a:solidFill>
                <a:latin typeface="TimesNewRoman,Italic"/>
              </a:rPr>
              <a:t>D</a:t>
            </a:r>
            <a:r>
              <a:rPr lang="pt-BR" sz="2400" dirty="0">
                <a:solidFill>
                  <a:srgbClr val="000000"/>
                </a:solidFill>
                <a:latin typeface="TimesNewRoman"/>
              </a:rPr>
              <a:t>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3358292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Conversion to a CNF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Assume</a:t>
            </a:r>
            <a:r>
              <a:rPr lang="en-US" b="1" dirty="0" smtClean="0"/>
              <a:t>: </a:t>
            </a:r>
            <a:r>
              <a:rPr lang="en-US" dirty="0"/>
              <a:t>¬( </a:t>
            </a:r>
            <a:r>
              <a:rPr lang="en-US" i="1" dirty="0"/>
              <a:t>A </a:t>
            </a:r>
            <a:r>
              <a:rPr lang="en-US" dirty="0"/>
              <a:t>⇒ </a:t>
            </a:r>
            <a:r>
              <a:rPr lang="en-US" i="1" dirty="0"/>
              <a:t>B</a:t>
            </a:r>
            <a:r>
              <a:rPr lang="en-US" dirty="0"/>
              <a:t>) ∨ (</a:t>
            </a:r>
            <a:r>
              <a:rPr lang="en-US" i="1" dirty="0"/>
              <a:t>C </a:t>
            </a:r>
            <a:r>
              <a:rPr lang="en-US" dirty="0"/>
              <a:t>⇒ </a:t>
            </a:r>
            <a:r>
              <a:rPr lang="en-US" i="1" dirty="0"/>
              <a:t>A</a:t>
            </a:r>
            <a:r>
              <a:rPr lang="en-US" dirty="0" smtClean="0"/>
              <a:t>)</a:t>
            </a:r>
            <a:endParaRPr lang="en-US" b="1" dirty="0"/>
          </a:p>
          <a:p>
            <a:r>
              <a:rPr lang="en-US" dirty="0"/>
              <a:t>1. </a:t>
            </a:r>
            <a:r>
              <a:rPr lang="en-US" dirty="0" smtClean="0"/>
              <a:t>Eliminate </a:t>
            </a:r>
            <a:r>
              <a:rPr lang="en-US" dirty="0"/>
              <a:t>⇒,</a:t>
            </a:r>
            <a:r>
              <a:rPr lang="en-US" dirty="0" smtClean="0"/>
              <a:t>⇔</a:t>
            </a:r>
          </a:p>
          <a:p>
            <a:r>
              <a:rPr lang="en-US" dirty="0"/>
              <a:t>¬(¬</a:t>
            </a:r>
            <a:r>
              <a:rPr lang="en-US" i="1" dirty="0"/>
              <a:t>A </a:t>
            </a:r>
            <a:r>
              <a:rPr lang="en-US" dirty="0"/>
              <a:t>∨ </a:t>
            </a:r>
            <a:r>
              <a:rPr lang="en-US" i="1" dirty="0"/>
              <a:t>B</a:t>
            </a:r>
            <a:r>
              <a:rPr lang="en-US" dirty="0"/>
              <a:t>) ∨ (¬</a:t>
            </a:r>
            <a:r>
              <a:rPr lang="en-US" i="1" dirty="0"/>
              <a:t>C </a:t>
            </a:r>
            <a:r>
              <a:rPr lang="en-US" dirty="0"/>
              <a:t>∨ </a:t>
            </a:r>
            <a:r>
              <a:rPr lang="en-US" i="1" dirty="0"/>
              <a:t>A</a:t>
            </a:r>
            <a:r>
              <a:rPr lang="en-US" dirty="0" smtClean="0"/>
              <a:t>)</a:t>
            </a:r>
            <a:endParaRPr lang="en-US" dirty="0"/>
          </a:p>
          <a:p>
            <a:r>
              <a:rPr lang="en-US" dirty="0"/>
              <a:t>2. Reduce the scope of signs through </a:t>
            </a:r>
            <a:r>
              <a:rPr lang="en-US" dirty="0" err="1"/>
              <a:t>DeMorgan</a:t>
            </a:r>
            <a:r>
              <a:rPr lang="en-US" dirty="0"/>
              <a:t> Laws </a:t>
            </a:r>
            <a:r>
              <a:rPr lang="en-US" dirty="0" smtClean="0"/>
              <a:t>and double negation.</a:t>
            </a:r>
          </a:p>
          <a:p>
            <a:r>
              <a:rPr lang="en-US" dirty="0"/>
              <a:t>( </a:t>
            </a:r>
            <a:r>
              <a:rPr lang="en-US" i="1" dirty="0"/>
              <a:t>A </a:t>
            </a:r>
            <a:r>
              <a:rPr lang="en-US" dirty="0"/>
              <a:t>∧ ¬</a:t>
            </a:r>
            <a:r>
              <a:rPr lang="en-US" i="1" dirty="0"/>
              <a:t>B</a:t>
            </a:r>
            <a:r>
              <a:rPr lang="en-US" dirty="0"/>
              <a:t>) ∨ (¬</a:t>
            </a:r>
            <a:r>
              <a:rPr lang="en-US" i="1" dirty="0"/>
              <a:t>C </a:t>
            </a:r>
            <a:r>
              <a:rPr lang="en-US" dirty="0"/>
              <a:t>∨ </a:t>
            </a:r>
            <a:r>
              <a:rPr lang="en-US" i="1" dirty="0"/>
              <a:t>A</a:t>
            </a:r>
            <a:r>
              <a:rPr lang="en-US" dirty="0" smtClean="0"/>
              <a:t>)</a:t>
            </a:r>
            <a:endParaRPr lang="en-US" dirty="0"/>
          </a:p>
          <a:p>
            <a:r>
              <a:rPr lang="en-US" dirty="0"/>
              <a:t>3. Convert to CNF using the associative and distributive </a:t>
            </a:r>
            <a:r>
              <a:rPr lang="en-US" dirty="0" smtClean="0"/>
              <a:t>laws</a:t>
            </a:r>
          </a:p>
          <a:p>
            <a:r>
              <a:rPr lang="pt-BR" dirty="0"/>
              <a:t>( </a:t>
            </a:r>
            <a:r>
              <a:rPr lang="pt-BR" i="1" dirty="0"/>
              <a:t>A </a:t>
            </a:r>
            <a:r>
              <a:rPr lang="pt-BR" dirty="0"/>
              <a:t>∨ ¬</a:t>
            </a:r>
            <a:r>
              <a:rPr lang="pt-BR" i="1" dirty="0"/>
              <a:t>C </a:t>
            </a:r>
            <a:r>
              <a:rPr lang="pt-BR" dirty="0"/>
              <a:t>∨ </a:t>
            </a:r>
            <a:r>
              <a:rPr lang="pt-BR" i="1" dirty="0"/>
              <a:t>A</a:t>
            </a:r>
            <a:r>
              <a:rPr lang="pt-BR" dirty="0"/>
              <a:t>) ∧ (¬</a:t>
            </a:r>
            <a:r>
              <a:rPr lang="pt-BR" i="1" dirty="0"/>
              <a:t>B </a:t>
            </a:r>
            <a:r>
              <a:rPr lang="pt-BR" dirty="0"/>
              <a:t>∨ ¬</a:t>
            </a:r>
            <a:r>
              <a:rPr lang="pt-BR" i="1" dirty="0"/>
              <a:t>C </a:t>
            </a:r>
            <a:r>
              <a:rPr lang="pt-BR" dirty="0"/>
              <a:t>∨ </a:t>
            </a:r>
            <a:r>
              <a:rPr lang="pt-BR" i="1" dirty="0"/>
              <a:t>A</a:t>
            </a:r>
            <a:r>
              <a:rPr lang="pt-BR" dirty="0"/>
              <a:t>)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and</a:t>
            </a:r>
          </a:p>
          <a:p>
            <a:r>
              <a:rPr lang="pt-BR" dirty="0"/>
              <a:t>( </a:t>
            </a:r>
            <a:r>
              <a:rPr lang="pt-BR" i="1" dirty="0"/>
              <a:t>A </a:t>
            </a:r>
            <a:r>
              <a:rPr lang="pt-BR" dirty="0"/>
              <a:t>∨ ¬</a:t>
            </a:r>
            <a:r>
              <a:rPr lang="pt-BR" i="1" dirty="0"/>
              <a:t>C</a:t>
            </a:r>
            <a:r>
              <a:rPr lang="pt-BR" dirty="0"/>
              <a:t>) ∧ (¬</a:t>
            </a:r>
            <a:r>
              <a:rPr lang="pt-BR" i="1" dirty="0"/>
              <a:t>B </a:t>
            </a:r>
            <a:r>
              <a:rPr lang="pt-BR" dirty="0"/>
              <a:t>∨ ¬</a:t>
            </a:r>
            <a:r>
              <a:rPr lang="pt-BR" i="1" dirty="0"/>
              <a:t>C </a:t>
            </a:r>
            <a:r>
              <a:rPr lang="pt-BR" dirty="0"/>
              <a:t>∨ </a:t>
            </a:r>
            <a:r>
              <a:rPr lang="pt-BR" i="1" dirty="0"/>
              <a:t>A</a:t>
            </a:r>
            <a:r>
              <a:rPr lang="pt-BR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60142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214422"/>
            <a:ext cx="8229600" cy="5000660"/>
          </a:xfrm>
        </p:spPr>
        <p:txBody>
          <a:bodyPr/>
          <a:lstStyle/>
          <a:p>
            <a:pPr marL="609600" indent="-609600">
              <a:lnSpc>
                <a:spcPct val="90000"/>
              </a:lnSpc>
            </a:pPr>
            <a:r>
              <a:rPr lang="en-GB" sz="2800" dirty="0" smtClean="0">
                <a:solidFill>
                  <a:srgbClr val="00B0F0"/>
                </a:solidFill>
              </a:rPr>
              <a:t>Steps</a:t>
            </a:r>
            <a:r>
              <a:rPr lang="en-GB" sz="2800" dirty="0"/>
              <a:t>:</a:t>
            </a:r>
          </a:p>
          <a:p>
            <a:pPr marL="1371600" lvl="2" indent="-4572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GB" sz="2800" dirty="0" smtClean="0">
                <a:sym typeface="Symbol" pitchFamily="18" charset="2"/>
              </a:rPr>
              <a:t>Negate the goal (proof by refutation)</a:t>
            </a:r>
          </a:p>
          <a:p>
            <a:pPr marL="1371600" lvl="2" indent="-457200">
              <a:lnSpc>
                <a:spcPct val="90000"/>
              </a:lnSpc>
              <a:buNone/>
            </a:pPr>
            <a:endParaRPr lang="en-GB" sz="2800" dirty="0" smtClean="0">
              <a:sym typeface="Symbol" pitchFamily="18" charset="2"/>
            </a:endParaRPr>
          </a:p>
          <a:p>
            <a:pPr marL="1428750" lvl="2" indent="-514350">
              <a:lnSpc>
                <a:spcPct val="90000"/>
              </a:lnSpc>
              <a:buFont typeface="+mj-lt"/>
              <a:buAutoNum type="arabicPeriod" startAt="2"/>
            </a:pPr>
            <a:endParaRPr lang="en-GB" sz="2800" dirty="0" smtClean="0"/>
          </a:p>
          <a:p>
            <a:pPr marL="1428750" lvl="2" indent="-514350">
              <a:lnSpc>
                <a:spcPct val="90000"/>
              </a:lnSpc>
              <a:buFont typeface="+mj-lt"/>
              <a:buAutoNum type="arabicPeriod" startAt="2"/>
            </a:pPr>
            <a:r>
              <a:rPr lang="en-GB" sz="2800" dirty="0" smtClean="0"/>
              <a:t>Transform rules into clausal forms</a:t>
            </a:r>
          </a:p>
          <a:p>
            <a:pPr marL="1428750" lvl="2" indent="-514350">
              <a:lnSpc>
                <a:spcPct val="90000"/>
              </a:lnSpc>
              <a:buNone/>
            </a:pPr>
            <a:endParaRPr lang="en-GB" sz="2800" dirty="0" smtClean="0"/>
          </a:p>
          <a:p>
            <a:pPr marL="1428750" lvl="2" indent="-514350">
              <a:lnSpc>
                <a:spcPct val="90000"/>
              </a:lnSpc>
              <a:buNone/>
            </a:pPr>
            <a:r>
              <a:rPr lang="en-GB" sz="2800" dirty="0" smtClean="0"/>
              <a:t>		</a:t>
            </a:r>
          </a:p>
          <a:p>
            <a:pPr marL="1428750" lvl="2" indent="-514350">
              <a:lnSpc>
                <a:spcPct val="90000"/>
              </a:lnSpc>
              <a:buFont typeface="+mj-lt"/>
              <a:buAutoNum type="arabicPeriod" startAt="3"/>
            </a:pPr>
            <a:r>
              <a:rPr lang="en-GB" sz="2800" dirty="0" smtClean="0"/>
              <a:t>Produce a </a:t>
            </a:r>
            <a:r>
              <a:rPr lang="en-GB" sz="2800" dirty="0" err="1" smtClean="0"/>
              <a:t>resolvent</a:t>
            </a:r>
            <a:r>
              <a:rPr lang="en-GB" sz="2800" dirty="0" smtClean="0"/>
              <a:t> from contradict axioms</a:t>
            </a:r>
          </a:p>
          <a:p>
            <a:pPr marL="1371600" lvl="2" indent="-457200">
              <a:lnSpc>
                <a:spcPct val="90000"/>
              </a:lnSpc>
              <a:buNone/>
            </a:pPr>
            <a:r>
              <a:rPr lang="en-GB" sz="2800" dirty="0" smtClean="0"/>
              <a:t>		</a:t>
            </a:r>
          </a:p>
        </p:txBody>
      </p:sp>
      <p:sp>
        <p:nvSpPr>
          <p:cNvPr id="5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Resolution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774228" y="2143116"/>
            <a:ext cx="369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+mn-lt"/>
              </a:rPr>
              <a:t>P</a:t>
            </a:r>
            <a:endParaRPr lang="en-US" sz="2400" dirty="0"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43306" y="2143116"/>
            <a:ext cx="5886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+mn-lt"/>
                <a:sym typeface="Symbol"/>
              </a:rPr>
              <a:t></a:t>
            </a:r>
            <a:r>
              <a:rPr lang="en-US" sz="2400" dirty="0" smtClean="0">
                <a:latin typeface="+mn-lt"/>
              </a:rPr>
              <a:t>P</a:t>
            </a:r>
            <a:endParaRPr lang="en-US" sz="2400" dirty="0">
              <a:latin typeface="+mn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30699" y="3500438"/>
            <a:ext cx="1112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+mn-lt"/>
                <a:sym typeface="Symbol"/>
              </a:rPr>
              <a:t>A  B</a:t>
            </a:r>
            <a:endParaRPr lang="en-US" sz="2400" dirty="0">
              <a:latin typeface="+mn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88615" y="3500438"/>
            <a:ext cx="10118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+mn-lt"/>
              </a:rPr>
              <a:t>A </a:t>
            </a:r>
            <a:r>
              <a:rPr lang="en-US" sz="2400" dirty="0" smtClean="0">
                <a:latin typeface="+mn-lt"/>
                <a:sym typeface="Symbol"/>
              </a:rPr>
              <a:t> B</a:t>
            </a:r>
            <a:endParaRPr lang="en-US" sz="2400" dirty="0">
              <a:latin typeface="+mn-lt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3214678" y="2214554"/>
            <a:ext cx="357190" cy="285752"/>
          </a:xfrm>
          <a:prstGeom prst="rightArrow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>
            <a:off x="3643306" y="3571876"/>
            <a:ext cx="357190" cy="285752"/>
          </a:xfrm>
          <a:prstGeom prst="rightArrow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2316187" y="5072074"/>
            <a:ext cx="1112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+mn-lt"/>
                <a:sym typeface="Symbol"/>
              </a:rPr>
              <a:t>A  B</a:t>
            </a:r>
            <a:endParaRPr lang="en-US" sz="2400" dirty="0"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36633" y="5039037"/>
            <a:ext cx="10783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+mn-lt"/>
                <a:sym typeface="Symbol"/>
              </a:rPr>
              <a:t>B  C</a:t>
            </a:r>
            <a:endParaRPr lang="en-US" sz="2400" dirty="0">
              <a:latin typeface="+mn-lt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 rot="16200000" flipH="1">
            <a:off x="3171408" y="5314556"/>
            <a:ext cx="500066" cy="7294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3786182" y="5429264"/>
            <a:ext cx="997986" cy="5000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000364" y="5824855"/>
            <a:ext cx="10879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+mn-lt"/>
                <a:sym typeface="Symbol"/>
              </a:rPr>
              <a:t>A  C</a:t>
            </a:r>
            <a:endParaRPr lang="en-US" sz="2400" dirty="0">
              <a:latin typeface="+mn-lt"/>
            </a:endParaRPr>
          </a:p>
        </p:txBody>
      </p:sp>
      <p:sp>
        <p:nvSpPr>
          <p:cNvPr id="19" name="Right Arrow 18"/>
          <p:cNvSpPr/>
          <p:nvPr/>
        </p:nvSpPr>
        <p:spPr>
          <a:xfrm flipH="1">
            <a:off x="4214810" y="5929330"/>
            <a:ext cx="357190" cy="285752"/>
          </a:xfrm>
          <a:prstGeom prst="rightArrow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4627081" y="5824855"/>
            <a:ext cx="1422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>
                <a:latin typeface="+mn-lt"/>
                <a:sym typeface="Symbol"/>
              </a:rPr>
              <a:t>resolvent</a:t>
            </a:r>
            <a:endParaRPr lang="en-US" sz="2400" dirty="0">
              <a:latin typeface="+mn-lt"/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 rot="16200000" flipH="1">
            <a:off x="3143240" y="5143512"/>
            <a:ext cx="357190" cy="357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16200000" flipH="1">
            <a:off x="4286248" y="5072074"/>
            <a:ext cx="357190" cy="357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7477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1000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1000"/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 animBg="1"/>
      <p:bldP spid="11" grpId="0" animBg="1"/>
      <p:bldP spid="12" grpId="0"/>
      <p:bldP spid="13" grpId="0"/>
      <p:bldP spid="18" grpId="0"/>
      <p:bldP spid="19" grpId="0" animBg="1"/>
      <p:bldP spid="20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571612"/>
            <a:ext cx="8229600" cy="5000660"/>
          </a:xfrm>
        </p:spPr>
        <p:txBody>
          <a:bodyPr/>
          <a:lstStyle/>
          <a:p>
            <a:pPr marL="609600" indent="-609600">
              <a:lnSpc>
                <a:spcPct val="90000"/>
              </a:lnSpc>
            </a:pPr>
            <a:r>
              <a:rPr lang="en-GB" sz="2800" dirty="0" smtClean="0">
                <a:solidFill>
                  <a:srgbClr val="00B0F0"/>
                </a:solidFill>
              </a:rPr>
              <a:t>Steps (continued)</a:t>
            </a:r>
            <a:r>
              <a:rPr lang="en-GB" sz="2800" dirty="0" smtClean="0"/>
              <a:t>:</a:t>
            </a:r>
            <a:endParaRPr lang="en-GB" sz="2800" dirty="0"/>
          </a:p>
          <a:p>
            <a:pPr marL="1428750" lvl="2" indent="-514350">
              <a:lnSpc>
                <a:spcPct val="90000"/>
              </a:lnSpc>
              <a:buFont typeface="+mj-lt"/>
              <a:buAutoNum type="arabicPeriod" startAt="4"/>
            </a:pPr>
            <a:r>
              <a:rPr lang="en-GB" sz="2800" dirty="0" smtClean="0"/>
              <a:t>Repeat Step 3 </a:t>
            </a:r>
            <a:r>
              <a:rPr lang="en-GB" sz="2800" dirty="0"/>
              <a:t>until P is obtained</a:t>
            </a:r>
          </a:p>
          <a:p>
            <a:pPr marL="1371600" lvl="2" indent="-457200">
              <a:lnSpc>
                <a:spcPct val="90000"/>
              </a:lnSpc>
              <a:buFont typeface="Wingdings" pitchFamily="2" charset="2"/>
              <a:buAutoNum type="arabicPeriod" startAt="4"/>
            </a:pPr>
            <a:r>
              <a:rPr lang="en-GB" sz="2800" dirty="0"/>
              <a:t>Cancel both P and </a:t>
            </a:r>
            <a:r>
              <a:rPr lang="en-GB" sz="2800" dirty="0">
                <a:sym typeface="Symbol" pitchFamily="18" charset="2"/>
              </a:rPr>
              <a:t>P to </a:t>
            </a:r>
            <a:r>
              <a:rPr lang="en-GB" sz="2800" dirty="0" err="1">
                <a:sym typeface="Symbol" pitchFamily="18" charset="2"/>
              </a:rPr>
              <a:t>procude</a:t>
            </a:r>
            <a:r>
              <a:rPr lang="en-GB" sz="2800" dirty="0">
                <a:sym typeface="Symbol" pitchFamily="18" charset="2"/>
              </a:rPr>
              <a:t> [] to establish the goal.</a:t>
            </a:r>
          </a:p>
        </p:txBody>
      </p:sp>
      <p:sp>
        <p:nvSpPr>
          <p:cNvPr id="5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Resolution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81736" y="4181781"/>
            <a:ext cx="369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+mn-lt"/>
              </a:rPr>
              <a:t>P</a:t>
            </a:r>
            <a:endParaRPr lang="en-US" sz="2400" dirty="0"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26451" y="4181781"/>
            <a:ext cx="5886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+mn-lt"/>
                <a:sym typeface="Symbol"/>
              </a:rPr>
              <a:t>P</a:t>
            </a:r>
            <a:endParaRPr lang="en-US" sz="2400" dirty="0">
              <a:latin typeface="+mn-lt"/>
            </a:endParaRPr>
          </a:p>
        </p:txBody>
      </p:sp>
      <p:cxnSp>
        <p:nvCxnSpPr>
          <p:cNvPr id="8" name="Straight Connector 7"/>
          <p:cNvCxnSpPr>
            <a:stCxn id="6" idx="2"/>
            <a:endCxn id="10" idx="0"/>
          </p:cNvCxnSpPr>
          <p:nvPr/>
        </p:nvCxnSpPr>
        <p:spPr>
          <a:xfrm rot="16200000" flipH="1">
            <a:off x="4271111" y="4438577"/>
            <a:ext cx="467029" cy="876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10" idx="0"/>
            <a:endCxn id="7" idx="2"/>
          </p:cNvCxnSpPr>
          <p:nvPr/>
        </p:nvCxnSpPr>
        <p:spPr>
          <a:xfrm rot="5400000" flipH="1" flipV="1">
            <a:off x="5198371" y="4388084"/>
            <a:ext cx="467029" cy="9777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752892" y="5110475"/>
            <a:ext cx="380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+mn-lt"/>
                <a:sym typeface="Symbol"/>
              </a:rPr>
              <a:t>[]</a:t>
            </a:r>
            <a:endParaRPr lang="en-US" sz="2400" dirty="0"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01640" y="3429000"/>
            <a:ext cx="2417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+mn-lt"/>
              </a:rPr>
              <a:t>:</a:t>
            </a:r>
          </a:p>
          <a:p>
            <a:r>
              <a:rPr lang="en-US" sz="2400" dirty="0" smtClean="0">
                <a:latin typeface="+mn-lt"/>
              </a:rPr>
              <a:t>:</a:t>
            </a:r>
            <a:endParaRPr lang="en-US" sz="2400" dirty="0">
              <a:latin typeface="+mn-lt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3786182" y="4214818"/>
            <a:ext cx="428628" cy="28575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5786446" y="4214818"/>
            <a:ext cx="428628" cy="28575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6506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13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20" y="1285860"/>
            <a:ext cx="8643999" cy="5072098"/>
          </a:xfrm>
        </p:spPr>
        <p:txBody>
          <a:bodyPr>
            <a:normAutofit/>
          </a:bodyPr>
          <a:lstStyle/>
          <a:p>
            <a:pPr marL="465138" indent="-465138"/>
            <a:r>
              <a:rPr lang="en-GB" sz="2800" dirty="0"/>
              <a:t>Equivalence </a:t>
            </a:r>
            <a:r>
              <a:rPr lang="en-GB" sz="2800" dirty="0" smtClean="0"/>
              <a:t>rules</a:t>
            </a:r>
            <a:endParaRPr lang="en-GB" sz="2800" dirty="0" smtClean="0">
              <a:sym typeface="Symbol" pitchFamily="18" charset="2"/>
            </a:endParaRPr>
          </a:p>
          <a:p>
            <a:pPr marL="1146175" lvl="1" indent="-739775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2400" dirty="0" smtClean="0"/>
              <a:t>P </a:t>
            </a:r>
            <a:r>
              <a:rPr lang="en-US" sz="2400" dirty="0" smtClean="0">
                <a:sym typeface="Symbol" pitchFamily="18" charset="2"/>
              </a:rPr>
              <a:t></a:t>
            </a:r>
            <a:r>
              <a:rPr lang="en-US" sz="2400" dirty="0" smtClean="0"/>
              <a:t> (Q </a:t>
            </a:r>
            <a:r>
              <a:rPr lang="en-US" sz="2400" dirty="0" smtClean="0">
                <a:sym typeface="Symbol" pitchFamily="18" charset="2"/>
              </a:rPr>
              <a:t></a:t>
            </a:r>
            <a:r>
              <a:rPr lang="en-US" sz="2400" dirty="0" smtClean="0"/>
              <a:t> R)	</a:t>
            </a:r>
            <a:r>
              <a:rPr lang="en-US" sz="2400" dirty="0" smtClean="0">
                <a:sym typeface="Symbol" pitchFamily="18" charset="2"/>
              </a:rPr>
              <a:t></a:t>
            </a:r>
            <a:r>
              <a:rPr lang="en-US" sz="2400" dirty="0" smtClean="0"/>
              <a:t>	(P </a:t>
            </a:r>
            <a:r>
              <a:rPr lang="en-US" sz="2400" dirty="0" smtClean="0">
                <a:sym typeface="Symbol" pitchFamily="18" charset="2"/>
              </a:rPr>
              <a:t></a:t>
            </a:r>
            <a:r>
              <a:rPr lang="en-US" sz="2400" dirty="0" smtClean="0"/>
              <a:t> Q) </a:t>
            </a:r>
            <a:r>
              <a:rPr lang="en-US" sz="2400" dirty="0" smtClean="0">
                <a:sym typeface="Symbol" pitchFamily="18" charset="2"/>
              </a:rPr>
              <a:t></a:t>
            </a:r>
            <a:r>
              <a:rPr lang="en-US" sz="2400" dirty="0" smtClean="0"/>
              <a:t> R </a:t>
            </a:r>
          </a:p>
          <a:p>
            <a:pPr marL="1146175" lvl="1" indent="-739775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2400" dirty="0" smtClean="0"/>
              <a:t>P </a:t>
            </a:r>
            <a:r>
              <a:rPr lang="en-US" sz="2400" dirty="0" smtClean="0">
                <a:sym typeface="Symbol" pitchFamily="18" charset="2"/>
              </a:rPr>
              <a:t></a:t>
            </a:r>
            <a:r>
              <a:rPr lang="en-US" sz="2400" dirty="0" smtClean="0"/>
              <a:t> Q  	</a:t>
            </a:r>
            <a:r>
              <a:rPr lang="en-US" sz="2400" dirty="0" smtClean="0">
                <a:sym typeface="Symbol" pitchFamily="18" charset="2"/>
              </a:rPr>
              <a:t></a:t>
            </a:r>
            <a:r>
              <a:rPr lang="en-US" sz="2400" dirty="0" smtClean="0"/>
              <a:t>	Q </a:t>
            </a:r>
            <a:r>
              <a:rPr lang="en-US" sz="2400" dirty="0" smtClean="0">
                <a:sym typeface="Symbol"/>
              </a:rPr>
              <a:t> P</a:t>
            </a:r>
            <a:r>
              <a:rPr lang="en-US" sz="2400" dirty="0" smtClean="0"/>
              <a:t> </a:t>
            </a:r>
          </a:p>
          <a:p>
            <a:pPr marL="1146175" lvl="1" indent="-739775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2400" dirty="0" smtClean="0"/>
              <a:t>P </a:t>
            </a:r>
            <a:r>
              <a:rPr lang="en-US" sz="2400" dirty="0" smtClean="0">
                <a:sym typeface="Symbol" pitchFamily="18" charset="2"/>
              </a:rPr>
              <a:t></a:t>
            </a:r>
            <a:r>
              <a:rPr lang="en-US" sz="2400" dirty="0" smtClean="0"/>
              <a:t> Q	</a:t>
            </a:r>
            <a:r>
              <a:rPr lang="en-US" sz="2400" dirty="0" smtClean="0">
                <a:sym typeface="Symbol" pitchFamily="18" charset="2"/>
              </a:rPr>
              <a:t></a:t>
            </a:r>
            <a:r>
              <a:rPr lang="en-US" sz="2400" dirty="0" smtClean="0"/>
              <a:t>	Q </a:t>
            </a:r>
            <a:r>
              <a:rPr lang="en-US" sz="2400" dirty="0" smtClean="0">
                <a:sym typeface="Symbol" pitchFamily="18" charset="2"/>
              </a:rPr>
              <a:t></a:t>
            </a:r>
            <a:r>
              <a:rPr lang="en-US" sz="2400" dirty="0" smtClean="0"/>
              <a:t> P	</a:t>
            </a:r>
          </a:p>
          <a:p>
            <a:pPr marL="1146175" lvl="1" indent="-739775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24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</a:t>
            </a:r>
            <a:r>
              <a:rPr lang="en-US" sz="24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(P </a:t>
            </a:r>
            <a:r>
              <a:rPr lang="en-US" sz="24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</a:t>
            </a:r>
            <a:r>
              <a:rPr lang="en-US" sz="24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Q)	</a:t>
            </a:r>
            <a:r>
              <a:rPr lang="en-US" sz="24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</a:t>
            </a:r>
            <a:r>
              <a:rPr lang="en-US" sz="24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24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</a:t>
            </a:r>
            <a:r>
              <a:rPr lang="en-US" sz="24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 </a:t>
            </a:r>
            <a:r>
              <a:rPr lang="en-US" sz="24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</a:t>
            </a:r>
            <a:r>
              <a:rPr lang="en-US" sz="24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</a:t>
            </a:r>
            <a:r>
              <a:rPr lang="en-US" sz="24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</a:t>
            </a:r>
            <a:r>
              <a:rPr lang="en-US" sz="2400" dirty="0" smtClean="0"/>
              <a:t>	</a:t>
            </a:r>
            <a:r>
              <a:rPr lang="en-US" sz="1600" i="1" dirty="0" smtClean="0"/>
              <a:t>De Morgan</a:t>
            </a:r>
            <a:r>
              <a:rPr lang="en-US" sz="2400" dirty="0" smtClean="0">
                <a:solidFill>
                  <a:srgbClr val="FF0000"/>
                </a:solidFill>
              </a:rPr>
              <a:t>		</a:t>
            </a:r>
          </a:p>
          <a:p>
            <a:pPr marL="1146175" lvl="1" indent="-739775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</a:t>
            </a:r>
            <a:r>
              <a:rPr 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(P </a:t>
            </a:r>
            <a:r>
              <a:rPr 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</a:t>
            </a:r>
            <a:r>
              <a:rPr 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Q)	</a:t>
            </a:r>
            <a:r>
              <a:rPr 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</a:t>
            </a:r>
            <a:r>
              <a:rPr 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</a:t>
            </a:r>
            <a:r>
              <a:rPr 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 </a:t>
            </a:r>
            <a:r>
              <a:rPr 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</a:t>
            </a:r>
            <a:r>
              <a:rPr 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</a:t>
            </a:r>
            <a:r>
              <a:rPr 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</a:t>
            </a:r>
            <a:r>
              <a:rPr lang="en-US" sz="2400" dirty="0" smtClean="0"/>
              <a:t>	</a:t>
            </a:r>
            <a:r>
              <a:rPr lang="en-US" sz="1600" i="1" dirty="0" smtClean="0"/>
              <a:t>De Morgan</a:t>
            </a:r>
            <a:r>
              <a:rPr lang="en-US" sz="2400" dirty="0" smtClean="0"/>
              <a:t>		</a:t>
            </a:r>
          </a:p>
          <a:p>
            <a:pPr marL="1146175" lvl="1" indent="-739775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2400" dirty="0" smtClean="0"/>
              <a:t>P </a:t>
            </a:r>
            <a:r>
              <a:rPr lang="en-US" sz="2400" dirty="0" smtClean="0">
                <a:sym typeface="Wingdings" pitchFamily="2" charset="2"/>
              </a:rPr>
              <a:t></a:t>
            </a:r>
            <a:r>
              <a:rPr lang="en-US" sz="2400" dirty="0" smtClean="0"/>
              <a:t> Q	</a:t>
            </a:r>
            <a:r>
              <a:rPr lang="en-US" sz="2400" dirty="0" smtClean="0">
                <a:sym typeface="Symbol" pitchFamily="18" charset="2"/>
              </a:rPr>
              <a:t></a:t>
            </a:r>
            <a:r>
              <a:rPr lang="en-US" sz="2400" dirty="0" smtClean="0"/>
              <a:t>	</a:t>
            </a:r>
            <a:r>
              <a:rPr lang="en-US" sz="2400" dirty="0" smtClean="0">
                <a:sym typeface="Symbol" pitchFamily="18" charset="2"/>
              </a:rPr>
              <a:t></a:t>
            </a:r>
            <a:r>
              <a:rPr lang="en-US" sz="2400" dirty="0" smtClean="0"/>
              <a:t>Q </a:t>
            </a:r>
            <a:r>
              <a:rPr lang="en-US" sz="2400" dirty="0" smtClean="0">
                <a:sym typeface="Wingdings" pitchFamily="2" charset="2"/>
              </a:rPr>
              <a:t></a:t>
            </a:r>
            <a:r>
              <a:rPr lang="en-US" sz="2400" dirty="0" smtClean="0"/>
              <a:t> </a:t>
            </a:r>
            <a:r>
              <a:rPr lang="en-US" sz="2400" dirty="0" smtClean="0">
                <a:sym typeface="Symbol" pitchFamily="18" charset="2"/>
              </a:rPr>
              <a:t></a:t>
            </a:r>
            <a:r>
              <a:rPr lang="en-US" sz="2400" dirty="0" smtClean="0"/>
              <a:t>P		</a:t>
            </a:r>
          </a:p>
          <a:p>
            <a:pPr marL="1146175" lvl="1" indent="-739775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</a:t>
            </a:r>
            <a:r>
              <a:rPr 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		</a:t>
            </a:r>
            <a:r>
              <a:rPr 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</a:t>
            </a:r>
            <a:r>
              <a:rPr 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	 P</a:t>
            </a:r>
            <a:r>
              <a:rPr lang="en-US" sz="2400" dirty="0" smtClean="0"/>
              <a:t>		</a:t>
            </a:r>
            <a:r>
              <a:rPr lang="en-US" sz="1600" i="1" dirty="0" smtClean="0"/>
              <a:t>Double negation elimination</a:t>
            </a:r>
          </a:p>
          <a:p>
            <a:pPr marL="1146175" lvl="1" indent="-739775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 </a:t>
            </a:r>
            <a:r>
              <a:rPr 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</a:t>
            </a:r>
            <a:r>
              <a:rPr 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Q	</a:t>
            </a:r>
            <a:r>
              <a:rPr 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</a:t>
            </a:r>
            <a:r>
              <a:rPr 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</a:t>
            </a:r>
            <a:r>
              <a:rPr 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 </a:t>
            </a:r>
            <a:r>
              <a:rPr 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</a:t>
            </a:r>
            <a:r>
              <a:rPr 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Q</a:t>
            </a:r>
            <a:r>
              <a:rPr lang="en-US" sz="2400" dirty="0" smtClean="0"/>
              <a:t>	</a:t>
            </a:r>
            <a:r>
              <a:rPr lang="en-US" sz="1600" i="1" dirty="0" smtClean="0"/>
              <a:t>Implication elimination</a:t>
            </a:r>
          </a:p>
          <a:p>
            <a:pPr marL="1146175" lvl="1" indent="-739775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2400" dirty="0" smtClean="0"/>
              <a:t>P </a:t>
            </a:r>
            <a:r>
              <a:rPr lang="en-US" sz="2400" dirty="0" smtClean="0">
                <a:sym typeface="Wingdings" pitchFamily="2" charset="2"/>
              </a:rPr>
              <a:t></a:t>
            </a:r>
            <a:r>
              <a:rPr lang="en-US" sz="2400" dirty="0" smtClean="0"/>
              <a:t> Q	</a:t>
            </a:r>
            <a:r>
              <a:rPr lang="en-US" sz="2400" dirty="0" smtClean="0">
                <a:sym typeface="Symbol" pitchFamily="18" charset="2"/>
              </a:rPr>
              <a:t></a:t>
            </a:r>
            <a:r>
              <a:rPr lang="en-US" sz="2400" dirty="0" smtClean="0"/>
              <a:t>	(P </a:t>
            </a:r>
            <a:r>
              <a:rPr lang="en-US" sz="2400" dirty="0" smtClean="0">
                <a:sym typeface="Wingdings" pitchFamily="2" charset="2"/>
              </a:rPr>
              <a:t></a:t>
            </a:r>
            <a:r>
              <a:rPr lang="en-US" sz="2400" dirty="0" smtClean="0"/>
              <a:t> Q) </a:t>
            </a:r>
            <a:r>
              <a:rPr lang="en-US" sz="2400" dirty="0" smtClean="0">
                <a:sym typeface="Symbol" pitchFamily="18" charset="2"/>
              </a:rPr>
              <a:t></a:t>
            </a:r>
            <a:r>
              <a:rPr lang="en-US" sz="2400" dirty="0" smtClean="0"/>
              <a:t> (Q </a:t>
            </a:r>
            <a:r>
              <a:rPr lang="en-US" sz="2400" dirty="0" smtClean="0">
                <a:sym typeface="Wingdings" pitchFamily="2" charset="2"/>
              </a:rPr>
              <a:t></a:t>
            </a:r>
            <a:r>
              <a:rPr lang="en-US" sz="2400" dirty="0" smtClean="0"/>
              <a:t> P)</a:t>
            </a:r>
          </a:p>
          <a:p>
            <a:pPr marL="1146175" lvl="1" indent="-739775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2400" dirty="0" smtClean="0"/>
              <a:t>P </a:t>
            </a:r>
            <a:r>
              <a:rPr lang="en-US" sz="2400" dirty="0" smtClean="0">
                <a:sym typeface="Wingdings" pitchFamily="2" charset="2"/>
              </a:rPr>
              <a:t></a:t>
            </a:r>
            <a:r>
              <a:rPr lang="en-US" sz="2400" dirty="0" smtClean="0"/>
              <a:t> Q	</a:t>
            </a:r>
            <a:r>
              <a:rPr lang="en-US" sz="2400" dirty="0" smtClean="0">
                <a:sym typeface="Symbol" pitchFamily="18" charset="2"/>
              </a:rPr>
              <a:t></a:t>
            </a:r>
            <a:r>
              <a:rPr lang="en-US" sz="2400" dirty="0" smtClean="0"/>
              <a:t>	(P </a:t>
            </a:r>
            <a:r>
              <a:rPr lang="en-US" sz="2400" dirty="0" smtClean="0">
                <a:sym typeface="Symbol" pitchFamily="18" charset="2"/>
              </a:rPr>
              <a:t></a:t>
            </a:r>
            <a:r>
              <a:rPr lang="en-US" sz="2400" dirty="0" smtClean="0"/>
              <a:t> Q) </a:t>
            </a:r>
            <a:r>
              <a:rPr lang="en-US" sz="2400" dirty="0" smtClean="0">
                <a:sym typeface="Symbol" pitchFamily="18" charset="2"/>
              </a:rPr>
              <a:t></a:t>
            </a:r>
            <a:r>
              <a:rPr lang="en-US" sz="2400" dirty="0" smtClean="0"/>
              <a:t> (</a:t>
            </a:r>
            <a:r>
              <a:rPr lang="en-US" sz="2400" dirty="0" smtClean="0">
                <a:sym typeface="Symbol" pitchFamily="18" charset="2"/>
              </a:rPr>
              <a:t></a:t>
            </a:r>
            <a:r>
              <a:rPr lang="en-US" sz="2400" dirty="0" smtClean="0"/>
              <a:t>P </a:t>
            </a:r>
            <a:r>
              <a:rPr lang="en-US" sz="2400" dirty="0" smtClean="0">
                <a:sym typeface="Symbol" pitchFamily="18" charset="2"/>
              </a:rPr>
              <a:t></a:t>
            </a:r>
            <a:r>
              <a:rPr lang="en-US" sz="2400" dirty="0" smtClean="0"/>
              <a:t> </a:t>
            </a:r>
            <a:r>
              <a:rPr lang="en-US" sz="2400" dirty="0" smtClean="0">
                <a:sym typeface="Symbol" pitchFamily="18" charset="2"/>
              </a:rPr>
              <a:t></a:t>
            </a:r>
            <a:r>
              <a:rPr lang="en-US" sz="2400" dirty="0" smtClean="0"/>
              <a:t>Q)</a:t>
            </a:r>
          </a:p>
          <a:p>
            <a:pPr marL="1146175" lvl="1" indent="-739775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2400" dirty="0" smtClean="0"/>
              <a:t>P </a:t>
            </a:r>
            <a:r>
              <a:rPr lang="en-US" sz="2400" dirty="0" smtClean="0">
                <a:sym typeface="Symbol" pitchFamily="18" charset="2"/>
              </a:rPr>
              <a:t></a:t>
            </a:r>
            <a:r>
              <a:rPr lang="en-US" sz="2400" dirty="0" smtClean="0"/>
              <a:t> </a:t>
            </a:r>
            <a:r>
              <a:rPr lang="en-US" sz="2400" dirty="0" smtClean="0">
                <a:sym typeface="Symbol" pitchFamily="18" charset="2"/>
              </a:rPr>
              <a:t></a:t>
            </a:r>
            <a:r>
              <a:rPr lang="en-US" sz="2400" dirty="0" smtClean="0"/>
              <a:t>P	</a:t>
            </a:r>
            <a:r>
              <a:rPr lang="en-US" sz="2400" dirty="0" smtClean="0">
                <a:sym typeface="Symbol" pitchFamily="18" charset="2"/>
              </a:rPr>
              <a:t></a:t>
            </a:r>
            <a:r>
              <a:rPr lang="en-US" sz="2400" dirty="0" smtClean="0"/>
              <a:t>	False</a:t>
            </a:r>
            <a:endParaRPr lang="en-US" sz="2400" dirty="0" smtClean="0">
              <a:sym typeface="Wingdings" pitchFamily="2" charset="2"/>
            </a:endParaRPr>
          </a:p>
          <a:p>
            <a:pPr marL="609600" indent="-609600">
              <a:buFont typeface="Wingdings" pitchFamily="2" charset="2"/>
              <a:buNone/>
            </a:pPr>
            <a:endParaRPr lang="en-GB" sz="2400" dirty="0">
              <a:sym typeface="Symbol" pitchFamily="18" charset="2"/>
            </a:endParaRPr>
          </a:p>
        </p:txBody>
      </p:sp>
      <p:sp>
        <p:nvSpPr>
          <p:cNvPr id="5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Resolution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964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Callout 3 (Accent Bar) 5"/>
          <p:cNvSpPr/>
          <p:nvPr/>
        </p:nvSpPr>
        <p:spPr>
          <a:xfrm>
            <a:off x="928662" y="1571612"/>
            <a:ext cx="7786742" cy="2286016"/>
          </a:xfrm>
          <a:prstGeom prst="accentCallout3">
            <a:avLst>
              <a:gd name="adj1" fmla="val 25281"/>
              <a:gd name="adj2" fmla="val -2368"/>
              <a:gd name="adj3" fmla="val 24555"/>
              <a:gd name="adj4" fmla="val -7534"/>
              <a:gd name="adj5" fmla="val 103628"/>
              <a:gd name="adj6" fmla="val -7720"/>
              <a:gd name="adj7" fmla="val 138360"/>
              <a:gd name="adj8" fmla="val 15153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614502"/>
            <a:ext cx="8229600" cy="4957770"/>
          </a:xfrm>
        </p:spPr>
        <p:txBody>
          <a:bodyPr/>
          <a:lstStyle/>
          <a:p>
            <a:pPr marL="990600" lvl="1" indent="-5334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GB" dirty="0" smtClean="0">
                <a:sym typeface="Symbol" pitchFamily="18" charset="2"/>
              </a:rPr>
              <a:t>IF </a:t>
            </a:r>
            <a:r>
              <a:rPr lang="en-GB" dirty="0">
                <a:sym typeface="Symbol" pitchFamily="18" charset="2"/>
              </a:rPr>
              <a:t>temperature </a:t>
            </a:r>
            <a:r>
              <a:rPr lang="en-GB" dirty="0" smtClean="0">
                <a:sym typeface="Symbol" pitchFamily="18" charset="2"/>
              </a:rPr>
              <a:t>&gt; 100 (</a:t>
            </a:r>
            <a:r>
              <a:rPr lang="en-GB" dirty="0" smtClean="0">
                <a:solidFill>
                  <a:srgbClr val="FF0000"/>
                </a:solidFill>
                <a:sym typeface="Symbol" pitchFamily="18" charset="2"/>
              </a:rPr>
              <a:t>A</a:t>
            </a:r>
            <a:r>
              <a:rPr lang="en-GB" dirty="0" smtClean="0">
                <a:sym typeface="Symbol" pitchFamily="18" charset="2"/>
              </a:rPr>
              <a:t>) </a:t>
            </a:r>
            <a:r>
              <a:rPr lang="en-GB" dirty="0">
                <a:sym typeface="Symbol" pitchFamily="18" charset="2"/>
              </a:rPr>
              <a:t>THEN patient has high </a:t>
            </a:r>
            <a:r>
              <a:rPr lang="en-GB" dirty="0" smtClean="0">
                <a:sym typeface="Symbol" pitchFamily="18" charset="2"/>
              </a:rPr>
              <a:t>temperature (</a:t>
            </a:r>
            <a:r>
              <a:rPr lang="en-GB" dirty="0" smtClean="0">
                <a:solidFill>
                  <a:srgbClr val="FF0000"/>
                </a:solidFill>
                <a:sym typeface="Symbol" pitchFamily="18" charset="2"/>
              </a:rPr>
              <a:t>B</a:t>
            </a:r>
            <a:r>
              <a:rPr lang="en-GB" dirty="0" smtClean="0">
                <a:sym typeface="Symbol" pitchFamily="18" charset="2"/>
              </a:rPr>
              <a:t>).</a:t>
            </a:r>
            <a:endParaRPr lang="en-GB" dirty="0">
              <a:sym typeface="Symbol" pitchFamily="18" charset="2"/>
            </a:endParaRPr>
          </a:p>
          <a:p>
            <a:pPr marL="990600" lvl="1" indent="-5334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GB" dirty="0">
                <a:sym typeface="Symbol" pitchFamily="18" charset="2"/>
              </a:rPr>
              <a:t>IF patient has high </a:t>
            </a:r>
            <a:r>
              <a:rPr lang="en-GB" dirty="0" smtClean="0">
                <a:sym typeface="Symbol" pitchFamily="18" charset="2"/>
              </a:rPr>
              <a:t>temperature (</a:t>
            </a:r>
            <a:r>
              <a:rPr lang="en-GB" dirty="0" smtClean="0">
                <a:solidFill>
                  <a:srgbClr val="FF0000"/>
                </a:solidFill>
                <a:sym typeface="Symbol" pitchFamily="18" charset="2"/>
              </a:rPr>
              <a:t>B</a:t>
            </a:r>
            <a:r>
              <a:rPr lang="en-GB" dirty="0" smtClean="0">
                <a:sym typeface="Symbol" pitchFamily="18" charset="2"/>
              </a:rPr>
              <a:t>) </a:t>
            </a:r>
            <a:r>
              <a:rPr lang="en-GB" dirty="0">
                <a:sym typeface="Symbol" pitchFamily="18" charset="2"/>
              </a:rPr>
              <a:t>THEN advise two </a:t>
            </a:r>
            <a:r>
              <a:rPr lang="en-GB" dirty="0" smtClean="0">
                <a:sym typeface="Symbol" pitchFamily="18" charset="2"/>
              </a:rPr>
              <a:t>aspirin (</a:t>
            </a:r>
            <a:r>
              <a:rPr lang="en-GB" dirty="0" smtClean="0">
                <a:solidFill>
                  <a:srgbClr val="FF0000"/>
                </a:solidFill>
                <a:sym typeface="Symbol" pitchFamily="18" charset="2"/>
              </a:rPr>
              <a:t>C</a:t>
            </a:r>
            <a:r>
              <a:rPr lang="en-GB" dirty="0" smtClean="0">
                <a:sym typeface="Symbol" pitchFamily="18" charset="2"/>
              </a:rPr>
              <a:t>).</a:t>
            </a:r>
          </a:p>
          <a:p>
            <a:pPr marL="990600" lvl="1" indent="-5334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GB" dirty="0" smtClean="0">
                <a:sym typeface="Symbol" pitchFamily="18" charset="2"/>
              </a:rPr>
              <a:t>temperature &gt; 100 (</a:t>
            </a:r>
            <a:r>
              <a:rPr lang="en-GB" dirty="0" smtClean="0">
                <a:solidFill>
                  <a:srgbClr val="FF0000"/>
                </a:solidFill>
                <a:sym typeface="Symbol" pitchFamily="18" charset="2"/>
              </a:rPr>
              <a:t>A</a:t>
            </a:r>
            <a:r>
              <a:rPr lang="en-GB" dirty="0" smtClean="0">
                <a:sym typeface="Symbol" pitchFamily="18" charset="2"/>
              </a:rPr>
              <a:t>) .</a:t>
            </a:r>
            <a:endParaRPr lang="en-GB" dirty="0">
              <a:sym typeface="Symbol" pitchFamily="18" charset="2"/>
            </a:endParaRPr>
          </a:p>
          <a:p>
            <a:pPr marL="990600" lvl="1" indent="-533400">
              <a:lnSpc>
                <a:spcPct val="80000"/>
              </a:lnSpc>
              <a:buFont typeface="Wingdings" pitchFamily="2" charset="2"/>
              <a:buNone/>
            </a:pPr>
            <a:endParaRPr lang="en-GB" sz="2400" dirty="0">
              <a:sym typeface="Symbol" pitchFamily="18" charset="2"/>
            </a:endParaRPr>
          </a:p>
          <a:p>
            <a:pPr marL="2491486" lvl="8" indent="-533400">
              <a:lnSpc>
                <a:spcPct val="80000"/>
              </a:lnSpc>
              <a:buFont typeface="Wingdings" pitchFamily="2" charset="2"/>
              <a:buNone/>
            </a:pPr>
            <a:endParaRPr lang="en-GB" sz="2400" dirty="0" smtClean="0">
              <a:solidFill>
                <a:srgbClr val="92D050"/>
              </a:solidFill>
              <a:sym typeface="Symbol" pitchFamily="18" charset="2"/>
            </a:endParaRPr>
          </a:p>
          <a:p>
            <a:pPr marL="2491486" lvl="8" indent="-533400">
              <a:lnSpc>
                <a:spcPct val="80000"/>
              </a:lnSpc>
              <a:buFont typeface="Wingdings" pitchFamily="2" charset="2"/>
              <a:buNone/>
            </a:pPr>
            <a:endParaRPr lang="en-GB" sz="2400" dirty="0" smtClean="0">
              <a:solidFill>
                <a:srgbClr val="92D050"/>
              </a:solidFill>
              <a:sym typeface="Symbol" pitchFamily="18" charset="2"/>
            </a:endParaRPr>
          </a:p>
          <a:p>
            <a:pPr marL="2491486" lvl="8" indent="-533400">
              <a:lnSpc>
                <a:spcPct val="80000"/>
              </a:lnSpc>
              <a:buFont typeface="Wingdings" pitchFamily="2" charset="2"/>
              <a:buNone/>
            </a:pPr>
            <a:r>
              <a:rPr lang="en-GB" sz="2400" dirty="0" smtClean="0">
                <a:solidFill>
                  <a:srgbClr val="92D050"/>
                </a:solidFill>
                <a:sym typeface="Symbol" pitchFamily="18" charset="2"/>
              </a:rPr>
              <a:t>STATE </a:t>
            </a:r>
            <a:r>
              <a:rPr lang="en-GB" sz="2400" dirty="0">
                <a:solidFill>
                  <a:srgbClr val="92D050"/>
                </a:solidFill>
                <a:sym typeface="Symbol" pitchFamily="18" charset="2"/>
              </a:rPr>
              <a:t>1</a:t>
            </a:r>
          </a:p>
          <a:p>
            <a:pPr marL="2491486" lvl="8" indent="-5334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GB" sz="2400" dirty="0">
                <a:sym typeface="Symbol" pitchFamily="18" charset="2"/>
              </a:rPr>
              <a:t>A 	</a:t>
            </a:r>
            <a:r>
              <a:rPr lang="en-GB" sz="2400" dirty="0">
                <a:sym typeface="Wingdings" pitchFamily="2" charset="2"/>
              </a:rPr>
              <a:t>	B</a:t>
            </a:r>
            <a:endParaRPr lang="en-GB" sz="2400" dirty="0">
              <a:sym typeface="Symbol" pitchFamily="18" charset="2"/>
            </a:endParaRPr>
          </a:p>
          <a:p>
            <a:pPr marL="2491486" lvl="8" indent="-5334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GB" sz="2400" dirty="0" smtClean="0">
                <a:sym typeface="Symbol" pitchFamily="18" charset="2"/>
              </a:rPr>
              <a:t>B		</a:t>
            </a:r>
            <a:r>
              <a:rPr lang="en-GB" sz="2400" dirty="0" smtClean="0">
                <a:sym typeface="Wingdings" pitchFamily="2" charset="2"/>
              </a:rPr>
              <a:t></a:t>
            </a:r>
            <a:r>
              <a:rPr lang="en-GB" sz="2400" dirty="0">
                <a:sym typeface="Wingdings" pitchFamily="2" charset="2"/>
              </a:rPr>
              <a:t>	C</a:t>
            </a:r>
            <a:endParaRPr lang="en-GB" sz="2400" dirty="0">
              <a:sym typeface="Symbol" pitchFamily="18" charset="2"/>
            </a:endParaRPr>
          </a:p>
          <a:p>
            <a:pPr marL="2491486" lvl="8" indent="-5334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GB" sz="2400" dirty="0">
                <a:sym typeface="Symbol" pitchFamily="18" charset="2"/>
              </a:rPr>
              <a:t>A</a:t>
            </a:r>
          </a:p>
          <a:p>
            <a:pPr marL="990600" lvl="1" indent="-533400">
              <a:lnSpc>
                <a:spcPct val="80000"/>
              </a:lnSpc>
              <a:buFont typeface="Wingdings" pitchFamily="2" charset="2"/>
              <a:buNone/>
            </a:pPr>
            <a:endParaRPr lang="en-GB" sz="2400" dirty="0">
              <a:sym typeface="Symbol" pitchFamily="18" charset="2"/>
            </a:endParaRPr>
          </a:p>
        </p:txBody>
      </p:sp>
      <p:sp>
        <p:nvSpPr>
          <p:cNvPr id="5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Resolution with PL 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4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500174"/>
            <a:ext cx="3675059" cy="2386002"/>
          </a:xfrm>
        </p:spPr>
        <p:txBody>
          <a:bodyPr/>
          <a:lstStyle/>
          <a:p>
            <a:pPr marL="990600" lvl="1" indent="-533400">
              <a:lnSpc>
                <a:spcPct val="90000"/>
              </a:lnSpc>
              <a:buFont typeface="Wingdings" pitchFamily="2" charset="2"/>
              <a:buNone/>
            </a:pPr>
            <a:r>
              <a:rPr lang="en-GB" sz="2400" dirty="0">
                <a:solidFill>
                  <a:srgbClr val="92D050"/>
                </a:solidFill>
                <a:sym typeface="Symbol" pitchFamily="18" charset="2"/>
              </a:rPr>
              <a:t>STATE 2</a:t>
            </a:r>
          </a:p>
          <a:p>
            <a:pPr marL="1371600" lvl="2" indent="-457200">
              <a:lnSpc>
                <a:spcPct val="90000"/>
              </a:lnSpc>
              <a:buClrTx/>
              <a:buFont typeface="Wingdings" pitchFamily="2" charset="2"/>
              <a:buAutoNum type="arabicPeriod"/>
            </a:pPr>
            <a:r>
              <a:rPr lang="en-GB" sz="2000" dirty="0">
                <a:sym typeface="Symbol" pitchFamily="18" charset="2"/>
              </a:rPr>
              <a:t>A 	</a:t>
            </a:r>
            <a:r>
              <a:rPr lang="en-GB" sz="2000" dirty="0">
                <a:sym typeface="Wingdings" pitchFamily="2" charset="2"/>
              </a:rPr>
              <a:t>	B</a:t>
            </a:r>
            <a:endParaRPr lang="en-GB" sz="2000" dirty="0">
              <a:sym typeface="Symbol" pitchFamily="18" charset="2"/>
            </a:endParaRPr>
          </a:p>
          <a:p>
            <a:pPr marL="1371600" lvl="2" indent="-457200">
              <a:lnSpc>
                <a:spcPct val="90000"/>
              </a:lnSpc>
              <a:buClrTx/>
              <a:buFont typeface="Wingdings" pitchFamily="2" charset="2"/>
              <a:buAutoNum type="arabicPeriod"/>
            </a:pPr>
            <a:r>
              <a:rPr lang="en-GB" sz="2000" dirty="0">
                <a:sym typeface="Symbol" pitchFamily="18" charset="2"/>
              </a:rPr>
              <a:t>B	</a:t>
            </a:r>
            <a:r>
              <a:rPr lang="en-GB" sz="2000" dirty="0">
                <a:sym typeface="Wingdings" pitchFamily="2" charset="2"/>
              </a:rPr>
              <a:t>	C</a:t>
            </a:r>
            <a:endParaRPr lang="en-GB" sz="2000" dirty="0">
              <a:sym typeface="Symbol" pitchFamily="18" charset="2"/>
            </a:endParaRPr>
          </a:p>
          <a:p>
            <a:pPr marL="1371600" lvl="2" indent="-457200">
              <a:lnSpc>
                <a:spcPct val="90000"/>
              </a:lnSpc>
              <a:buClrTx/>
              <a:buFont typeface="Wingdings" pitchFamily="2" charset="2"/>
              <a:buAutoNum type="arabicPeriod"/>
            </a:pPr>
            <a:r>
              <a:rPr lang="en-GB" sz="2000" dirty="0">
                <a:sym typeface="Symbol" pitchFamily="18" charset="2"/>
              </a:rPr>
              <a:t>A</a:t>
            </a:r>
          </a:p>
          <a:p>
            <a:pPr marL="1371600" lvl="2" indent="-457200">
              <a:lnSpc>
                <a:spcPct val="90000"/>
              </a:lnSpc>
              <a:buClrTx/>
              <a:buFont typeface="Wingdings" pitchFamily="2" charset="2"/>
              <a:buAutoNum type="arabicPeriod"/>
            </a:pPr>
            <a:r>
              <a:rPr lang="en-GB" sz="2000" dirty="0" smtClean="0">
                <a:sym typeface="Symbol" pitchFamily="18" charset="2"/>
              </a:rPr>
              <a:t>B</a:t>
            </a:r>
            <a:endParaRPr lang="en-GB" sz="2000" dirty="0">
              <a:solidFill>
                <a:srgbClr val="0070C0"/>
              </a:solidFill>
              <a:sym typeface="Symbol" pitchFamily="18" charset="2"/>
            </a:endParaRPr>
          </a:p>
          <a:p>
            <a:pPr marL="990600" lvl="1" indent="-533400">
              <a:lnSpc>
                <a:spcPct val="90000"/>
              </a:lnSpc>
              <a:buFont typeface="Wingdings" pitchFamily="2" charset="2"/>
              <a:buNone/>
            </a:pPr>
            <a:endParaRPr lang="en-GB" sz="2000" dirty="0">
              <a:sym typeface="Symbol" pitchFamily="18" charset="2"/>
            </a:endParaRPr>
          </a:p>
        </p:txBody>
      </p:sp>
      <p:sp>
        <p:nvSpPr>
          <p:cNvPr id="5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Resolution Process</a:t>
            </a:r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429124" y="1500174"/>
            <a:ext cx="3675059" cy="2457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4864" tIns="91440" rIns="91440" bIns="45720" numCol="1" anchor="t" anchorCtr="0" compatLnSpc="1">
            <a:prstTxWarp prst="textNoShape">
              <a:avLst/>
            </a:prstTxWarp>
          </a:bodyPr>
          <a:lstStyle/>
          <a:p>
            <a:pPr marL="990600" marR="0" lvl="1" indent="-5334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STATE 3</a:t>
            </a:r>
          </a:p>
          <a:p>
            <a:pPr marL="1371600" marR="0" lvl="2" indent="-4572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Tx/>
              <a:buFont typeface="Wingdings" pitchFamily="2" charset="2"/>
              <a:buAutoNum type="arabicPeriod"/>
              <a:tabLst/>
              <a:defRPr/>
            </a:pP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 	</a:t>
            </a: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	B</a:t>
            </a:r>
            <a:endParaRPr kumimoji="0" lang="en-GB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Symbol" pitchFamily="18" charset="2"/>
            </a:endParaRPr>
          </a:p>
          <a:p>
            <a:pPr marL="1371600" marR="0" lvl="2" indent="-4572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Tx/>
              <a:buFont typeface="Wingdings" pitchFamily="2" charset="2"/>
              <a:buAutoNum type="arabicPeriod"/>
              <a:tabLst/>
              <a:defRPr/>
            </a:pP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B	</a:t>
            </a: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	C</a:t>
            </a:r>
            <a:endParaRPr kumimoji="0" lang="en-GB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Symbol" pitchFamily="18" charset="2"/>
            </a:endParaRPr>
          </a:p>
          <a:p>
            <a:pPr marL="1371600" marR="0" lvl="2" indent="-4572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Tx/>
              <a:buFont typeface="Wingdings" pitchFamily="2" charset="2"/>
              <a:buAutoNum type="arabicPeriod"/>
              <a:tabLst/>
              <a:defRPr/>
            </a:pP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</a:p>
          <a:p>
            <a:pPr marL="1371600" marR="0" lvl="2" indent="-4572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Tx/>
              <a:buFont typeface="Wingdings" pitchFamily="2" charset="2"/>
              <a:buAutoNum type="arabicPeriod"/>
              <a:tabLst/>
              <a:defRPr/>
            </a:pP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B</a:t>
            </a:r>
          </a:p>
          <a:p>
            <a:pPr marL="1371600" marR="0" lvl="2" indent="-4572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Tx/>
              <a:buFont typeface="Wingdings" pitchFamily="2" charset="2"/>
              <a:buAutoNum type="arabicPeriod"/>
              <a:tabLst/>
              <a:defRPr/>
            </a:pPr>
            <a:r>
              <a:rPr kumimoji="0" lang="en-GB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C </a:t>
            </a:r>
            <a:endParaRPr kumimoji="0" lang="en-GB" sz="20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  <a:sym typeface="Symbol" pitchFamily="18" charset="2"/>
            </a:endParaRPr>
          </a:p>
          <a:p>
            <a:pPr marL="990600" marR="0" lvl="1" indent="-5334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Symbol" pitchFamily="18" charset="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20713" y="4114832"/>
            <a:ext cx="7880377" cy="23860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4864" tIns="91440" rIns="91440" bIns="45720" numCol="1" anchor="t" anchorCtr="0" compatLnSpc="1">
            <a:prstTxWarp prst="textNoShape">
              <a:avLst/>
            </a:prstTxWarp>
          </a:bodyPr>
          <a:lstStyle/>
          <a:p>
            <a:pPr marL="990600" marR="0" lvl="1" indent="-5334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tabLst/>
              <a:defRPr/>
            </a:pPr>
            <a:r>
              <a:rPr kumimoji="0" lang="en-GB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Perform a resolution to prove C.</a:t>
            </a:r>
          </a:p>
          <a:p>
            <a:pPr marL="990600" marR="0" lvl="1" indent="-5334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tabLst/>
              <a:defRPr/>
            </a:pPr>
            <a:r>
              <a:rPr kumimoji="0" lang="en-GB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Step</a:t>
            </a:r>
            <a:r>
              <a:rPr kumimoji="0" lang="en-GB" sz="2800" b="0" i="0" u="none" strike="noStrike" kern="1200" cap="none" spc="0" normalizeH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1: Proof by refutation ... </a:t>
            </a:r>
            <a:r>
              <a:rPr lang="en-GB" sz="2800" b="0" baseline="0" dirty="0" smtClean="0">
                <a:solidFill>
                  <a:srgbClr val="FF0000"/>
                </a:solidFill>
                <a:latin typeface="+mn-lt"/>
                <a:sym typeface="Symbol" pitchFamily="18" charset="2"/>
              </a:rPr>
              <a:t>obtain</a:t>
            </a:r>
            <a:r>
              <a:rPr lang="en-GB" sz="2800" b="0" dirty="0" smtClean="0">
                <a:solidFill>
                  <a:srgbClr val="FF0000"/>
                </a:solidFill>
                <a:latin typeface="+mn-lt"/>
                <a:sym typeface="Symbol" pitchFamily="18" charset="2"/>
              </a:rPr>
              <a:t> </a:t>
            </a:r>
            <a:r>
              <a:rPr lang="en-GB" sz="2800" b="0" dirty="0" smtClean="0">
                <a:solidFill>
                  <a:srgbClr val="FF0000"/>
                </a:solidFill>
                <a:latin typeface="+mn-lt"/>
                <a:sym typeface="Symbol"/>
              </a:rPr>
              <a:t>C </a:t>
            </a:r>
            <a:r>
              <a:rPr lang="en-GB" sz="2800" b="0" dirty="0" smtClean="0">
                <a:latin typeface="+mn-lt"/>
                <a:sym typeface="Symbol"/>
              </a:rPr>
              <a:t>(by negating the goal C)</a:t>
            </a:r>
            <a:endParaRPr kumimoji="0" lang="en-GB" sz="2000" b="0" i="0" u="none" strike="noStrike" kern="120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cs typeface="+mn-cs"/>
              <a:sym typeface="Symbol" pitchFamily="18" charset="2"/>
            </a:endParaRPr>
          </a:p>
          <a:p>
            <a:pPr marL="990600" marR="0" lvl="1" indent="-5334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847346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 tmFilter="0,0; .5, 1; 1, 1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643050"/>
            <a:ext cx="8229600" cy="5000660"/>
          </a:xfrm>
        </p:spPr>
        <p:txBody>
          <a:bodyPr/>
          <a:lstStyle/>
          <a:p>
            <a:pPr marL="990600" lvl="1" indent="-533400">
              <a:lnSpc>
                <a:spcPct val="90000"/>
              </a:lnSpc>
              <a:buFont typeface="Wingdings" pitchFamily="2" charset="2"/>
              <a:buNone/>
            </a:pPr>
            <a:r>
              <a:rPr lang="en-GB" dirty="0" smtClean="0">
                <a:solidFill>
                  <a:srgbClr val="00B0F0"/>
                </a:solidFill>
                <a:sym typeface="Symbol" pitchFamily="18" charset="2"/>
              </a:rPr>
              <a:t>Step 2: Convert rules into clausal forms</a:t>
            </a:r>
          </a:p>
          <a:p>
            <a:pPr marL="1371600" lvl="2" indent="-457200">
              <a:lnSpc>
                <a:spcPct val="90000"/>
              </a:lnSpc>
              <a:spcAft>
                <a:spcPts val="600"/>
              </a:spcAft>
              <a:buFont typeface="Wingdings" pitchFamily="2" charset="2"/>
              <a:buAutoNum type="arabicPeriod"/>
            </a:pPr>
            <a:r>
              <a:rPr lang="en-GB" sz="2000" dirty="0" smtClean="0">
                <a:solidFill>
                  <a:srgbClr val="FF0000"/>
                </a:solidFill>
                <a:sym typeface="Symbol" pitchFamily="18" charset="2"/>
              </a:rPr>
              <a:t></a:t>
            </a:r>
            <a:r>
              <a:rPr lang="en-GB" sz="2000" dirty="0">
                <a:solidFill>
                  <a:srgbClr val="FF0000"/>
                </a:solidFill>
                <a:sym typeface="Symbol" pitchFamily="18" charset="2"/>
              </a:rPr>
              <a:t>A 	   </a:t>
            </a:r>
            <a:r>
              <a:rPr lang="en-GB" sz="2000" dirty="0">
                <a:solidFill>
                  <a:srgbClr val="FF0000"/>
                </a:solidFill>
                <a:sym typeface="Wingdings" pitchFamily="2" charset="2"/>
              </a:rPr>
              <a:t>B</a:t>
            </a:r>
            <a:endParaRPr lang="en-GB" sz="2000" dirty="0">
              <a:solidFill>
                <a:srgbClr val="FF0000"/>
              </a:solidFill>
              <a:sym typeface="Symbol" pitchFamily="18" charset="2"/>
            </a:endParaRPr>
          </a:p>
          <a:p>
            <a:pPr marL="1371600" lvl="2" indent="-457200">
              <a:lnSpc>
                <a:spcPct val="90000"/>
              </a:lnSpc>
              <a:spcAft>
                <a:spcPts val="600"/>
              </a:spcAft>
              <a:buFont typeface="Wingdings" pitchFamily="2" charset="2"/>
              <a:buAutoNum type="arabicPeriod"/>
            </a:pPr>
            <a:r>
              <a:rPr lang="en-GB" sz="2000" dirty="0">
                <a:solidFill>
                  <a:srgbClr val="FF0000"/>
                </a:solidFill>
                <a:sym typeface="Symbol" pitchFamily="18" charset="2"/>
              </a:rPr>
              <a:t>B	   </a:t>
            </a:r>
            <a:r>
              <a:rPr lang="en-GB" sz="2000" dirty="0">
                <a:solidFill>
                  <a:srgbClr val="FF0000"/>
                </a:solidFill>
                <a:sym typeface="Wingdings" pitchFamily="2" charset="2"/>
              </a:rPr>
              <a:t>C</a:t>
            </a:r>
            <a:endParaRPr lang="en-GB" sz="2000" dirty="0">
              <a:solidFill>
                <a:srgbClr val="FF0000"/>
              </a:solidFill>
              <a:sym typeface="Symbol" pitchFamily="18" charset="2"/>
            </a:endParaRPr>
          </a:p>
          <a:p>
            <a:pPr marL="1371600" lvl="2" indent="-457200">
              <a:lnSpc>
                <a:spcPct val="90000"/>
              </a:lnSpc>
              <a:spcAft>
                <a:spcPts val="600"/>
              </a:spcAft>
              <a:buFont typeface="Wingdings" pitchFamily="2" charset="2"/>
              <a:buAutoNum type="arabicPeriod"/>
            </a:pPr>
            <a:r>
              <a:rPr lang="en-GB" sz="2000" dirty="0" smtClean="0">
                <a:sym typeface="Symbol" pitchFamily="18" charset="2"/>
              </a:rPr>
              <a:t>A  .......... </a:t>
            </a:r>
            <a:r>
              <a:rPr lang="en-GB" sz="1600" dirty="0" smtClean="0">
                <a:sym typeface="Symbol" pitchFamily="18" charset="2"/>
              </a:rPr>
              <a:t>The existing axiom</a:t>
            </a:r>
            <a:endParaRPr lang="en-GB" sz="1600" dirty="0">
              <a:sym typeface="Symbol" pitchFamily="18" charset="2"/>
            </a:endParaRPr>
          </a:p>
          <a:p>
            <a:pPr marL="1371600" lvl="2" indent="-457200">
              <a:lnSpc>
                <a:spcPct val="90000"/>
              </a:lnSpc>
              <a:spcAft>
                <a:spcPts val="600"/>
              </a:spcAft>
              <a:buFont typeface="Wingdings" pitchFamily="2" charset="2"/>
              <a:buAutoNum type="arabicPeriod"/>
            </a:pPr>
            <a:r>
              <a:rPr lang="en-GB" sz="2000" dirty="0">
                <a:sym typeface="Symbol" pitchFamily="18" charset="2"/>
              </a:rPr>
              <a:t></a:t>
            </a:r>
            <a:r>
              <a:rPr lang="en-GB" sz="2000" dirty="0" smtClean="0">
                <a:sym typeface="Symbol" pitchFamily="18" charset="2"/>
              </a:rPr>
              <a:t>C ......... </a:t>
            </a:r>
            <a:r>
              <a:rPr lang="en-GB" sz="1600" dirty="0" smtClean="0">
                <a:sym typeface="Symbol" pitchFamily="18" charset="2"/>
              </a:rPr>
              <a:t>The new insertion, contradict with the goal</a:t>
            </a:r>
            <a:r>
              <a:rPr lang="en-GB" sz="2000" dirty="0" smtClean="0">
                <a:sym typeface="Symbol" pitchFamily="18" charset="2"/>
              </a:rPr>
              <a:t> </a:t>
            </a:r>
            <a:endParaRPr lang="en-GB" sz="2000" dirty="0">
              <a:sym typeface="Symbol" pitchFamily="18" charset="2"/>
            </a:endParaRPr>
          </a:p>
          <a:p>
            <a:pPr marL="1371600" lvl="2" indent="-457200">
              <a:lnSpc>
                <a:spcPct val="90000"/>
              </a:lnSpc>
              <a:buFont typeface="Wingdings" pitchFamily="2" charset="2"/>
              <a:buNone/>
            </a:pPr>
            <a:endParaRPr lang="en-GB" sz="1800" dirty="0">
              <a:sym typeface="Symbol" pitchFamily="18" charset="2"/>
            </a:endParaRPr>
          </a:p>
          <a:p>
            <a:pPr marL="990600" lvl="1" indent="-533400">
              <a:lnSpc>
                <a:spcPct val="90000"/>
              </a:lnSpc>
              <a:buFont typeface="Wingdings" pitchFamily="2" charset="2"/>
              <a:buNone/>
            </a:pPr>
            <a:r>
              <a:rPr lang="en-GB" dirty="0" smtClean="0">
                <a:solidFill>
                  <a:srgbClr val="00B0F0"/>
                </a:solidFill>
                <a:sym typeface="Symbol" pitchFamily="18" charset="2"/>
              </a:rPr>
              <a:t>Step 3: Produce </a:t>
            </a:r>
            <a:r>
              <a:rPr lang="en-GB" dirty="0" err="1" smtClean="0">
                <a:solidFill>
                  <a:srgbClr val="00B0F0"/>
                </a:solidFill>
                <a:sym typeface="Symbol" pitchFamily="18" charset="2"/>
              </a:rPr>
              <a:t>resolvents</a:t>
            </a:r>
            <a:endParaRPr lang="en-GB" dirty="0">
              <a:solidFill>
                <a:srgbClr val="00B0F0"/>
              </a:solidFill>
              <a:sym typeface="Symbol" pitchFamily="18" charset="2"/>
            </a:endParaRPr>
          </a:p>
          <a:p>
            <a:pPr marL="990600" lvl="1" indent="-533400">
              <a:lnSpc>
                <a:spcPct val="90000"/>
              </a:lnSpc>
              <a:buNone/>
            </a:pPr>
            <a:r>
              <a:rPr lang="en-GB" sz="2000" dirty="0" smtClean="0">
                <a:sym typeface="Symbol" pitchFamily="18" charset="2"/>
              </a:rPr>
              <a:t>	 A    B</a:t>
            </a:r>
          </a:p>
          <a:p>
            <a:pPr marL="990600" lvl="1" indent="-533400">
              <a:lnSpc>
                <a:spcPct val="90000"/>
              </a:lnSpc>
              <a:buNone/>
            </a:pPr>
            <a:r>
              <a:rPr lang="en-GB" sz="2000" dirty="0" smtClean="0">
                <a:sym typeface="Symbol" pitchFamily="18" charset="2"/>
              </a:rPr>
              <a:t>	</a:t>
            </a:r>
            <a:r>
              <a:rPr lang="en-GB" sz="2000" u="sng" dirty="0" smtClean="0">
                <a:sym typeface="Symbol" pitchFamily="18" charset="2"/>
              </a:rPr>
              <a:t>B     C   </a:t>
            </a:r>
          </a:p>
          <a:p>
            <a:pPr marL="990600" lvl="1" indent="-533400">
              <a:lnSpc>
                <a:spcPct val="90000"/>
              </a:lnSpc>
              <a:buNone/>
            </a:pPr>
            <a:r>
              <a:rPr lang="en-GB" sz="2000" dirty="0" smtClean="0">
                <a:sym typeface="Symbol" pitchFamily="18" charset="2"/>
              </a:rPr>
              <a:t>	A     C</a:t>
            </a:r>
          </a:p>
          <a:p>
            <a:pPr marL="990600" lvl="1" indent="-533400">
              <a:lnSpc>
                <a:spcPct val="90000"/>
              </a:lnSpc>
              <a:buNone/>
            </a:pPr>
            <a:endParaRPr lang="en-GB" sz="2000" dirty="0">
              <a:sym typeface="Symbol" pitchFamily="18" charset="2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Resolution Process </a:t>
            </a:r>
            <a:endParaRPr lang="en-US" dirty="0"/>
          </a:p>
        </p:txBody>
      </p:sp>
      <p:sp>
        <p:nvSpPr>
          <p:cNvPr id="5" name="Right Brace 4"/>
          <p:cNvSpPr/>
          <p:nvPr/>
        </p:nvSpPr>
        <p:spPr>
          <a:xfrm>
            <a:off x="3000364" y="2143116"/>
            <a:ext cx="285752" cy="64294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286116" y="2071678"/>
            <a:ext cx="40005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 smtClean="0">
                <a:solidFill>
                  <a:srgbClr val="92D050"/>
                </a:solidFill>
              </a:rPr>
              <a:t>Rules 1 and 2 are converted using equivalence rules P </a:t>
            </a:r>
            <a:r>
              <a:rPr lang="en-US" sz="1600" b="0" dirty="0" smtClean="0">
                <a:solidFill>
                  <a:srgbClr val="92D050"/>
                </a:solidFill>
                <a:sym typeface="Symbol"/>
              </a:rPr>
              <a:t> Q  P  Q</a:t>
            </a:r>
            <a:endParaRPr lang="en-US" sz="1600" b="0" dirty="0">
              <a:solidFill>
                <a:srgbClr val="92D050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2357422" y="4357694"/>
            <a:ext cx="285752" cy="14287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1643042" y="4643446"/>
            <a:ext cx="285752" cy="14287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urved Connector 10"/>
          <p:cNvCxnSpPr/>
          <p:nvPr/>
        </p:nvCxnSpPr>
        <p:spPr>
          <a:xfrm>
            <a:off x="2714612" y="5000636"/>
            <a:ext cx="785818" cy="642942"/>
          </a:xfrm>
          <a:prstGeom prst="curvedConnector3">
            <a:avLst>
              <a:gd name="adj1" fmla="val 50000"/>
            </a:avLst>
          </a:prstGeom>
          <a:ln w="28575">
            <a:solidFill>
              <a:srgbClr val="00B050"/>
            </a:solidFill>
            <a:tailEnd type="arrow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 rot="7964683">
            <a:off x="1105725" y="1974005"/>
            <a:ext cx="2071702" cy="1785950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3500430" y="4214818"/>
            <a:ext cx="4929222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 indent="-457200">
              <a:buFont typeface="Wingdings" pitchFamily="2" charset="2"/>
              <a:buAutoNum type="arabicPeriod"/>
            </a:pPr>
            <a:r>
              <a:rPr lang="en-GB" sz="2000" b="0" dirty="0" smtClean="0">
                <a:latin typeface="+mn-lt"/>
                <a:sym typeface="Symbol" pitchFamily="18" charset="2"/>
              </a:rPr>
              <a:t>A	   B</a:t>
            </a:r>
            <a:r>
              <a:rPr lang="en-GB" sz="2000" b="0" dirty="0" smtClean="0">
                <a:latin typeface="+mn-lt"/>
                <a:sym typeface="Wingdings" pitchFamily="2" charset="2"/>
              </a:rPr>
              <a:t>		</a:t>
            </a:r>
          </a:p>
          <a:p>
            <a:pPr marL="0" lvl="2" indent="-457200">
              <a:buFont typeface="Wingdings" pitchFamily="2" charset="2"/>
              <a:buAutoNum type="arabicPeriod"/>
            </a:pPr>
            <a:r>
              <a:rPr lang="en-GB" sz="2000" b="0" dirty="0" smtClean="0">
                <a:latin typeface="+mn-lt"/>
                <a:sym typeface="Symbol" pitchFamily="18" charset="2"/>
              </a:rPr>
              <a:t>B     C</a:t>
            </a:r>
          </a:p>
          <a:p>
            <a:pPr marL="0" lvl="2" indent="-457200">
              <a:buFont typeface="Wingdings" pitchFamily="2" charset="2"/>
              <a:buAutoNum type="arabicPeriod"/>
            </a:pPr>
            <a:r>
              <a:rPr lang="en-GB" sz="2000" b="0" dirty="0" smtClean="0">
                <a:latin typeface="+mn-lt"/>
                <a:sym typeface="Symbol" pitchFamily="18" charset="2"/>
              </a:rPr>
              <a:t>A</a:t>
            </a:r>
          </a:p>
          <a:p>
            <a:pPr marL="0" lvl="2" indent="-457200">
              <a:buFont typeface="Wingdings" pitchFamily="2" charset="2"/>
              <a:buAutoNum type="arabicPeriod"/>
            </a:pPr>
            <a:r>
              <a:rPr lang="en-GB" sz="2000" b="0" dirty="0" smtClean="0">
                <a:latin typeface="+mn-lt"/>
                <a:sym typeface="Symbol" pitchFamily="18" charset="2"/>
              </a:rPr>
              <a:t>C</a:t>
            </a:r>
          </a:p>
          <a:p>
            <a:pPr marL="0" lvl="2" indent="-457200">
              <a:buFont typeface="Wingdings" pitchFamily="2" charset="2"/>
              <a:buAutoNum type="arabicPeriod"/>
            </a:pPr>
            <a:r>
              <a:rPr lang="en-GB" sz="2000" b="0" dirty="0" smtClean="0">
                <a:latin typeface="+mn-lt"/>
                <a:sym typeface="Symbol" pitchFamily="18" charset="2"/>
              </a:rPr>
              <a:t>A	   C ..... </a:t>
            </a:r>
            <a:r>
              <a:rPr lang="en-GB" sz="1600" b="0" dirty="0" smtClean="0">
                <a:latin typeface="+mn-lt"/>
                <a:sym typeface="Symbol" pitchFamily="18" charset="2"/>
              </a:rPr>
              <a:t>new </a:t>
            </a:r>
            <a:r>
              <a:rPr lang="en-GB" sz="1600" b="0" dirty="0" err="1" smtClean="0">
                <a:latin typeface="+mn-lt"/>
                <a:sym typeface="Symbol" pitchFamily="18" charset="2"/>
              </a:rPr>
              <a:t>resolvent</a:t>
            </a:r>
            <a:r>
              <a:rPr lang="en-GB" sz="1600" b="0" dirty="0" smtClean="0">
                <a:latin typeface="+mn-lt"/>
                <a:sym typeface="Symbol" pitchFamily="18" charset="2"/>
              </a:rPr>
              <a:t> produced after the cancellation of B and </a:t>
            </a:r>
            <a:r>
              <a:rPr lang="en-GB" sz="1600" b="0" dirty="0" smtClean="0">
                <a:latin typeface="+mn-lt"/>
                <a:sym typeface="Symbol"/>
              </a:rPr>
              <a:t>B</a:t>
            </a:r>
            <a:endParaRPr lang="en-GB" sz="1600" b="0" dirty="0" smtClean="0">
              <a:latin typeface="+mn-lt"/>
              <a:sym typeface="Symbol" pitchFamily="18" charset="2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rot="10800000">
            <a:off x="2714613" y="4429132"/>
            <a:ext cx="714380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10800000">
            <a:off x="2714612" y="4714884"/>
            <a:ext cx="714380" cy="1588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0627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 tmFilter="0,0; .5, 1; 1, 1"/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9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1.32948E-6 L 0.18108 0.28324 " pathEditMode="relative" rAng="0" ptsTypes="AA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00" y="1420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00"/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00"/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000"/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0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0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10" grpId="0" animBg="1"/>
      <p:bldP spid="10" grpId="1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614502"/>
            <a:ext cx="8229600" cy="4886332"/>
          </a:xfrm>
        </p:spPr>
        <p:txBody>
          <a:bodyPr/>
          <a:lstStyle/>
          <a:p>
            <a:pPr marL="990600" lvl="1" indent="-874713">
              <a:buNone/>
            </a:pPr>
            <a:r>
              <a:rPr lang="en-GB" dirty="0" smtClean="0">
                <a:solidFill>
                  <a:srgbClr val="00B0F0"/>
                </a:solidFill>
                <a:sym typeface="Symbol" pitchFamily="18" charset="2"/>
              </a:rPr>
              <a:t>Step 4: Repeat Step 3 to produce another </a:t>
            </a:r>
            <a:r>
              <a:rPr lang="en-GB" dirty="0" err="1" smtClean="0">
                <a:solidFill>
                  <a:srgbClr val="00B0F0"/>
                </a:solidFill>
                <a:sym typeface="Symbol" pitchFamily="18" charset="2"/>
              </a:rPr>
              <a:t>resolvents</a:t>
            </a:r>
            <a:endParaRPr lang="en-GB" dirty="0" smtClean="0">
              <a:solidFill>
                <a:srgbClr val="00B0F0"/>
              </a:solidFill>
              <a:sym typeface="Symbol" pitchFamily="18" charset="2"/>
            </a:endParaRPr>
          </a:p>
          <a:p>
            <a:pPr marL="1371600" lvl="2" indent="-457200">
              <a:buFont typeface="Wingdings" pitchFamily="2" charset="2"/>
              <a:buNone/>
            </a:pPr>
            <a:endParaRPr lang="en-GB" sz="2000" dirty="0" smtClean="0">
              <a:solidFill>
                <a:srgbClr val="FF0000"/>
              </a:solidFill>
              <a:sym typeface="Symbol" pitchFamily="18" charset="2"/>
            </a:endParaRPr>
          </a:p>
          <a:p>
            <a:pPr marL="1371600" lvl="2" indent="-457200">
              <a:buFont typeface="Wingdings" pitchFamily="2" charset="2"/>
              <a:buNone/>
            </a:pPr>
            <a:r>
              <a:rPr lang="en-GB" sz="2000" dirty="0" smtClean="0">
                <a:solidFill>
                  <a:srgbClr val="FF0000"/>
                </a:solidFill>
                <a:sym typeface="Symbol" pitchFamily="18" charset="2"/>
              </a:rPr>
              <a:t>A</a:t>
            </a:r>
            <a:r>
              <a:rPr lang="en-GB" sz="2000" dirty="0">
                <a:sym typeface="Symbol" pitchFamily="18" charset="2"/>
              </a:rPr>
              <a:t>		</a:t>
            </a:r>
            <a:r>
              <a:rPr lang="en-GB" sz="2000" dirty="0">
                <a:sym typeface="Wingdings" pitchFamily="2" charset="2"/>
              </a:rPr>
              <a:t>		</a:t>
            </a:r>
            <a:endParaRPr lang="en-GB" sz="2000" strike="sngStrike" dirty="0" smtClean="0">
              <a:sym typeface="Symbol" pitchFamily="18" charset="2"/>
            </a:endParaRPr>
          </a:p>
          <a:p>
            <a:pPr marL="1371600" lvl="2" indent="-457200">
              <a:buFont typeface="Wingdings" pitchFamily="2" charset="2"/>
              <a:buNone/>
            </a:pPr>
            <a:r>
              <a:rPr lang="en-GB" sz="2000" u="sng" dirty="0" smtClean="0">
                <a:solidFill>
                  <a:srgbClr val="FF0000"/>
                </a:solidFill>
                <a:sym typeface="Symbol" pitchFamily="18" charset="2"/>
              </a:rPr>
              <a:t>A</a:t>
            </a:r>
            <a:r>
              <a:rPr lang="en-GB" sz="2000" u="sng" dirty="0" smtClean="0">
                <a:sym typeface="Symbol" pitchFamily="18" charset="2"/>
              </a:rPr>
              <a:t>	   </a:t>
            </a:r>
            <a:r>
              <a:rPr lang="en-GB" sz="2000" u="sng" dirty="0" smtClean="0">
                <a:sym typeface="Wingdings" pitchFamily="2" charset="2"/>
              </a:rPr>
              <a:t>C</a:t>
            </a:r>
            <a:r>
              <a:rPr lang="en-GB" sz="2000" dirty="0" smtClean="0">
                <a:sym typeface="Wingdings" pitchFamily="2" charset="2"/>
              </a:rPr>
              <a:t>			</a:t>
            </a:r>
            <a:endParaRPr lang="en-GB" sz="2000" u="sng" strike="sngStrike" dirty="0" smtClean="0">
              <a:sym typeface="Symbol" pitchFamily="18" charset="2"/>
            </a:endParaRPr>
          </a:p>
          <a:p>
            <a:pPr marL="1371600" lvl="2" indent="-457200">
              <a:buFont typeface="Wingdings" pitchFamily="2" charset="2"/>
              <a:buNone/>
            </a:pPr>
            <a:r>
              <a:rPr lang="en-GB" sz="2000" dirty="0" smtClean="0">
                <a:sym typeface="Symbol" pitchFamily="18" charset="2"/>
              </a:rPr>
              <a:t>C</a:t>
            </a:r>
            <a:r>
              <a:rPr lang="en-GB" sz="2000" dirty="0">
                <a:sym typeface="Symbol" pitchFamily="18" charset="2"/>
              </a:rPr>
              <a:t>				</a:t>
            </a:r>
            <a:endParaRPr lang="en-GB" sz="2000" dirty="0" smtClean="0">
              <a:sym typeface="Symbol" pitchFamily="18" charset="2"/>
            </a:endParaRPr>
          </a:p>
          <a:p>
            <a:pPr marL="812800" indent="-696913">
              <a:buFont typeface="Wingdings" pitchFamily="2" charset="2"/>
              <a:buNone/>
            </a:pPr>
            <a:endParaRPr lang="en-GB" sz="2800" dirty="0" smtClean="0">
              <a:sym typeface="Symbol" pitchFamily="18" charset="2"/>
            </a:endParaRPr>
          </a:p>
          <a:p>
            <a:pPr marL="812800" indent="-696913">
              <a:buFont typeface="Wingdings" pitchFamily="2" charset="2"/>
              <a:buNone/>
            </a:pPr>
            <a:endParaRPr lang="en-GB" sz="2800" dirty="0" smtClean="0">
              <a:sym typeface="Symbol" pitchFamily="18" charset="2"/>
            </a:endParaRPr>
          </a:p>
          <a:p>
            <a:pPr marL="812800" indent="-696913">
              <a:buFont typeface="Wingdings" pitchFamily="2" charset="2"/>
              <a:buNone/>
            </a:pPr>
            <a:endParaRPr lang="en-GB" sz="2800" dirty="0" smtClean="0">
              <a:sym typeface="Symbol" pitchFamily="18" charset="2"/>
            </a:endParaRPr>
          </a:p>
          <a:p>
            <a:pPr marL="812800" indent="-696913">
              <a:buFont typeface="Wingdings" pitchFamily="2" charset="2"/>
              <a:buNone/>
            </a:pPr>
            <a:r>
              <a:rPr lang="en-GB" sz="2800" dirty="0" smtClean="0">
                <a:sym typeface="Symbol" pitchFamily="18" charset="2"/>
              </a:rPr>
              <a:t>	C is obtained.</a:t>
            </a:r>
          </a:p>
          <a:p>
            <a:pPr marL="990600" lvl="1" indent="-533400">
              <a:buFont typeface="Wingdings" pitchFamily="2" charset="2"/>
              <a:buNone/>
            </a:pPr>
            <a:endParaRPr lang="en-GB" sz="2400" dirty="0">
              <a:sym typeface="Symbol" pitchFamily="18" charset="2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Resolution Process</a:t>
            </a:r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1428728" y="2500306"/>
            <a:ext cx="285752" cy="14287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1571604" y="2857496"/>
            <a:ext cx="285752" cy="14287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Elbow Connector 9"/>
          <p:cNvCxnSpPr/>
          <p:nvPr/>
        </p:nvCxnSpPr>
        <p:spPr>
          <a:xfrm rot="10800000">
            <a:off x="1785918" y="2571743"/>
            <a:ext cx="2286016" cy="785818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/>
          <p:nvPr/>
        </p:nvCxnSpPr>
        <p:spPr>
          <a:xfrm rot="10800000">
            <a:off x="2500298" y="2928933"/>
            <a:ext cx="1714512" cy="1071570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Curved Connector 13"/>
          <p:cNvCxnSpPr/>
          <p:nvPr/>
        </p:nvCxnSpPr>
        <p:spPr>
          <a:xfrm>
            <a:off x="1714480" y="3286124"/>
            <a:ext cx="2357454" cy="928694"/>
          </a:xfrm>
          <a:prstGeom prst="curved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arrow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14810" y="2561578"/>
            <a:ext cx="38576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 indent="-457200">
              <a:buFont typeface="Wingdings" pitchFamily="2" charset="2"/>
              <a:buAutoNum type="arabicPeriod"/>
            </a:pPr>
            <a:r>
              <a:rPr lang="en-GB" sz="2000" b="0" dirty="0" smtClean="0">
                <a:latin typeface="+mn-lt"/>
                <a:sym typeface="Symbol" pitchFamily="18" charset="2"/>
              </a:rPr>
              <a:t>A	   B</a:t>
            </a:r>
            <a:r>
              <a:rPr lang="en-GB" sz="2000" b="0" dirty="0" smtClean="0">
                <a:latin typeface="+mn-lt"/>
                <a:sym typeface="Wingdings" pitchFamily="2" charset="2"/>
              </a:rPr>
              <a:t>		</a:t>
            </a:r>
          </a:p>
          <a:p>
            <a:pPr marL="0" lvl="2" indent="-457200">
              <a:buFont typeface="Wingdings" pitchFamily="2" charset="2"/>
              <a:buAutoNum type="arabicPeriod"/>
            </a:pPr>
            <a:r>
              <a:rPr lang="en-GB" sz="2000" b="0" dirty="0" smtClean="0">
                <a:latin typeface="+mn-lt"/>
                <a:sym typeface="Symbol" pitchFamily="18" charset="2"/>
              </a:rPr>
              <a:t>B     C</a:t>
            </a:r>
          </a:p>
          <a:p>
            <a:pPr marL="0" lvl="2" indent="-457200">
              <a:buFont typeface="Wingdings" pitchFamily="2" charset="2"/>
              <a:buAutoNum type="arabicPeriod"/>
            </a:pPr>
            <a:r>
              <a:rPr lang="en-GB" sz="2000" b="0" dirty="0" smtClean="0">
                <a:latin typeface="+mn-lt"/>
                <a:sym typeface="Symbol" pitchFamily="18" charset="2"/>
              </a:rPr>
              <a:t>A</a:t>
            </a:r>
          </a:p>
          <a:p>
            <a:pPr marL="0" lvl="2" indent="-457200">
              <a:buFont typeface="Wingdings" pitchFamily="2" charset="2"/>
              <a:buAutoNum type="arabicPeriod"/>
            </a:pPr>
            <a:r>
              <a:rPr lang="en-GB" sz="2000" b="0" dirty="0" smtClean="0">
                <a:latin typeface="+mn-lt"/>
                <a:sym typeface="Symbol" pitchFamily="18" charset="2"/>
              </a:rPr>
              <a:t>C</a:t>
            </a:r>
          </a:p>
          <a:p>
            <a:pPr marL="0" lvl="2" indent="-457200">
              <a:buFont typeface="Wingdings" pitchFamily="2" charset="2"/>
              <a:buAutoNum type="arabicPeriod"/>
            </a:pPr>
            <a:r>
              <a:rPr lang="en-GB" sz="2000" b="0" dirty="0" smtClean="0">
                <a:latin typeface="+mn-lt"/>
                <a:sym typeface="Symbol" pitchFamily="18" charset="2"/>
              </a:rPr>
              <a:t>A	   C</a:t>
            </a:r>
          </a:p>
          <a:p>
            <a:pPr marL="0" lvl="2" indent="-457200">
              <a:buFont typeface="Wingdings" pitchFamily="2" charset="2"/>
              <a:buAutoNum type="arabicPeriod"/>
            </a:pPr>
            <a:r>
              <a:rPr lang="en-GB" sz="2000" b="0" dirty="0" smtClean="0">
                <a:solidFill>
                  <a:srgbClr val="FF0000"/>
                </a:solidFill>
                <a:latin typeface="+mn-lt"/>
                <a:sym typeface="Symbol" pitchFamily="18" charset="2"/>
              </a:rPr>
              <a:t>C </a:t>
            </a:r>
            <a:r>
              <a:rPr lang="en-GB" sz="2000" b="0" dirty="0" smtClean="0">
                <a:latin typeface="+mn-lt"/>
                <a:sym typeface="Symbol" pitchFamily="18" charset="2"/>
              </a:rPr>
              <a:t>..... n</a:t>
            </a:r>
            <a:r>
              <a:rPr lang="en-GB" sz="1600" b="0" dirty="0" smtClean="0">
                <a:latin typeface="+mn-lt"/>
                <a:sym typeface="Symbol" pitchFamily="18" charset="2"/>
              </a:rPr>
              <a:t>ewly added </a:t>
            </a:r>
            <a:r>
              <a:rPr lang="en-GB" sz="1600" b="0" dirty="0" err="1" smtClean="0">
                <a:latin typeface="+mn-lt"/>
                <a:sym typeface="Symbol" pitchFamily="18" charset="2"/>
              </a:rPr>
              <a:t>resolvent</a:t>
            </a:r>
            <a:endParaRPr lang="en-GB" sz="2000" b="0" dirty="0" smtClean="0">
              <a:solidFill>
                <a:srgbClr val="FF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4786314" y="2784470"/>
            <a:ext cx="1000132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4786314" y="3070222"/>
            <a:ext cx="1000132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4334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6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6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6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6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0"/>
                                        <p:tgtEl>
                                          <p:spTgt spid="40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614502"/>
            <a:ext cx="8229600" cy="4886332"/>
          </a:xfrm>
        </p:spPr>
        <p:txBody>
          <a:bodyPr/>
          <a:lstStyle/>
          <a:p>
            <a:pPr marL="812800" indent="-696913">
              <a:buFont typeface="Wingdings" pitchFamily="2" charset="2"/>
              <a:buNone/>
            </a:pPr>
            <a:r>
              <a:rPr lang="en-GB" sz="2800" dirty="0" smtClean="0">
                <a:solidFill>
                  <a:srgbClr val="00B0F0"/>
                </a:solidFill>
                <a:sym typeface="Symbol" pitchFamily="18" charset="2"/>
              </a:rPr>
              <a:t>Step 5: Cancel C and </a:t>
            </a:r>
            <a:r>
              <a:rPr lang="en-GB" sz="2800" dirty="0" smtClean="0">
                <a:solidFill>
                  <a:srgbClr val="00B0F0"/>
                </a:solidFill>
                <a:sym typeface="Symbol"/>
              </a:rPr>
              <a:t> C to establish [].</a:t>
            </a:r>
          </a:p>
          <a:p>
            <a:pPr marL="1371600" lvl="2" indent="-457200">
              <a:buFont typeface="Wingdings" pitchFamily="2" charset="2"/>
              <a:buNone/>
            </a:pPr>
            <a:r>
              <a:rPr lang="en-GB" sz="2000" dirty="0" smtClean="0">
                <a:solidFill>
                  <a:srgbClr val="FF0000"/>
                </a:solidFill>
                <a:sym typeface="Symbol" pitchFamily="18" charset="2"/>
              </a:rPr>
              <a:t>C</a:t>
            </a:r>
            <a:r>
              <a:rPr lang="en-GB" sz="2000" dirty="0">
                <a:sym typeface="Symbol" pitchFamily="18" charset="2"/>
              </a:rPr>
              <a:t>		</a:t>
            </a:r>
            <a:r>
              <a:rPr lang="en-GB" sz="2000" dirty="0">
                <a:sym typeface="Wingdings" pitchFamily="2" charset="2"/>
              </a:rPr>
              <a:t>		</a:t>
            </a:r>
            <a:endParaRPr lang="en-GB" sz="2000" strike="sngStrike" dirty="0" smtClean="0">
              <a:sym typeface="Symbol" pitchFamily="18" charset="2"/>
            </a:endParaRPr>
          </a:p>
          <a:p>
            <a:pPr marL="1371600" lvl="2" indent="-457200">
              <a:buFont typeface="Wingdings" pitchFamily="2" charset="2"/>
              <a:buNone/>
            </a:pPr>
            <a:r>
              <a:rPr lang="en-GB" sz="2000" u="sng" dirty="0" smtClean="0">
                <a:solidFill>
                  <a:srgbClr val="FF0000"/>
                </a:solidFill>
                <a:sym typeface="Symbol" pitchFamily="18" charset="2"/>
              </a:rPr>
              <a:t>C	</a:t>
            </a:r>
            <a:r>
              <a:rPr lang="en-GB" sz="2000" dirty="0" smtClean="0">
                <a:sym typeface="Wingdings" pitchFamily="2" charset="2"/>
              </a:rPr>
              <a:t>			</a:t>
            </a:r>
            <a:endParaRPr lang="en-GB" sz="2000" u="sng" strike="sngStrike" dirty="0" smtClean="0">
              <a:sym typeface="Symbol" pitchFamily="18" charset="2"/>
            </a:endParaRPr>
          </a:p>
          <a:p>
            <a:pPr marL="1371600" lvl="2" indent="-457200">
              <a:buFont typeface="Wingdings" pitchFamily="2" charset="2"/>
              <a:buNone/>
            </a:pPr>
            <a:r>
              <a:rPr lang="en-GB" sz="2000" dirty="0" smtClean="0">
                <a:sym typeface="Symbol" pitchFamily="18" charset="2"/>
              </a:rPr>
              <a:t>[]</a:t>
            </a:r>
            <a:r>
              <a:rPr lang="en-GB" sz="2000" dirty="0">
                <a:sym typeface="Symbol" pitchFamily="18" charset="2"/>
              </a:rPr>
              <a:t>				</a:t>
            </a:r>
            <a:endParaRPr lang="en-GB" sz="2000" dirty="0" smtClean="0">
              <a:sym typeface="Symbol" pitchFamily="18" charset="2"/>
            </a:endParaRPr>
          </a:p>
          <a:p>
            <a:pPr marL="812800" indent="-696913">
              <a:buFont typeface="Wingdings" pitchFamily="2" charset="2"/>
              <a:buNone/>
            </a:pPr>
            <a:endParaRPr lang="en-GB" sz="2800" dirty="0" smtClean="0">
              <a:sym typeface="Symbol" pitchFamily="18" charset="2"/>
            </a:endParaRPr>
          </a:p>
          <a:p>
            <a:pPr marL="812800" indent="-696913">
              <a:buFont typeface="Wingdings" pitchFamily="2" charset="2"/>
              <a:buNone/>
            </a:pPr>
            <a:endParaRPr lang="en-GB" sz="2800" dirty="0" smtClean="0">
              <a:sym typeface="Symbol" pitchFamily="18" charset="2"/>
            </a:endParaRPr>
          </a:p>
          <a:p>
            <a:pPr marL="812800" indent="-696913">
              <a:buFont typeface="Wingdings" pitchFamily="2" charset="2"/>
              <a:buNone/>
            </a:pPr>
            <a:endParaRPr lang="en-GB" sz="2800" dirty="0" smtClean="0">
              <a:sym typeface="Symbol" pitchFamily="18" charset="2"/>
            </a:endParaRPr>
          </a:p>
          <a:p>
            <a:pPr marL="812800" indent="-696913">
              <a:buFont typeface="Wingdings" pitchFamily="2" charset="2"/>
              <a:buNone/>
            </a:pPr>
            <a:r>
              <a:rPr lang="en-GB" sz="2800" dirty="0" smtClean="0">
                <a:sym typeface="Symbol" pitchFamily="18" charset="2"/>
              </a:rPr>
              <a:t>	[] is established.</a:t>
            </a:r>
          </a:p>
          <a:p>
            <a:pPr marL="990600" lvl="1" indent="-533400">
              <a:buFont typeface="Wingdings" pitchFamily="2" charset="2"/>
              <a:buNone/>
            </a:pPr>
            <a:endParaRPr lang="en-GB" sz="2400" dirty="0">
              <a:sym typeface="Symbol" pitchFamily="18" charset="2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Resolution Process</a:t>
            </a:r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1357290" y="2285992"/>
            <a:ext cx="285752" cy="14287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1509690" y="2643182"/>
            <a:ext cx="285752" cy="14287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Elbow Connector 9"/>
          <p:cNvCxnSpPr/>
          <p:nvPr/>
        </p:nvCxnSpPr>
        <p:spPr>
          <a:xfrm rot="10800000">
            <a:off x="1785918" y="2285992"/>
            <a:ext cx="2286016" cy="1643074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/>
          <p:nvPr/>
        </p:nvCxnSpPr>
        <p:spPr>
          <a:xfrm rot="10800000">
            <a:off x="2428860" y="2643182"/>
            <a:ext cx="1643074" cy="785818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Curved Connector 13"/>
          <p:cNvCxnSpPr/>
          <p:nvPr/>
        </p:nvCxnSpPr>
        <p:spPr>
          <a:xfrm>
            <a:off x="1643042" y="3000372"/>
            <a:ext cx="2428892" cy="1285884"/>
          </a:xfrm>
          <a:prstGeom prst="curvedConnector3">
            <a:avLst>
              <a:gd name="adj1" fmla="val 37451"/>
            </a:avLst>
          </a:prstGeom>
          <a:ln w="28575">
            <a:solidFill>
              <a:srgbClr val="FF0000"/>
            </a:solidFill>
            <a:tailEnd type="arrow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071934" y="2285992"/>
            <a:ext cx="35719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 indent="-457200">
              <a:buFont typeface="Wingdings" pitchFamily="2" charset="2"/>
              <a:buAutoNum type="arabicPeriod"/>
            </a:pPr>
            <a:r>
              <a:rPr lang="en-GB" sz="2000" b="0" dirty="0" smtClean="0">
                <a:latin typeface="+mn-lt"/>
                <a:sym typeface="Symbol" pitchFamily="18" charset="2"/>
              </a:rPr>
              <a:t>A	   B</a:t>
            </a:r>
            <a:r>
              <a:rPr lang="en-GB" sz="2000" b="0" dirty="0" smtClean="0">
                <a:latin typeface="+mn-lt"/>
                <a:sym typeface="Wingdings" pitchFamily="2" charset="2"/>
              </a:rPr>
              <a:t>		</a:t>
            </a:r>
          </a:p>
          <a:p>
            <a:pPr marL="0" lvl="2" indent="-457200">
              <a:buFont typeface="Wingdings" pitchFamily="2" charset="2"/>
              <a:buAutoNum type="arabicPeriod"/>
            </a:pPr>
            <a:r>
              <a:rPr lang="en-GB" sz="2000" b="0" dirty="0" smtClean="0">
                <a:latin typeface="+mn-lt"/>
                <a:sym typeface="Symbol" pitchFamily="18" charset="2"/>
              </a:rPr>
              <a:t>B     C</a:t>
            </a:r>
          </a:p>
          <a:p>
            <a:pPr marL="0" lvl="2" indent="-457200">
              <a:buFont typeface="Wingdings" pitchFamily="2" charset="2"/>
              <a:buAutoNum type="arabicPeriod"/>
            </a:pPr>
            <a:r>
              <a:rPr lang="en-GB" sz="2000" b="0" dirty="0" smtClean="0">
                <a:latin typeface="+mn-lt"/>
                <a:sym typeface="Symbol" pitchFamily="18" charset="2"/>
              </a:rPr>
              <a:t>A</a:t>
            </a:r>
          </a:p>
          <a:p>
            <a:pPr marL="0" lvl="2" indent="-457200">
              <a:buFont typeface="Wingdings" pitchFamily="2" charset="2"/>
              <a:buAutoNum type="arabicPeriod"/>
            </a:pPr>
            <a:r>
              <a:rPr lang="en-GB" sz="2000" b="0" dirty="0" smtClean="0">
                <a:latin typeface="+mn-lt"/>
                <a:sym typeface="Symbol" pitchFamily="18" charset="2"/>
              </a:rPr>
              <a:t>C</a:t>
            </a:r>
          </a:p>
          <a:p>
            <a:pPr marL="0" lvl="2" indent="-457200">
              <a:buFont typeface="Wingdings" pitchFamily="2" charset="2"/>
              <a:buAutoNum type="arabicPeriod"/>
            </a:pPr>
            <a:r>
              <a:rPr lang="en-GB" sz="2000" b="0" dirty="0" smtClean="0">
                <a:latin typeface="+mn-lt"/>
                <a:sym typeface="Symbol" pitchFamily="18" charset="2"/>
              </a:rPr>
              <a:t>A	   C</a:t>
            </a:r>
          </a:p>
          <a:p>
            <a:pPr marL="0" lvl="2" indent="-457200">
              <a:buFont typeface="Wingdings" pitchFamily="2" charset="2"/>
              <a:buAutoNum type="arabicPeriod"/>
            </a:pPr>
            <a:r>
              <a:rPr lang="en-GB" sz="2000" b="0" dirty="0" smtClean="0">
                <a:latin typeface="+mn-lt"/>
                <a:sym typeface="Symbol" pitchFamily="18" charset="2"/>
              </a:rPr>
              <a:t>C</a:t>
            </a:r>
          </a:p>
          <a:p>
            <a:pPr marL="0" lvl="2" indent="-457200">
              <a:buFont typeface="Wingdings" pitchFamily="2" charset="2"/>
              <a:buAutoNum type="arabicPeriod"/>
            </a:pPr>
            <a:r>
              <a:rPr lang="en-GB" sz="2000" b="0" dirty="0" smtClean="0">
                <a:latin typeface="+mn-lt"/>
                <a:sym typeface="Symbol" pitchFamily="18" charset="2"/>
              </a:rPr>
              <a:t>[]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572000" y="2500306"/>
            <a:ext cx="1071570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4572000" y="3071810"/>
            <a:ext cx="357190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4572000" y="2805106"/>
            <a:ext cx="1071570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572000" y="3714752"/>
            <a:ext cx="1071570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683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00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000"/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571612"/>
            <a:ext cx="8229600" cy="5000660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en-GB" sz="2800" dirty="0" smtClean="0">
                <a:sym typeface="Symbol" pitchFamily="18" charset="2"/>
              </a:rPr>
              <a:t>A complete resolution process is shown as below: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en-GB" sz="2800" dirty="0" smtClean="0">
                <a:sym typeface="Symbol" pitchFamily="18" charset="2"/>
              </a:rPr>
              <a:t> </a:t>
            </a:r>
            <a:endParaRPr lang="en-GB" sz="2800" dirty="0">
              <a:sym typeface="Symbol" pitchFamily="18" charset="2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Resolution Process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882750" y="2285992"/>
            <a:ext cx="1117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ym typeface="Symbol"/>
              </a:rPr>
              <a:t>A  B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3571868" y="2285992"/>
            <a:ext cx="11095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ym typeface="Symbol"/>
              </a:rPr>
              <a:t>B  C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4209400" y="4467533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ym typeface="Symbol"/>
              </a:rPr>
              <a:t>C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4954584" y="3324525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ym typeface="Symbol"/>
              </a:rPr>
              <a:t>A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2928926" y="335756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ym typeface="Symbol"/>
              </a:rPr>
              <a:t>A  C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5678582" y="4467533"/>
            <a:ext cx="5822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ym typeface="Symbol"/>
              </a:rPr>
              <a:t>C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5066656" y="5500702"/>
            <a:ext cx="3642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[]</a:t>
            </a:r>
            <a:endParaRPr lang="en-US" sz="2400" dirty="0"/>
          </a:p>
        </p:txBody>
      </p:sp>
      <p:grpSp>
        <p:nvGrpSpPr>
          <p:cNvPr id="2" name="Group 25"/>
          <p:cNvGrpSpPr/>
          <p:nvPr/>
        </p:nvGrpSpPr>
        <p:grpSpPr>
          <a:xfrm>
            <a:off x="2441557" y="2747656"/>
            <a:ext cx="3528130" cy="2753047"/>
            <a:chOff x="2441557" y="2747656"/>
            <a:chExt cx="3528130" cy="2753047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grpSpPr>
        <p:grpSp>
          <p:nvGrpSpPr>
            <p:cNvPr id="3" name="Group 24"/>
            <p:cNvGrpSpPr/>
            <p:nvPr/>
          </p:nvGrpSpPr>
          <p:grpSpPr>
            <a:xfrm>
              <a:off x="2441557" y="2747656"/>
              <a:ext cx="2807199" cy="2753046"/>
              <a:chOff x="2441557" y="2747656"/>
              <a:chExt cx="2807199" cy="2753046"/>
            </a:xfrm>
          </p:grpSpPr>
          <p:cxnSp>
            <p:nvCxnSpPr>
              <p:cNvPr id="13" name="Straight Connector 12"/>
              <p:cNvCxnSpPr>
                <a:stCxn id="5" idx="2"/>
                <a:endCxn id="9" idx="0"/>
              </p:cNvCxnSpPr>
              <p:nvPr/>
            </p:nvCxnSpPr>
            <p:spPr>
              <a:xfrm rot="16200000" flipH="1">
                <a:off x="2657288" y="2531925"/>
                <a:ext cx="609905" cy="1041367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>
                <a:stCxn id="9" idx="0"/>
                <a:endCxn id="6" idx="2"/>
              </p:cNvCxnSpPr>
              <p:nvPr/>
            </p:nvCxnSpPr>
            <p:spPr>
              <a:xfrm rot="5400000" flipH="1" flipV="1">
                <a:off x="3499844" y="2730738"/>
                <a:ext cx="609905" cy="643744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>
                <a:stCxn id="9" idx="2"/>
                <a:endCxn id="7" idx="0"/>
              </p:cNvCxnSpPr>
              <p:nvPr/>
            </p:nvCxnSpPr>
            <p:spPr>
              <a:xfrm rot="16200000" flipH="1">
                <a:off x="3612659" y="3689492"/>
                <a:ext cx="648306" cy="907776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>
                <a:stCxn id="7" idx="0"/>
                <a:endCxn id="8" idx="2"/>
              </p:cNvCxnSpPr>
              <p:nvPr/>
            </p:nvCxnSpPr>
            <p:spPr>
              <a:xfrm rot="5400000" flipH="1" flipV="1">
                <a:off x="4424624" y="3752267"/>
                <a:ext cx="681343" cy="749191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>
                <a:stCxn id="7" idx="2"/>
                <a:endCxn id="11" idx="0"/>
              </p:cNvCxnSpPr>
              <p:nvPr/>
            </p:nvCxnSpPr>
            <p:spPr>
              <a:xfrm rot="16200000" flipH="1">
                <a:off x="4533976" y="4785921"/>
                <a:ext cx="571504" cy="858057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Straight Connector 23"/>
            <p:cNvCxnSpPr>
              <a:stCxn id="11" idx="0"/>
              <a:endCxn id="10" idx="2"/>
            </p:cNvCxnSpPr>
            <p:nvPr/>
          </p:nvCxnSpPr>
          <p:spPr>
            <a:xfrm rot="5400000" flipH="1" flipV="1">
              <a:off x="5323470" y="4854485"/>
              <a:ext cx="571504" cy="72093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Connector 27"/>
          <p:cNvCxnSpPr/>
          <p:nvPr/>
        </p:nvCxnSpPr>
        <p:spPr>
          <a:xfrm rot="5400000" flipH="1" flipV="1">
            <a:off x="2643174" y="2357430"/>
            <a:ext cx="357190" cy="35719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rot="5400000" flipH="1" flipV="1">
            <a:off x="5857884" y="4500570"/>
            <a:ext cx="357190" cy="35719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rot="5400000" flipH="1" flipV="1">
            <a:off x="4214810" y="4572008"/>
            <a:ext cx="357190" cy="35719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rot="5400000" flipH="1" flipV="1">
            <a:off x="4929190" y="3357562"/>
            <a:ext cx="357190" cy="35719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rot="5400000" flipH="1" flipV="1">
            <a:off x="3071802" y="3500438"/>
            <a:ext cx="357190" cy="35719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rot="5400000" flipH="1" flipV="1">
            <a:off x="3714744" y="2357430"/>
            <a:ext cx="357190" cy="35719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3049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5804" y="1643050"/>
            <a:ext cx="8229600" cy="4625975"/>
          </a:xfrm>
        </p:spPr>
        <p:txBody>
          <a:bodyPr/>
          <a:lstStyle/>
          <a:p>
            <a:pPr marL="465138" indent="-406400">
              <a:buNone/>
            </a:pPr>
            <a:r>
              <a:rPr lang="en-US" dirty="0" smtClean="0">
                <a:sym typeface="Symbol" pitchFamily="18" charset="2"/>
              </a:rPr>
              <a:t>E.g.:</a:t>
            </a:r>
          </a:p>
          <a:p>
            <a:pPr marL="465138" indent="0">
              <a:buNone/>
            </a:pPr>
            <a:r>
              <a:rPr lang="en-US" sz="2800" dirty="0" smtClean="0">
                <a:sym typeface="Symbol" pitchFamily="18" charset="2"/>
              </a:rPr>
              <a:t>All </a:t>
            </a:r>
            <a:r>
              <a:rPr lang="en-US" sz="2800" dirty="0">
                <a:sym typeface="Symbol" pitchFamily="18" charset="2"/>
              </a:rPr>
              <a:t>cats are animal. By nature, animal will die. </a:t>
            </a:r>
            <a:r>
              <a:rPr lang="en-US" sz="2800" dirty="0" smtClean="0">
                <a:sym typeface="Symbol" pitchFamily="18" charset="2"/>
              </a:rPr>
              <a:t>Chico </a:t>
            </a:r>
            <a:r>
              <a:rPr lang="en-US" sz="2800" dirty="0">
                <a:sym typeface="Symbol" pitchFamily="18" charset="2"/>
              </a:rPr>
              <a:t>is a </a:t>
            </a:r>
            <a:r>
              <a:rPr lang="en-US" sz="2800" dirty="0" smtClean="0">
                <a:sym typeface="Symbol" pitchFamily="18" charset="2"/>
              </a:rPr>
              <a:t>cat and therefore, is also an animal. Using resolution, prove that Chico </a:t>
            </a:r>
            <a:r>
              <a:rPr lang="en-US" sz="2800" dirty="0">
                <a:sym typeface="Symbol" pitchFamily="18" charset="2"/>
              </a:rPr>
              <a:t>will die</a:t>
            </a:r>
            <a:r>
              <a:rPr lang="en-US" sz="2800" dirty="0" smtClean="0">
                <a:sym typeface="Symbol" pitchFamily="18" charset="2"/>
              </a:rPr>
              <a:t>.</a:t>
            </a:r>
          </a:p>
          <a:p>
            <a:pPr marL="465138" indent="0">
              <a:buNone/>
            </a:pPr>
            <a:endParaRPr lang="en-US" sz="2800" dirty="0" smtClean="0">
              <a:sym typeface="Symbol" pitchFamily="18" charset="2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Resolution with FOPL example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643043" y="4244895"/>
            <a:ext cx="6000792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814388" indent="-514350">
              <a:buFont typeface="+mj-lt"/>
              <a:buAutoNum type="arabicPeriod"/>
            </a:pPr>
            <a:r>
              <a:rPr lang="en-US" sz="2400" b="0" dirty="0" smtClean="0">
                <a:latin typeface="+mn-lt"/>
                <a:sym typeface="Symbol"/>
              </a:rPr>
              <a:t>X cat(X)  animal(X).</a:t>
            </a:r>
          </a:p>
          <a:p>
            <a:pPr marL="814388" indent="-514350">
              <a:buFont typeface="+mj-lt"/>
              <a:buAutoNum type="arabicPeriod"/>
            </a:pPr>
            <a:r>
              <a:rPr lang="en-US" sz="2400" b="0" dirty="0" smtClean="0">
                <a:latin typeface="+mn-lt"/>
                <a:sym typeface="Symbol"/>
              </a:rPr>
              <a:t>Y animal(Y)  </a:t>
            </a:r>
            <a:r>
              <a:rPr lang="en-US" sz="2400" b="0" dirty="0" err="1" smtClean="0">
                <a:latin typeface="+mn-lt"/>
                <a:sym typeface="Symbol"/>
              </a:rPr>
              <a:t>will_die</a:t>
            </a:r>
            <a:r>
              <a:rPr lang="en-US" sz="2400" b="0" dirty="0" smtClean="0">
                <a:latin typeface="+mn-lt"/>
                <a:sym typeface="Symbol"/>
              </a:rPr>
              <a:t>(Y).</a:t>
            </a:r>
          </a:p>
          <a:p>
            <a:pPr marL="814388" indent="-514350">
              <a:buFont typeface="+mj-lt"/>
              <a:buAutoNum type="arabicPeriod"/>
            </a:pPr>
            <a:r>
              <a:rPr lang="en-US" sz="2400" b="0" dirty="0" smtClean="0">
                <a:latin typeface="+mn-lt"/>
                <a:sym typeface="Symbol"/>
              </a:rPr>
              <a:t>cat(</a:t>
            </a:r>
            <a:r>
              <a:rPr lang="en-US" sz="2400" b="0" dirty="0" err="1" smtClean="0">
                <a:latin typeface="+mn-lt"/>
                <a:sym typeface="Symbol"/>
              </a:rPr>
              <a:t>chico</a:t>
            </a:r>
            <a:r>
              <a:rPr lang="en-US" sz="2400" b="0" dirty="0" smtClean="0">
                <a:latin typeface="+mn-lt"/>
                <a:sym typeface="Symbol"/>
              </a:rPr>
              <a:t>).</a:t>
            </a:r>
          </a:p>
          <a:p>
            <a:pPr marL="814388" indent="-514350">
              <a:buFont typeface="+mj-lt"/>
              <a:buAutoNum type="arabicPeriod"/>
            </a:pPr>
            <a:r>
              <a:rPr lang="en-US" sz="2400" b="0" dirty="0" smtClean="0">
                <a:sym typeface="Symbol"/>
              </a:rPr>
              <a:t>animal(</a:t>
            </a:r>
            <a:r>
              <a:rPr lang="en-US" sz="2400" b="0" dirty="0" err="1" smtClean="0">
                <a:sym typeface="Symbol"/>
              </a:rPr>
              <a:t>chico</a:t>
            </a:r>
            <a:r>
              <a:rPr lang="en-US" sz="2400" b="0" dirty="0" smtClean="0">
                <a:sym typeface="Symbol"/>
              </a:rPr>
              <a:t>).</a:t>
            </a:r>
            <a:endParaRPr lang="en-US" sz="2400" b="0" dirty="0" smtClean="0">
              <a:latin typeface="+mn-lt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30075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Resolution with FOPL example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51520" y="1652607"/>
            <a:ext cx="7056784" cy="12003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814388" indent="-514350"/>
            <a:endParaRPr lang="en-US" sz="2400" b="0" dirty="0" smtClean="0">
              <a:latin typeface="+mn-lt"/>
              <a:sym typeface="Symbol"/>
            </a:endParaRPr>
          </a:p>
          <a:p>
            <a:pPr marL="814388" indent="-514350"/>
            <a:r>
              <a:rPr lang="en-US" sz="2400" b="0" dirty="0" smtClean="0">
                <a:sym typeface="Symbol"/>
              </a:rPr>
              <a:t> </a:t>
            </a:r>
            <a:r>
              <a:rPr lang="en-US" sz="2400" b="0" dirty="0" err="1" smtClean="0">
                <a:sym typeface="Symbol"/>
              </a:rPr>
              <a:t>will_die</a:t>
            </a:r>
            <a:r>
              <a:rPr lang="en-US" sz="2400" b="0" dirty="0" smtClean="0">
                <a:sym typeface="Symbol"/>
              </a:rPr>
              <a:t>(</a:t>
            </a:r>
            <a:r>
              <a:rPr lang="en-US" sz="2400" b="0" dirty="0" err="1" smtClean="0">
                <a:sym typeface="Symbol"/>
              </a:rPr>
              <a:t>chico</a:t>
            </a:r>
            <a:r>
              <a:rPr lang="en-US" sz="2400" b="0" dirty="0" smtClean="0">
                <a:sym typeface="Symbol"/>
              </a:rPr>
              <a:t>) becomes </a:t>
            </a:r>
            <a:r>
              <a:rPr lang="en-US" sz="2400" b="0" dirty="0" err="1" smtClean="0">
                <a:sym typeface="Symbol"/>
              </a:rPr>
              <a:t>will_die</a:t>
            </a:r>
            <a:r>
              <a:rPr lang="en-US" sz="2400" b="0" dirty="0" smtClean="0">
                <a:sym typeface="Symbol"/>
              </a:rPr>
              <a:t>(</a:t>
            </a:r>
            <a:r>
              <a:rPr lang="en-US" sz="2400" b="0" dirty="0" err="1" smtClean="0">
                <a:sym typeface="Symbol"/>
              </a:rPr>
              <a:t>chico</a:t>
            </a:r>
            <a:r>
              <a:rPr lang="en-US" sz="2400" b="0" dirty="0" smtClean="0">
                <a:sym typeface="Symbol"/>
              </a:rPr>
              <a:t>)</a:t>
            </a:r>
          </a:p>
          <a:p>
            <a:pPr marL="814388" indent="-514350"/>
            <a:endParaRPr lang="en-US" sz="2400" b="0" dirty="0" smtClean="0">
              <a:latin typeface="+mn-lt"/>
              <a:sym typeface="Symbo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87624" y="3140968"/>
            <a:ext cx="5286412" cy="16312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814388" indent="-514350">
              <a:buFont typeface="+mj-lt"/>
              <a:buAutoNum type="arabicPeriod"/>
            </a:pPr>
            <a:r>
              <a:rPr lang="en-US" sz="2000" b="0" dirty="0" smtClean="0">
                <a:latin typeface="+mn-lt"/>
                <a:sym typeface="Symbol"/>
              </a:rPr>
              <a:t>X cat(X)  animal(X).</a:t>
            </a:r>
          </a:p>
          <a:p>
            <a:pPr marL="814388" indent="-514350">
              <a:buFont typeface="+mj-lt"/>
              <a:buAutoNum type="arabicPeriod"/>
            </a:pPr>
            <a:r>
              <a:rPr lang="en-US" sz="2000" b="0" dirty="0" smtClean="0">
                <a:latin typeface="+mn-lt"/>
                <a:sym typeface="Symbol"/>
              </a:rPr>
              <a:t>Y animal(Y)  </a:t>
            </a:r>
            <a:r>
              <a:rPr lang="en-US" sz="2000" b="0" dirty="0" err="1" smtClean="0">
                <a:latin typeface="+mn-lt"/>
                <a:sym typeface="Symbol"/>
              </a:rPr>
              <a:t>will_die</a:t>
            </a:r>
            <a:r>
              <a:rPr lang="en-US" sz="2000" b="0" dirty="0" smtClean="0">
                <a:latin typeface="+mn-lt"/>
                <a:sym typeface="Symbol"/>
              </a:rPr>
              <a:t>(Y).</a:t>
            </a:r>
          </a:p>
          <a:p>
            <a:pPr marL="814388" indent="-514350">
              <a:buFont typeface="+mj-lt"/>
              <a:buAutoNum type="arabicPeriod"/>
            </a:pPr>
            <a:r>
              <a:rPr lang="en-US" sz="2000" b="0" dirty="0" smtClean="0">
                <a:latin typeface="+mn-lt"/>
                <a:sym typeface="Symbol"/>
              </a:rPr>
              <a:t>cat(</a:t>
            </a:r>
            <a:r>
              <a:rPr lang="en-US" sz="2000" b="0" dirty="0" err="1" smtClean="0">
                <a:latin typeface="+mn-lt"/>
                <a:sym typeface="Symbol"/>
              </a:rPr>
              <a:t>chico</a:t>
            </a:r>
            <a:r>
              <a:rPr lang="en-US" sz="2000" b="0" dirty="0" smtClean="0">
                <a:latin typeface="+mn-lt"/>
                <a:sym typeface="Symbol"/>
              </a:rPr>
              <a:t>).</a:t>
            </a:r>
          </a:p>
          <a:p>
            <a:pPr marL="814388" indent="-514350">
              <a:buFont typeface="+mj-lt"/>
              <a:buAutoNum type="arabicPeriod"/>
            </a:pPr>
            <a:r>
              <a:rPr lang="en-US" sz="2000" b="0" dirty="0" smtClean="0">
                <a:sym typeface="Symbol"/>
              </a:rPr>
              <a:t>animal(</a:t>
            </a:r>
            <a:r>
              <a:rPr lang="en-US" sz="2000" b="0" dirty="0" err="1" smtClean="0">
                <a:sym typeface="Symbol"/>
              </a:rPr>
              <a:t>chico</a:t>
            </a:r>
            <a:r>
              <a:rPr lang="en-US" sz="2000" b="0" dirty="0" smtClean="0">
                <a:sym typeface="Symbol"/>
              </a:rPr>
              <a:t>).</a:t>
            </a:r>
          </a:p>
          <a:p>
            <a:pPr marL="814388" indent="-514350">
              <a:buFont typeface="+mj-lt"/>
              <a:buAutoNum type="arabicPeriod"/>
            </a:pPr>
            <a:r>
              <a:rPr lang="en-US" sz="2000" b="0" dirty="0" smtClean="0">
                <a:solidFill>
                  <a:srgbClr val="FF0000"/>
                </a:solidFill>
                <a:latin typeface="+mn-lt"/>
                <a:sym typeface="Symbol"/>
              </a:rPr>
              <a:t></a:t>
            </a:r>
            <a:r>
              <a:rPr lang="en-US" sz="2000" b="0" dirty="0" err="1" smtClean="0">
                <a:solidFill>
                  <a:srgbClr val="FF0000"/>
                </a:solidFill>
                <a:latin typeface="+mn-lt"/>
                <a:sym typeface="Symbol"/>
              </a:rPr>
              <a:t>will_die</a:t>
            </a:r>
            <a:r>
              <a:rPr lang="en-US" sz="2000" b="0" dirty="0" smtClean="0">
                <a:solidFill>
                  <a:srgbClr val="FF0000"/>
                </a:solidFill>
                <a:latin typeface="+mn-lt"/>
                <a:sym typeface="Symbol"/>
              </a:rPr>
              <a:t>(</a:t>
            </a:r>
            <a:r>
              <a:rPr lang="en-US" sz="2000" b="0" dirty="0" err="1" smtClean="0">
                <a:solidFill>
                  <a:srgbClr val="FF0000"/>
                </a:solidFill>
                <a:latin typeface="+mn-lt"/>
                <a:sym typeface="Symbol"/>
              </a:rPr>
              <a:t>chico</a:t>
            </a:r>
            <a:r>
              <a:rPr lang="en-US" sz="2000" b="0" dirty="0" smtClean="0">
                <a:solidFill>
                  <a:srgbClr val="FF0000"/>
                </a:solidFill>
                <a:latin typeface="+mn-lt"/>
                <a:sym typeface="Symbol"/>
              </a:rPr>
              <a:t>).</a:t>
            </a:r>
            <a:endParaRPr lang="en-US" sz="2000" b="0" dirty="0" smtClean="0">
              <a:solidFill>
                <a:srgbClr val="FF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9552" y="1556792"/>
            <a:ext cx="7776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 smtClean="0">
                <a:solidFill>
                  <a:srgbClr val="00B0F0"/>
                </a:solidFill>
                <a:latin typeface="+mn-lt"/>
              </a:rPr>
              <a:t>Step 1 – </a:t>
            </a:r>
            <a:r>
              <a:rPr lang="en-US" sz="2000" b="0" dirty="0" smtClean="0">
                <a:solidFill>
                  <a:srgbClr val="00B0F0"/>
                </a:solidFill>
                <a:latin typeface="+mn-lt"/>
              </a:rPr>
              <a:t>negate the goal and add into the list</a:t>
            </a:r>
            <a:endParaRPr lang="en-US" sz="2000" b="0" dirty="0">
              <a:solidFill>
                <a:srgbClr val="00B0F0"/>
              </a:solidFill>
              <a:latin typeface="+mn-lt"/>
            </a:endParaRPr>
          </a:p>
        </p:txBody>
      </p:sp>
      <p:cxnSp>
        <p:nvCxnSpPr>
          <p:cNvPr id="12" name="Curved Connector 11"/>
          <p:cNvCxnSpPr/>
          <p:nvPr/>
        </p:nvCxnSpPr>
        <p:spPr>
          <a:xfrm rot="5400000">
            <a:off x="3995936" y="2636912"/>
            <a:ext cx="1944216" cy="1656184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95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45854" y="1643050"/>
            <a:ext cx="8014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 smtClean="0">
                <a:solidFill>
                  <a:srgbClr val="00B0F0"/>
                </a:solidFill>
                <a:latin typeface="+mn-lt"/>
              </a:rPr>
              <a:t>Step 2 – </a:t>
            </a:r>
            <a:r>
              <a:rPr lang="en-US" sz="2000" b="0" dirty="0" smtClean="0">
                <a:solidFill>
                  <a:srgbClr val="00B0F0"/>
                </a:solidFill>
                <a:latin typeface="+mn-lt"/>
              </a:rPr>
              <a:t>convert all rules into clausal form</a:t>
            </a:r>
            <a:endParaRPr lang="en-US" sz="2000" b="0" dirty="0">
              <a:solidFill>
                <a:srgbClr val="00B0F0"/>
              </a:solidFill>
              <a:latin typeface="+mn-lt"/>
            </a:endParaRPr>
          </a:p>
        </p:txBody>
      </p:sp>
      <p:sp>
        <p:nvSpPr>
          <p:cNvPr id="11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Resolution with FOPL example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4282" y="2061512"/>
            <a:ext cx="5357850" cy="193899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814388" indent="-514350">
              <a:buFont typeface="+mj-lt"/>
              <a:buAutoNum type="arabicPeriod"/>
            </a:pPr>
            <a:r>
              <a:rPr lang="en-US" sz="2400" b="0" dirty="0" smtClean="0">
                <a:latin typeface="+mn-lt"/>
                <a:sym typeface="Symbol"/>
              </a:rPr>
              <a:t>X cat(X)  animal(X).</a:t>
            </a:r>
          </a:p>
          <a:p>
            <a:pPr marL="814388" indent="-514350">
              <a:buFont typeface="+mj-lt"/>
              <a:buAutoNum type="arabicPeriod"/>
            </a:pPr>
            <a:r>
              <a:rPr lang="en-US" sz="2400" b="0" dirty="0" smtClean="0">
                <a:latin typeface="+mn-lt"/>
                <a:sym typeface="Symbol"/>
              </a:rPr>
              <a:t>Y animal(Y)  </a:t>
            </a:r>
            <a:r>
              <a:rPr lang="en-US" sz="2400" b="0" dirty="0" err="1" smtClean="0">
                <a:latin typeface="+mn-lt"/>
                <a:sym typeface="Symbol"/>
              </a:rPr>
              <a:t>will_die</a:t>
            </a:r>
            <a:r>
              <a:rPr lang="en-US" sz="2400" b="0" dirty="0" smtClean="0">
                <a:latin typeface="+mn-lt"/>
                <a:sym typeface="Symbol"/>
              </a:rPr>
              <a:t>(Y).</a:t>
            </a:r>
          </a:p>
          <a:p>
            <a:pPr marL="814388" indent="-514350">
              <a:buFont typeface="+mj-lt"/>
              <a:buAutoNum type="arabicPeriod"/>
            </a:pPr>
            <a:r>
              <a:rPr lang="en-US" sz="2400" b="0" dirty="0" smtClean="0">
                <a:latin typeface="+mn-lt"/>
                <a:sym typeface="Symbol"/>
              </a:rPr>
              <a:t>cat(</a:t>
            </a:r>
            <a:r>
              <a:rPr lang="en-US" sz="2400" b="0" dirty="0" err="1" smtClean="0">
                <a:latin typeface="+mn-lt"/>
                <a:sym typeface="Symbol"/>
              </a:rPr>
              <a:t>chico</a:t>
            </a:r>
            <a:r>
              <a:rPr lang="en-US" sz="2400" b="0" dirty="0" smtClean="0">
                <a:latin typeface="+mn-lt"/>
                <a:sym typeface="Symbol"/>
              </a:rPr>
              <a:t>).</a:t>
            </a:r>
          </a:p>
          <a:p>
            <a:pPr marL="814388" indent="-514350">
              <a:buFont typeface="+mj-lt"/>
              <a:buAutoNum type="arabicPeriod"/>
            </a:pPr>
            <a:r>
              <a:rPr lang="en-US" sz="2400" b="0" dirty="0" smtClean="0">
                <a:sym typeface="Symbol"/>
              </a:rPr>
              <a:t>animal(</a:t>
            </a:r>
            <a:r>
              <a:rPr lang="en-US" sz="2400" b="0" dirty="0" err="1" smtClean="0">
                <a:sym typeface="Symbol"/>
              </a:rPr>
              <a:t>chico</a:t>
            </a:r>
            <a:r>
              <a:rPr lang="en-US" sz="2400" b="0" dirty="0" smtClean="0">
                <a:sym typeface="Symbol"/>
              </a:rPr>
              <a:t>).</a:t>
            </a:r>
            <a:endParaRPr lang="en-US" sz="2400" b="0" dirty="0" smtClean="0">
              <a:solidFill>
                <a:schemeClr val="tx1"/>
              </a:solidFill>
              <a:sym typeface="Symbol"/>
            </a:endParaRPr>
          </a:p>
          <a:p>
            <a:pPr marL="814388" indent="-514350">
              <a:buFont typeface="+mj-lt"/>
              <a:buAutoNum type="arabicPeriod"/>
            </a:pPr>
            <a:r>
              <a:rPr lang="en-US" sz="2400" b="0" dirty="0" smtClean="0">
                <a:solidFill>
                  <a:schemeClr val="tx1"/>
                </a:solidFill>
                <a:latin typeface="+mn-lt"/>
                <a:sym typeface="Symbol"/>
              </a:rPr>
              <a:t></a:t>
            </a:r>
            <a:r>
              <a:rPr lang="en-US" sz="2400" b="0" dirty="0" err="1" smtClean="0">
                <a:solidFill>
                  <a:schemeClr val="tx1"/>
                </a:solidFill>
                <a:latin typeface="+mn-lt"/>
                <a:sym typeface="Symbol"/>
              </a:rPr>
              <a:t>will_die</a:t>
            </a:r>
            <a:r>
              <a:rPr lang="en-US" sz="2400" b="0" dirty="0" smtClean="0">
                <a:solidFill>
                  <a:schemeClr val="tx1"/>
                </a:solidFill>
                <a:latin typeface="+mn-lt"/>
                <a:sym typeface="Symbol"/>
              </a:rPr>
              <a:t>(</a:t>
            </a:r>
            <a:r>
              <a:rPr lang="en-US" sz="2400" b="0" dirty="0" err="1" smtClean="0">
                <a:solidFill>
                  <a:schemeClr val="tx1"/>
                </a:solidFill>
                <a:latin typeface="+mn-lt"/>
                <a:sym typeface="Symbol"/>
              </a:rPr>
              <a:t>chico</a:t>
            </a:r>
            <a:r>
              <a:rPr lang="en-US" sz="2400" b="0" dirty="0" smtClean="0">
                <a:solidFill>
                  <a:schemeClr val="tx1"/>
                </a:solidFill>
                <a:latin typeface="+mn-lt"/>
                <a:sym typeface="Symbol"/>
              </a:rPr>
              <a:t>).</a:t>
            </a:r>
            <a:endParaRPr lang="en-US" sz="2400" b="0" dirty="0" smtClean="0">
              <a:solidFill>
                <a:schemeClr val="tx1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00365" y="4071942"/>
            <a:ext cx="5500726" cy="224676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814388" indent="-514350">
              <a:buFont typeface="+mj-lt"/>
              <a:buAutoNum type="arabicPeriod"/>
            </a:pPr>
            <a:endParaRPr lang="en-US" sz="2000" b="0" dirty="0" smtClean="0">
              <a:latin typeface="+mn-lt"/>
              <a:sym typeface="Symbol"/>
            </a:endParaRPr>
          </a:p>
          <a:p>
            <a:pPr marL="814388" indent="-514350">
              <a:buFont typeface="+mj-lt"/>
              <a:buAutoNum type="arabicPeriod"/>
            </a:pPr>
            <a:r>
              <a:rPr lang="en-US" sz="2000" b="0" dirty="0" smtClean="0">
                <a:latin typeface="+mn-lt"/>
                <a:sym typeface="Symbol"/>
              </a:rPr>
              <a:t>cat(X)  animal(X).</a:t>
            </a:r>
          </a:p>
          <a:p>
            <a:pPr marL="814388" indent="-514350">
              <a:buFont typeface="+mj-lt"/>
              <a:buAutoNum type="arabicPeriod"/>
            </a:pPr>
            <a:r>
              <a:rPr lang="en-US" sz="2000" b="0" dirty="0" smtClean="0">
                <a:latin typeface="+mn-lt"/>
                <a:sym typeface="Symbol"/>
              </a:rPr>
              <a:t>animal(Y)  </a:t>
            </a:r>
            <a:r>
              <a:rPr lang="en-US" sz="2000" b="0" dirty="0" err="1" smtClean="0">
                <a:latin typeface="+mn-lt"/>
                <a:sym typeface="Symbol"/>
              </a:rPr>
              <a:t>will_die</a:t>
            </a:r>
            <a:r>
              <a:rPr lang="en-US" sz="2000" b="0" dirty="0" smtClean="0">
                <a:latin typeface="+mn-lt"/>
                <a:sym typeface="Symbol"/>
              </a:rPr>
              <a:t>(Y).</a:t>
            </a:r>
          </a:p>
          <a:p>
            <a:pPr marL="814388" indent="-514350">
              <a:buFont typeface="+mj-lt"/>
              <a:buAutoNum type="arabicPeriod"/>
            </a:pPr>
            <a:r>
              <a:rPr lang="en-US" sz="2000" b="0" dirty="0" smtClean="0">
                <a:latin typeface="+mn-lt"/>
                <a:sym typeface="Symbol"/>
              </a:rPr>
              <a:t>cat(</a:t>
            </a:r>
            <a:r>
              <a:rPr lang="en-US" sz="2000" b="0" dirty="0" err="1" smtClean="0">
                <a:latin typeface="+mn-lt"/>
                <a:sym typeface="Symbol"/>
              </a:rPr>
              <a:t>chico</a:t>
            </a:r>
            <a:r>
              <a:rPr lang="en-US" sz="2000" b="0" dirty="0" smtClean="0">
                <a:latin typeface="+mn-lt"/>
                <a:sym typeface="Symbol"/>
              </a:rPr>
              <a:t>).</a:t>
            </a:r>
          </a:p>
          <a:p>
            <a:pPr marL="814388" indent="-514350">
              <a:buFont typeface="+mj-lt"/>
              <a:buAutoNum type="arabicPeriod"/>
            </a:pPr>
            <a:r>
              <a:rPr lang="en-US" sz="2000" b="0" dirty="0" smtClean="0">
                <a:sym typeface="Symbol"/>
              </a:rPr>
              <a:t>animal(</a:t>
            </a:r>
            <a:r>
              <a:rPr lang="en-US" sz="2000" b="0" dirty="0" err="1" smtClean="0">
                <a:sym typeface="Symbol"/>
              </a:rPr>
              <a:t>chico</a:t>
            </a:r>
            <a:r>
              <a:rPr lang="en-US" sz="2000" b="0" dirty="0" smtClean="0">
                <a:solidFill>
                  <a:schemeClr val="tx1"/>
                </a:solidFill>
                <a:sym typeface="Symbol"/>
              </a:rPr>
              <a:t>).</a:t>
            </a:r>
          </a:p>
          <a:p>
            <a:pPr marL="814388" indent="-514350">
              <a:buFont typeface="+mj-lt"/>
              <a:buAutoNum type="arabicPeriod"/>
            </a:pPr>
            <a:r>
              <a:rPr lang="en-US" sz="2000" b="0" dirty="0" smtClean="0">
                <a:solidFill>
                  <a:schemeClr val="tx1"/>
                </a:solidFill>
                <a:latin typeface="+mn-lt"/>
                <a:sym typeface="Symbol"/>
              </a:rPr>
              <a:t></a:t>
            </a:r>
            <a:r>
              <a:rPr lang="en-US" sz="2000" b="0" dirty="0" err="1" smtClean="0">
                <a:solidFill>
                  <a:schemeClr val="tx1"/>
                </a:solidFill>
                <a:latin typeface="+mn-lt"/>
                <a:sym typeface="Symbol"/>
              </a:rPr>
              <a:t>will_die</a:t>
            </a:r>
            <a:r>
              <a:rPr lang="en-US" sz="2000" b="0" dirty="0" smtClean="0">
                <a:solidFill>
                  <a:schemeClr val="tx1"/>
                </a:solidFill>
                <a:latin typeface="+mn-lt"/>
                <a:sym typeface="Symbol"/>
              </a:rPr>
              <a:t>(</a:t>
            </a:r>
            <a:r>
              <a:rPr lang="en-US" sz="2000" b="0" dirty="0" err="1" smtClean="0">
                <a:solidFill>
                  <a:schemeClr val="tx1"/>
                </a:solidFill>
                <a:latin typeface="+mn-lt"/>
                <a:sym typeface="Symbol"/>
              </a:rPr>
              <a:t>chico</a:t>
            </a:r>
            <a:r>
              <a:rPr lang="en-US" sz="2000" b="0" dirty="0" smtClean="0">
                <a:solidFill>
                  <a:schemeClr val="tx1"/>
                </a:solidFill>
                <a:latin typeface="+mn-lt"/>
                <a:sym typeface="Symbol"/>
              </a:rPr>
              <a:t>).</a:t>
            </a:r>
          </a:p>
          <a:p>
            <a:pPr marL="814388" indent="-514350"/>
            <a:endParaRPr lang="en-US" sz="2000" b="0" dirty="0" smtClean="0">
              <a:solidFill>
                <a:srgbClr val="FF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5" name="Right Brace 14"/>
          <p:cNvSpPr/>
          <p:nvPr/>
        </p:nvSpPr>
        <p:spPr>
          <a:xfrm>
            <a:off x="5286380" y="2143116"/>
            <a:ext cx="285752" cy="714380"/>
          </a:xfrm>
          <a:prstGeom prst="rightBrac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643570" y="2149610"/>
            <a:ext cx="27146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 smtClean="0">
                <a:latin typeface="+mn-lt"/>
              </a:rPr>
              <a:t>Applying </a:t>
            </a:r>
          </a:p>
          <a:p>
            <a:r>
              <a:rPr lang="en-US" sz="2000" dirty="0" smtClean="0">
                <a:solidFill>
                  <a:srgbClr val="FF0000"/>
                </a:solidFill>
                <a:latin typeface="+mn-lt"/>
              </a:rPr>
              <a:t>P </a:t>
            </a:r>
            <a:r>
              <a:rPr lang="en-US" sz="2000" dirty="0" smtClean="0">
                <a:solidFill>
                  <a:srgbClr val="FF0000"/>
                </a:solidFill>
                <a:latin typeface="+mn-lt"/>
                <a:sym typeface="Symbol"/>
              </a:rPr>
              <a:t> Q  P  Q </a:t>
            </a:r>
            <a:r>
              <a:rPr lang="en-US" sz="2000" dirty="0" smtClean="0">
                <a:solidFill>
                  <a:srgbClr val="FF0000"/>
                </a:solidFill>
                <a:latin typeface="+mn-lt"/>
              </a:rPr>
              <a:t> </a:t>
            </a:r>
            <a:endParaRPr lang="en-US" sz="2000" dirty="0">
              <a:solidFill>
                <a:srgbClr val="FF0000"/>
              </a:solidFill>
              <a:latin typeface="+mn-lt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4500562" y="2214554"/>
            <a:ext cx="1214446" cy="2214578"/>
            <a:chOff x="4429124" y="2214554"/>
            <a:chExt cx="1214446" cy="2214578"/>
          </a:xfrm>
        </p:grpSpPr>
        <p:cxnSp>
          <p:nvCxnSpPr>
            <p:cNvPr id="20" name="Elbow Connector 19"/>
            <p:cNvCxnSpPr/>
            <p:nvPr/>
          </p:nvCxnSpPr>
          <p:spPr>
            <a:xfrm rot="16200000" flipH="1">
              <a:off x="4036215" y="2821777"/>
              <a:ext cx="2214578" cy="1000132"/>
            </a:xfrm>
            <a:prstGeom prst="bentConnector3">
              <a:avLst>
                <a:gd name="adj1" fmla="val 50000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rot="10800000">
              <a:off x="4429124" y="2214554"/>
              <a:ext cx="214314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Elbow Connector 25"/>
          <p:cNvCxnSpPr/>
          <p:nvPr/>
        </p:nvCxnSpPr>
        <p:spPr>
          <a:xfrm rot="16200000" flipH="1">
            <a:off x="4822033" y="2964653"/>
            <a:ext cx="1928826" cy="1428760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5612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8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9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3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8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Resolution with FOPL example</a:t>
            </a:r>
            <a:endParaRPr lang="en-US" dirty="0"/>
          </a:p>
        </p:txBody>
      </p:sp>
      <p:sp>
        <p:nvSpPr>
          <p:cNvPr id="172068" name="Rectangle 36"/>
          <p:cNvSpPr>
            <a:spLocks noChangeArrowheads="1"/>
          </p:cNvSpPr>
          <p:nvPr/>
        </p:nvSpPr>
        <p:spPr bwMode="auto">
          <a:xfrm>
            <a:off x="4786314" y="6152728"/>
            <a:ext cx="304800" cy="228600"/>
          </a:xfrm>
          <a:prstGeom prst="rect">
            <a:avLst/>
          </a:prstGeom>
          <a:solidFill>
            <a:schemeClr val="tx1"/>
          </a:solidFill>
          <a:ln w="9525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2084" name="Rectangle 52"/>
          <p:cNvSpPr>
            <a:spLocks noChangeArrowheads="1"/>
          </p:cNvSpPr>
          <p:nvPr/>
        </p:nvSpPr>
        <p:spPr bwMode="auto">
          <a:xfrm>
            <a:off x="4286248" y="2880866"/>
            <a:ext cx="32655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b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X/Y </a:t>
            </a:r>
            <a:r>
              <a:rPr lang="en-US" sz="1600" b="0" dirty="0" smtClean="0">
                <a:latin typeface="Times New Roman" pitchFamily="18" charset="0"/>
                <a:cs typeface="Times New Roman" pitchFamily="18" charset="0"/>
              </a:rPr>
              <a:t>(note: </a:t>
            </a:r>
            <a:r>
              <a:rPr lang="en-US" sz="1600" b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Y/X </a:t>
            </a:r>
            <a:r>
              <a:rPr lang="en-US" sz="1600" b="0" dirty="0" smtClean="0">
                <a:latin typeface="Times New Roman" pitchFamily="18" charset="0"/>
                <a:cs typeface="Times New Roman" pitchFamily="18" charset="0"/>
              </a:rPr>
              <a:t>is also true)</a:t>
            </a:r>
            <a:endParaRPr lang="en-US" sz="1600" b="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2087" name="Rectangle 55"/>
          <p:cNvSpPr>
            <a:spLocks noChangeArrowheads="1"/>
          </p:cNvSpPr>
          <p:nvPr/>
        </p:nvSpPr>
        <p:spPr bwMode="auto">
          <a:xfrm>
            <a:off x="5214942" y="4238188"/>
            <a:ext cx="128588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b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Y/</a:t>
            </a:r>
            <a:r>
              <a:rPr lang="en-US" sz="1800" b="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chico</a:t>
            </a:r>
            <a:endParaRPr lang="en-US" sz="1800" b="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00034" y="2347763"/>
            <a:ext cx="3643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 smtClean="0">
                <a:latin typeface="+mn-lt"/>
                <a:sym typeface="Symbol"/>
              </a:rPr>
              <a:t>cat(X)  animal(X)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3867144" y="2347763"/>
            <a:ext cx="42767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 smtClean="0">
                <a:latin typeface="+mn-lt"/>
                <a:sym typeface="Symbol"/>
              </a:rPr>
              <a:t>animal(Y)  </a:t>
            </a:r>
            <a:r>
              <a:rPr lang="en-US" sz="2400" b="0" dirty="0" err="1" smtClean="0">
                <a:latin typeface="+mn-lt"/>
                <a:sym typeface="Symbol"/>
              </a:rPr>
              <a:t>will_die</a:t>
            </a:r>
            <a:r>
              <a:rPr lang="en-US" sz="2400" b="0" dirty="0" smtClean="0">
                <a:latin typeface="+mn-lt"/>
                <a:sym typeface="Symbol"/>
              </a:rPr>
              <a:t>(Y)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1428728" y="3633647"/>
            <a:ext cx="3643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 smtClean="0">
                <a:latin typeface="+mn-lt"/>
                <a:sym typeface="Symbol"/>
              </a:rPr>
              <a:t>cat(Y)  </a:t>
            </a:r>
            <a:r>
              <a:rPr lang="en-US" sz="2400" b="0" dirty="0" err="1" smtClean="0">
                <a:latin typeface="+mn-lt"/>
                <a:sym typeface="Symbol"/>
              </a:rPr>
              <a:t>will_die</a:t>
            </a:r>
            <a:r>
              <a:rPr lang="en-US" sz="2400" b="0" dirty="0" smtClean="0">
                <a:latin typeface="+mn-lt"/>
                <a:sym typeface="Symbol"/>
              </a:rPr>
              <a:t>(Y)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4857752" y="3633647"/>
            <a:ext cx="1928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 smtClean="0">
                <a:latin typeface="+mn-lt"/>
                <a:sym typeface="Symbol"/>
              </a:rPr>
              <a:t>cat(</a:t>
            </a:r>
            <a:r>
              <a:rPr lang="en-US" sz="2400" b="0" dirty="0" err="1" smtClean="0">
                <a:latin typeface="+mn-lt"/>
                <a:sym typeface="Symbol"/>
              </a:rPr>
              <a:t>chico</a:t>
            </a:r>
            <a:r>
              <a:rPr lang="en-US" sz="2400" b="0" dirty="0" smtClean="0">
                <a:latin typeface="+mn-lt"/>
                <a:sym typeface="Symbol"/>
              </a:rPr>
              <a:t>)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5357818" y="4848093"/>
            <a:ext cx="29289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 smtClean="0">
                <a:latin typeface="+mn-lt"/>
                <a:sym typeface="Symbol"/>
              </a:rPr>
              <a:t></a:t>
            </a:r>
            <a:r>
              <a:rPr lang="en-US" sz="2400" b="0" dirty="0" err="1" smtClean="0">
                <a:latin typeface="+mn-lt"/>
                <a:sym typeface="Symbol"/>
              </a:rPr>
              <a:t>will_die</a:t>
            </a:r>
            <a:r>
              <a:rPr lang="en-US" sz="2400" b="0" dirty="0" smtClean="0">
                <a:latin typeface="+mn-lt"/>
                <a:sym typeface="Symbol"/>
              </a:rPr>
              <a:t>(</a:t>
            </a:r>
            <a:r>
              <a:rPr lang="en-US" sz="2400" b="0" dirty="0" err="1" smtClean="0">
                <a:latin typeface="+mn-lt"/>
                <a:sym typeface="Symbol"/>
              </a:rPr>
              <a:t>chico</a:t>
            </a:r>
            <a:r>
              <a:rPr lang="en-US" sz="2400" b="0" dirty="0" smtClean="0">
                <a:latin typeface="+mn-lt"/>
                <a:sym typeface="Symbol"/>
              </a:rPr>
              <a:t>)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2928926" y="4848093"/>
            <a:ext cx="2286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 err="1" smtClean="0">
                <a:latin typeface="+mn-lt"/>
                <a:sym typeface="Symbol"/>
              </a:rPr>
              <a:t>will_die</a:t>
            </a:r>
            <a:r>
              <a:rPr lang="en-US" sz="2400" b="0" dirty="0" smtClean="0">
                <a:latin typeface="+mn-lt"/>
                <a:sym typeface="Symbol"/>
              </a:rPr>
              <a:t>(</a:t>
            </a:r>
            <a:r>
              <a:rPr lang="en-US" sz="2400" b="0" dirty="0" err="1" smtClean="0">
                <a:latin typeface="+mn-lt"/>
                <a:sym typeface="Symbol"/>
              </a:rPr>
              <a:t>chico</a:t>
            </a:r>
            <a:r>
              <a:rPr lang="en-US" sz="2400" b="0" dirty="0" smtClean="0">
                <a:latin typeface="+mn-lt"/>
                <a:sym typeface="Symbol"/>
              </a:rPr>
              <a:t>)</a:t>
            </a:r>
            <a:endParaRPr lang="en-US" dirty="0"/>
          </a:p>
        </p:txBody>
      </p:sp>
      <p:cxnSp>
        <p:nvCxnSpPr>
          <p:cNvPr id="18" name="Straight Connector 17"/>
          <p:cNvCxnSpPr>
            <a:stCxn id="36" idx="2"/>
            <a:endCxn id="38" idx="0"/>
          </p:cNvCxnSpPr>
          <p:nvPr/>
        </p:nvCxnSpPr>
        <p:spPr>
          <a:xfrm rot="16200000" flipH="1">
            <a:off x="2373941" y="2757190"/>
            <a:ext cx="824219" cy="9286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38" idx="0"/>
            <a:endCxn id="37" idx="2"/>
          </p:cNvCxnSpPr>
          <p:nvPr/>
        </p:nvCxnSpPr>
        <p:spPr>
          <a:xfrm rot="5400000" flipH="1" flipV="1">
            <a:off x="4215850" y="1843976"/>
            <a:ext cx="824219" cy="27551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38" idx="2"/>
            <a:endCxn id="41" idx="0"/>
          </p:cNvCxnSpPr>
          <p:nvPr/>
        </p:nvCxnSpPr>
        <p:spPr>
          <a:xfrm rot="16200000" flipH="1">
            <a:off x="3284775" y="4060933"/>
            <a:ext cx="752781" cy="821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41" idx="0"/>
            <a:endCxn id="39" idx="2"/>
          </p:cNvCxnSpPr>
          <p:nvPr/>
        </p:nvCxnSpPr>
        <p:spPr>
          <a:xfrm rot="5400000" flipH="1" flipV="1">
            <a:off x="4570659" y="3596588"/>
            <a:ext cx="752781" cy="17502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41" idx="2"/>
            <a:endCxn id="172068" idx="0"/>
          </p:cNvCxnSpPr>
          <p:nvPr/>
        </p:nvCxnSpPr>
        <p:spPr>
          <a:xfrm rot="16200000" flipH="1">
            <a:off x="4083839" y="5297853"/>
            <a:ext cx="842970" cy="8667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72068" idx="0"/>
            <a:endCxn id="40" idx="2"/>
          </p:cNvCxnSpPr>
          <p:nvPr/>
        </p:nvCxnSpPr>
        <p:spPr>
          <a:xfrm rot="5400000" flipH="1" flipV="1">
            <a:off x="5459020" y="4789452"/>
            <a:ext cx="842970" cy="1883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2143108" y="2380800"/>
            <a:ext cx="571504" cy="428628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5857884" y="4881130"/>
            <a:ext cx="571504" cy="428628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3357554" y="4881130"/>
            <a:ext cx="571504" cy="428628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5715008" y="3666684"/>
            <a:ext cx="571504" cy="428628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1928794" y="3666684"/>
            <a:ext cx="571504" cy="428628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4357686" y="2380800"/>
            <a:ext cx="571504" cy="428628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45854" y="1373867"/>
            <a:ext cx="80145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 smtClean="0">
                <a:solidFill>
                  <a:srgbClr val="00B0F0"/>
                </a:solidFill>
                <a:latin typeface="+mn-lt"/>
              </a:rPr>
              <a:t>Step 3-5 – </a:t>
            </a:r>
            <a:r>
              <a:rPr lang="en-US" sz="2000" b="0" dirty="0" smtClean="0">
                <a:solidFill>
                  <a:srgbClr val="00B0F0"/>
                </a:solidFill>
                <a:latin typeface="+mn-lt"/>
              </a:rPr>
              <a:t>Produce </a:t>
            </a:r>
            <a:r>
              <a:rPr lang="en-US" sz="2000" b="0" dirty="0" err="1" smtClean="0">
                <a:solidFill>
                  <a:srgbClr val="00B0F0"/>
                </a:solidFill>
                <a:latin typeface="+mn-lt"/>
              </a:rPr>
              <a:t>resolvents</a:t>
            </a:r>
            <a:r>
              <a:rPr lang="en-US" sz="2000" b="0" dirty="0" smtClean="0">
                <a:solidFill>
                  <a:srgbClr val="00B0F0"/>
                </a:solidFill>
                <a:latin typeface="+mn-lt"/>
              </a:rPr>
              <a:t>, cancel all contradictions until [ ] is obtained.</a:t>
            </a:r>
            <a:r>
              <a:rPr lang="en-US" sz="2400" b="0" dirty="0" smtClean="0">
                <a:solidFill>
                  <a:srgbClr val="00B0F0"/>
                </a:solidFill>
                <a:latin typeface="+mn-lt"/>
              </a:rPr>
              <a:t> </a:t>
            </a:r>
            <a:endParaRPr lang="en-US" sz="2400" b="0" dirty="0">
              <a:solidFill>
                <a:srgbClr val="00B0F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39341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7" dur="2000"/>
                                        <p:tgtEl>
                                          <p:spTgt spid="172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57" dur="2000"/>
                                        <p:tgtEl>
                                          <p:spTgt spid="172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5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9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0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3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8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1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000"/>
                            </p:stCondLst>
                            <p:childTnLst>
                              <p:par>
                                <p:cTn id="93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5" dur="2000"/>
                                        <p:tgtEl>
                                          <p:spTgt spid="172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68" grpId="0" animBg="1"/>
      <p:bldP spid="172084" grpId="0"/>
      <p:bldP spid="172087" grpId="0"/>
      <p:bldP spid="36" grpId="0"/>
      <p:bldP spid="37" grpId="0"/>
      <p:bldP spid="38" grpId="0"/>
      <p:bldP spid="39" grpId="0"/>
      <p:bldP spid="40" grpId="0"/>
      <p:bldP spid="41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Semantic Network</a:t>
            </a:r>
            <a:endParaRPr lang="en-US" dirty="0"/>
          </a:p>
        </p:txBody>
      </p:sp>
      <p:sp>
        <p:nvSpPr>
          <p:cNvPr id="92177" name="Text Box 17"/>
          <p:cNvSpPr txBox="1">
            <a:spLocks noChangeArrowheads="1"/>
          </p:cNvSpPr>
          <p:nvPr/>
        </p:nvSpPr>
        <p:spPr bwMode="auto">
          <a:xfrm>
            <a:off x="4191000" y="4038600"/>
            <a:ext cx="1073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accent2"/>
                </a:solidFill>
              </a:rPr>
              <a:t>Animals</a:t>
            </a:r>
          </a:p>
        </p:txBody>
      </p:sp>
      <p:pic>
        <p:nvPicPr>
          <p:cNvPr id="92181" name="Picture 21" descr="butterfly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2819400"/>
            <a:ext cx="1047750" cy="800100"/>
          </a:xfrm>
          <a:prstGeom prst="rect">
            <a:avLst/>
          </a:prstGeom>
          <a:noFill/>
        </p:spPr>
      </p:pic>
      <p:pic>
        <p:nvPicPr>
          <p:cNvPr id="92183" name="Picture 23" descr="anilion1_e0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00600" y="2133600"/>
            <a:ext cx="1714500" cy="1714500"/>
          </a:xfrm>
          <a:prstGeom prst="rect">
            <a:avLst/>
          </a:prstGeom>
          <a:noFill/>
        </p:spPr>
      </p:pic>
      <p:pic>
        <p:nvPicPr>
          <p:cNvPr id="92184" name="Picture 24" descr="3dspider"/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43800" y="5181600"/>
            <a:ext cx="842963" cy="1409700"/>
          </a:xfrm>
          <a:prstGeom prst="rect">
            <a:avLst/>
          </a:prstGeom>
          <a:noFill/>
        </p:spPr>
      </p:pic>
      <p:pic>
        <p:nvPicPr>
          <p:cNvPr id="92185" name="Picture 25" descr="dolph"/>
          <p:cNvPicPr>
            <a:picLocks noChangeAspect="1" noChangeArrowheads="1" noCrop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191000" y="5181600"/>
            <a:ext cx="1471613" cy="1457325"/>
          </a:xfrm>
          <a:prstGeom prst="rect">
            <a:avLst/>
          </a:prstGeom>
          <a:noFill/>
        </p:spPr>
      </p:pic>
      <p:pic>
        <p:nvPicPr>
          <p:cNvPr id="92186" name="Picture 26" descr="elephnt2"/>
          <p:cNvPicPr>
            <a:picLocks noChangeAspect="1" noChangeArrowheads="1" noCrop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143000" y="4071942"/>
            <a:ext cx="1666875" cy="1828800"/>
          </a:xfrm>
          <a:prstGeom prst="rect">
            <a:avLst/>
          </a:prstGeom>
          <a:noFill/>
        </p:spPr>
      </p:pic>
      <p:pic>
        <p:nvPicPr>
          <p:cNvPr id="92187" name="Picture 27" descr="flamingo"/>
          <p:cNvPicPr>
            <a:picLocks noChangeAspect="1" noChangeArrowheads="1" noCrop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934200" y="2667000"/>
            <a:ext cx="1562100" cy="1905000"/>
          </a:xfrm>
          <a:prstGeom prst="rect">
            <a:avLst/>
          </a:prstGeom>
          <a:noFill/>
        </p:spPr>
      </p:pic>
      <p:sp>
        <p:nvSpPr>
          <p:cNvPr id="92189" name="Line 29"/>
          <p:cNvSpPr>
            <a:spLocks noChangeShapeType="1"/>
          </p:cNvSpPr>
          <p:nvPr/>
        </p:nvSpPr>
        <p:spPr bwMode="auto">
          <a:xfrm flipH="1" flipV="1">
            <a:off x="2895600" y="3581400"/>
            <a:ext cx="1219200" cy="609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2190" name="Line 30"/>
          <p:cNvSpPr>
            <a:spLocks noChangeShapeType="1"/>
          </p:cNvSpPr>
          <p:nvPr/>
        </p:nvSpPr>
        <p:spPr bwMode="auto">
          <a:xfrm>
            <a:off x="4876800" y="4572000"/>
            <a:ext cx="76200" cy="762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2191" name="Line 31"/>
          <p:cNvSpPr>
            <a:spLocks noChangeShapeType="1"/>
          </p:cNvSpPr>
          <p:nvPr/>
        </p:nvSpPr>
        <p:spPr bwMode="auto">
          <a:xfrm flipH="1">
            <a:off x="2667000" y="4495800"/>
            <a:ext cx="1676400" cy="533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2192" name="Line 32"/>
          <p:cNvSpPr>
            <a:spLocks noChangeShapeType="1"/>
          </p:cNvSpPr>
          <p:nvPr/>
        </p:nvSpPr>
        <p:spPr bwMode="auto">
          <a:xfrm flipV="1">
            <a:off x="5029200" y="3276600"/>
            <a:ext cx="304800" cy="762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2193" name="Line 33"/>
          <p:cNvSpPr>
            <a:spLocks noChangeShapeType="1"/>
          </p:cNvSpPr>
          <p:nvPr/>
        </p:nvSpPr>
        <p:spPr bwMode="auto">
          <a:xfrm>
            <a:off x="5562600" y="4267200"/>
            <a:ext cx="1371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2194" name="Line 34"/>
          <p:cNvSpPr>
            <a:spLocks noChangeShapeType="1"/>
          </p:cNvSpPr>
          <p:nvPr/>
        </p:nvSpPr>
        <p:spPr bwMode="auto">
          <a:xfrm>
            <a:off x="5334000" y="4648200"/>
            <a:ext cx="2286000" cy="1143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2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lnSpc>
                <a:spcPct val="90000"/>
              </a:lnSpc>
            </a:pPr>
            <a:r>
              <a:rPr lang="en-US" dirty="0" smtClean="0">
                <a:solidFill>
                  <a:schemeClr val="tx2"/>
                </a:solidFill>
              </a:rPr>
              <a:t>Definition</a:t>
            </a:r>
          </a:p>
          <a:p>
            <a:pPr lvl="1" algn="just">
              <a:lnSpc>
                <a:spcPct val="90000"/>
              </a:lnSpc>
            </a:pPr>
            <a:r>
              <a:rPr lang="en-US" sz="2400" i="1" dirty="0" smtClean="0">
                <a:solidFill>
                  <a:schemeClr val="tx2"/>
                </a:solidFill>
                <a:sym typeface="Wingdings" pitchFamily="2" charset="2"/>
              </a:rPr>
              <a:t>method </a:t>
            </a:r>
            <a:r>
              <a:rPr lang="en-US" sz="2400" i="1" dirty="0">
                <a:solidFill>
                  <a:schemeClr val="tx2"/>
                </a:solidFill>
                <a:sym typeface="Wingdings" pitchFamily="2" charset="2"/>
              </a:rPr>
              <a:t>of knowledge representation using a graph made up of nodes and arcs</a:t>
            </a:r>
            <a:r>
              <a:rPr lang="en-US" sz="2400" i="1" dirty="0" smtClean="0">
                <a:solidFill>
                  <a:schemeClr val="tx2"/>
                </a:solidFill>
                <a:sym typeface="Wingdings" pitchFamily="2" charset="2"/>
              </a:rPr>
              <a:t>”</a:t>
            </a:r>
          </a:p>
          <a:p>
            <a:pPr lvl="1" algn="just">
              <a:lnSpc>
                <a:spcPct val="90000"/>
              </a:lnSpc>
            </a:pPr>
            <a:endParaRPr lang="en-US" sz="2400" dirty="0">
              <a:solidFill>
                <a:schemeClr val="tx2"/>
              </a:solidFill>
              <a:sym typeface="Wingdings" pitchFamily="2" charset="2"/>
            </a:endParaRPr>
          </a:p>
          <a:p>
            <a:pPr algn="just">
              <a:lnSpc>
                <a:spcPct val="90000"/>
              </a:lnSpc>
            </a:pPr>
            <a:r>
              <a:rPr lang="en-US" sz="2800" dirty="0">
                <a:solidFill>
                  <a:schemeClr val="tx2"/>
                </a:solidFill>
                <a:sym typeface="Wingdings" pitchFamily="2" charset="2"/>
              </a:rPr>
              <a:t>Graphical view of problem’s important objects, properties and relationships</a:t>
            </a:r>
            <a:r>
              <a:rPr lang="en-US" sz="2800" dirty="0" smtClean="0">
                <a:solidFill>
                  <a:schemeClr val="tx2"/>
                </a:solidFill>
                <a:sym typeface="Wingdings" pitchFamily="2" charset="2"/>
              </a:rPr>
              <a:t>.</a:t>
            </a:r>
          </a:p>
          <a:p>
            <a:pPr algn="just">
              <a:lnSpc>
                <a:spcPct val="90000"/>
              </a:lnSpc>
            </a:pPr>
            <a:endParaRPr lang="en-US" sz="2800" dirty="0">
              <a:solidFill>
                <a:schemeClr val="tx2"/>
              </a:solidFill>
              <a:sym typeface="Wingdings" pitchFamily="2" charset="2"/>
            </a:endParaRPr>
          </a:p>
          <a:p>
            <a:pPr algn="just">
              <a:lnSpc>
                <a:spcPct val="90000"/>
              </a:lnSpc>
            </a:pPr>
            <a:r>
              <a:rPr lang="en-US" sz="2800" dirty="0">
                <a:solidFill>
                  <a:schemeClr val="tx2"/>
                </a:solidFill>
                <a:sym typeface="Wingdings" pitchFamily="2" charset="2"/>
              </a:rPr>
              <a:t>Nodes represent objects &amp; arcs represent the relationship</a:t>
            </a:r>
            <a:r>
              <a:rPr lang="en-US" sz="2800" dirty="0" smtClean="0">
                <a:solidFill>
                  <a:schemeClr val="tx2"/>
                </a:solidFill>
                <a:sym typeface="Wingdings" pitchFamily="2" charset="2"/>
              </a:rPr>
              <a:t>.</a:t>
            </a:r>
          </a:p>
          <a:p>
            <a:pPr algn="just">
              <a:lnSpc>
                <a:spcPct val="90000"/>
              </a:lnSpc>
            </a:pPr>
            <a:endParaRPr lang="en-US" sz="2800" dirty="0">
              <a:solidFill>
                <a:schemeClr val="tx2"/>
              </a:solidFill>
              <a:sym typeface="Wingdings" pitchFamily="2" charset="2"/>
            </a:endParaRPr>
          </a:p>
          <a:p>
            <a:pPr algn="just">
              <a:lnSpc>
                <a:spcPct val="90000"/>
              </a:lnSpc>
            </a:pPr>
            <a:r>
              <a:rPr lang="en-US" sz="2800" dirty="0">
                <a:solidFill>
                  <a:schemeClr val="tx2"/>
                </a:solidFill>
                <a:sym typeface="Wingdings" pitchFamily="2" charset="2"/>
              </a:rPr>
              <a:t>Arcs are commonly labeled with terms “IS-A” or “HAS”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Semantic Network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74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Rectangle 3"/>
          <p:cNvSpPr>
            <a:spLocks noGrp="1" noChangeArrowheads="1"/>
          </p:cNvSpPr>
          <p:nvPr>
            <p:ph idx="1"/>
          </p:nvPr>
        </p:nvSpPr>
        <p:spPr>
          <a:xfrm>
            <a:off x="214282" y="1500174"/>
            <a:ext cx="8229600" cy="4625975"/>
          </a:xfrm>
        </p:spPr>
        <p:txBody>
          <a:bodyPr/>
          <a:lstStyle/>
          <a:p>
            <a:pPr algn="just"/>
            <a:r>
              <a:rPr lang="en-US" sz="2200" b="1" dirty="0">
                <a:solidFill>
                  <a:schemeClr val="accent2"/>
                </a:solidFill>
                <a:sym typeface="Wingdings" pitchFamily="2" charset="2"/>
              </a:rPr>
              <a:t>FACT :</a:t>
            </a:r>
            <a:r>
              <a:rPr lang="en-US" sz="2200" dirty="0">
                <a:solidFill>
                  <a:schemeClr val="accent2"/>
                </a:solidFill>
                <a:sym typeface="Wingdings" pitchFamily="2" charset="2"/>
              </a:rPr>
              <a:t> Parrot is a bird. Typically bird has wings  and travel by flying. Bird category falls under animal kingdom. All animal requires air to breathe. Ostrich is a bird but travels by walking.</a:t>
            </a:r>
          </a:p>
          <a:p>
            <a:pPr algn="just"/>
            <a:endParaRPr lang="en-US" sz="2200" dirty="0">
              <a:solidFill>
                <a:schemeClr val="accent2"/>
              </a:solidFill>
            </a:endParaRPr>
          </a:p>
        </p:txBody>
      </p:sp>
      <p:sp>
        <p:nvSpPr>
          <p:cNvPr id="26" name="Title 2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Semantic Network</a:t>
            </a:r>
            <a:endParaRPr lang="en-US" dirty="0"/>
          </a:p>
        </p:txBody>
      </p:sp>
      <p:grpSp>
        <p:nvGrpSpPr>
          <p:cNvPr id="29" name="Group 28"/>
          <p:cNvGrpSpPr/>
          <p:nvPr/>
        </p:nvGrpSpPr>
        <p:grpSpPr>
          <a:xfrm>
            <a:off x="990600" y="2819400"/>
            <a:ext cx="7620000" cy="3886200"/>
            <a:chOff x="990600" y="2819400"/>
            <a:chExt cx="7620000" cy="3886200"/>
          </a:xfrm>
        </p:grpSpPr>
        <p:grpSp>
          <p:nvGrpSpPr>
            <p:cNvPr id="28" name="Group 27"/>
            <p:cNvGrpSpPr/>
            <p:nvPr/>
          </p:nvGrpSpPr>
          <p:grpSpPr>
            <a:xfrm>
              <a:off x="990600" y="2819400"/>
              <a:ext cx="7620000" cy="3581400"/>
              <a:chOff x="990600" y="2819400"/>
              <a:chExt cx="7620000" cy="3581400"/>
            </a:xfrm>
          </p:grpSpPr>
          <p:sp>
            <p:nvSpPr>
              <p:cNvPr id="89096" name="Oval 8"/>
              <p:cNvSpPr>
                <a:spLocks noChangeArrowheads="1"/>
              </p:cNvSpPr>
              <p:nvPr/>
            </p:nvSpPr>
            <p:spPr bwMode="auto">
              <a:xfrm>
                <a:off x="7696200" y="3657600"/>
                <a:ext cx="914400" cy="914400"/>
              </a:xfrm>
              <a:prstGeom prst="ellipse">
                <a:avLst/>
              </a:prstGeom>
              <a:solidFill>
                <a:srgbClr val="CCFFCC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>
                <a:outerShdw dist="107763" dir="189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/>
              <a:p>
                <a:pPr algn="ctr"/>
                <a:r>
                  <a:rPr lang="en-US" sz="2000" dirty="0"/>
                  <a:t>Air</a:t>
                </a:r>
              </a:p>
            </p:txBody>
          </p:sp>
          <p:grpSp>
            <p:nvGrpSpPr>
              <p:cNvPr id="27" name="Group 26"/>
              <p:cNvGrpSpPr/>
              <p:nvPr/>
            </p:nvGrpSpPr>
            <p:grpSpPr>
              <a:xfrm>
                <a:off x="990600" y="2819400"/>
                <a:ext cx="6872326" cy="3581400"/>
                <a:chOff x="990600" y="2819400"/>
                <a:chExt cx="6872326" cy="3581400"/>
              </a:xfrm>
            </p:grpSpPr>
            <p:sp>
              <p:nvSpPr>
                <p:cNvPr id="89092" name="Oval 4"/>
                <p:cNvSpPr>
                  <a:spLocks noChangeArrowheads="1"/>
                </p:cNvSpPr>
                <p:nvPr/>
              </p:nvSpPr>
              <p:spPr bwMode="auto">
                <a:xfrm>
                  <a:off x="5867400" y="3733800"/>
                  <a:ext cx="914400" cy="914400"/>
                </a:xfrm>
                <a:prstGeom prst="ellipse">
                  <a:avLst/>
                </a:prstGeom>
                <a:solidFill>
                  <a:srgbClr val="CCFFCC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dist="107763" dir="18900000" algn="ctr" rotWithShape="0">
                    <a:schemeClr val="bg2">
                      <a:alpha val="50000"/>
                    </a:schemeClr>
                  </a:outerShdw>
                </a:effectLst>
              </p:spPr>
              <p:txBody>
                <a:bodyPr wrap="none" anchor="ctr"/>
                <a:lstStyle/>
                <a:p>
                  <a:pPr algn="ctr"/>
                  <a:r>
                    <a:rPr lang="en-US" sz="2000" dirty="0"/>
                    <a:t>Animal</a:t>
                  </a:r>
                </a:p>
              </p:txBody>
            </p:sp>
            <p:sp>
              <p:nvSpPr>
                <p:cNvPr id="89093" name="Oval 5"/>
                <p:cNvSpPr>
                  <a:spLocks noChangeArrowheads="1"/>
                </p:cNvSpPr>
                <p:nvPr/>
              </p:nvSpPr>
              <p:spPr bwMode="auto">
                <a:xfrm>
                  <a:off x="2971800" y="3657600"/>
                  <a:ext cx="914400" cy="914400"/>
                </a:xfrm>
                <a:prstGeom prst="ellipse">
                  <a:avLst/>
                </a:prstGeom>
                <a:solidFill>
                  <a:srgbClr val="CCFFCC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dist="107763" dir="18900000" algn="ctr" rotWithShape="0">
                    <a:schemeClr val="bg2">
                      <a:alpha val="50000"/>
                    </a:schemeClr>
                  </a:outerShdw>
                </a:effectLst>
              </p:spPr>
              <p:txBody>
                <a:bodyPr wrap="none" anchor="ctr"/>
                <a:lstStyle/>
                <a:p>
                  <a:pPr algn="ctr"/>
                  <a:r>
                    <a:rPr lang="en-US" sz="2000" dirty="0"/>
                    <a:t>Bird</a:t>
                  </a:r>
                </a:p>
              </p:txBody>
            </p:sp>
            <p:sp>
              <p:nvSpPr>
                <p:cNvPr id="89094" name="Oval 6"/>
                <p:cNvSpPr>
                  <a:spLocks noChangeArrowheads="1"/>
                </p:cNvSpPr>
                <p:nvPr/>
              </p:nvSpPr>
              <p:spPr bwMode="auto">
                <a:xfrm>
                  <a:off x="4648200" y="2819400"/>
                  <a:ext cx="914400" cy="914400"/>
                </a:xfrm>
                <a:prstGeom prst="ellipse">
                  <a:avLst/>
                </a:prstGeom>
                <a:solidFill>
                  <a:srgbClr val="CCFFCC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dist="107763" dir="18900000" algn="ctr" rotWithShape="0">
                    <a:schemeClr val="bg2">
                      <a:alpha val="50000"/>
                    </a:schemeClr>
                  </a:outerShdw>
                </a:effectLst>
              </p:spPr>
              <p:txBody>
                <a:bodyPr wrap="none" anchor="ctr"/>
                <a:lstStyle/>
                <a:p>
                  <a:pPr algn="ctr"/>
                  <a:r>
                    <a:rPr lang="en-US" sz="2000" dirty="0"/>
                    <a:t>Wings</a:t>
                  </a:r>
                </a:p>
              </p:txBody>
            </p:sp>
            <p:sp>
              <p:nvSpPr>
                <p:cNvPr id="89095" name="Oval 7"/>
                <p:cNvSpPr>
                  <a:spLocks noChangeArrowheads="1"/>
                </p:cNvSpPr>
                <p:nvPr/>
              </p:nvSpPr>
              <p:spPr bwMode="auto">
                <a:xfrm>
                  <a:off x="990600" y="3657600"/>
                  <a:ext cx="914400" cy="914400"/>
                </a:xfrm>
                <a:prstGeom prst="ellipse">
                  <a:avLst/>
                </a:prstGeom>
                <a:solidFill>
                  <a:srgbClr val="CCFFCC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dist="107763" dir="18900000" algn="ctr" rotWithShape="0">
                    <a:schemeClr val="bg2">
                      <a:alpha val="50000"/>
                    </a:schemeClr>
                  </a:outerShdw>
                </a:effectLst>
              </p:spPr>
              <p:txBody>
                <a:bodyPr wrap="none" anchor="ctr"/>
                <a:lstStyle/>
                <a:p>
                  <a:pPr algn="ctr"/>
                  <a:r>
                    <a:rPr lang="en-US" sz="2000" dirty="0"/>
                    <a:t>Parrot</a:t>
                  </a:r>
                </a:p>
              </p:txBody>
            </p:sp>
            <p:sp>
              <p:nvSpPr>
                <p:cNvPr id="89097" name="Oval 9"/>
                <p:cNvSpPr>
                  <a:spLocks noChangeArrowheads="1"/>
                </p:cNvSpPr>
                <p:nvPr/>
              </p:nvSpPr>
              <p:spPr bwMode="auto">
                <a:xfrm>
                  <a:off x="1981200" y="4724400"/>
                  <a:ext cx="914400" cy="914400"/>
                </a:xfrm>
                <a:prstGeom prst="ellipse">
                  <a:avLst/>
                </a:prstGeom>
                <a:solidFill>
                  <a:srgbClr val="CCFFCC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dist="107763" dir="18900000" algn="ctr" rotWithShape="0">
                    <a:schemeClr val="bg2">
                      <a:alpha val="50000"/>
                    </a:schemeClr>
                  </a:outerShdw>
                </a:effectLst>
              </p:spPr>
              <p:txBody>
                <a:bodyPr wrap="none" anchor="ctr"/>
                <a:lstStyle/>
                <a:p>
                  <a:pPr algn="ctr"/>
                  <a:r>
                    <a:rPr lang="en-US" sz="2000" dirty="0"/>
                    <a:t>Ostrich</a:t>
                  </a:r>
                </a:p>
              </p:txBody>
            </p:sp>
            <p:sp>
              <p:nvSpPr>
                <p:cNvPr id="89098" name="Oval 10"/>
                <p:cNvSpPr>
                  <a:spLocks noChangeArrowheads="1"/>
                </p:cNvSpPr>
                <p:nvPr/>
              </p:nvSpPr>
              <p:spPr bwMode="auto">
                <a:xfrm>
                  <a:off x="3581400" y="5486400"/>
                  <a:ext cx="914400" cy="914400"/>
                </a:xfrm>
                <a:prstGeom prst="ellipse">
                  <a:avLst/>
                </a:prstGeom>
                <a:solidFill>
                  <a:srgbClr val="CCFFCC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dist="107763" dir="18900000" algn="ctr" rotWithShape="0">
                    <a:schemeClr val="bg2">
                      <a:alpha val="50000"/>
                    </a:schemeClr>
                  </a:outerShdw>
                </a:effectLst>
              </p:spPr>
              <p:txBody>
                <a:bodyPr wrap="none" anchor="ctr"/>
                <a:lstStyle/>
                <a:p>
                  <a:pPr algn="ctr"/>
                  <a:r>
                    <a:rPr lang="en-US" sz="2000" dirty="0"/>
                    <a:t>Walk</a:t>
                  </a:r>
                </a:p>
              </p:txBody>
            </p:sp>
            <p:sp>
              <p:nvSpPr>
                <p:cNvPr id="89099" name="Oval 11"/>
                <p:cNvSpPr>
                  <a:spLocks noChangeArrowheads="1"/>
                </p:cNvSpPr>
                <p:nvPr/>
              </p:nvSpPr>
              <p:spPr bwMode="auto">
                <a:xfrm>
                  <a:off x="4648200" y="4495800"/>
                  <a:ext cx="914400" cy="914400"/>
                </a:xfrm>
                <a:prstGeom prst="ellipse">
                  <a:avLst/>
                </a:prstGeom>
                <a:solidFill>
                  <a:srgbClr val="CCFFCC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dist="107763" dir="18900000" algn="ctr" rotWithShape="0">
                    <a:schemeClr val="bg2">
                      <a:alpha val="50000"/>
                    </a:schemeClr>
                  </a:outerShdw>
                </a:effectLst>
              </p:spPr>
              <p:txBody>
                <a:bodyPr wrap="none" anchor="ctr"/>
                <a:lstStyle/>
                <a:p>
                  <a:pPr algn="ctr"/>
                  <a:r>
                    <a:rPr lang="en-US" sz="2000" dirty="0"/>
                    <a:t>Fly</a:t>
                  </a:r>
                </a:p>
              </p:txBody>
            </p:sp>
            <p:sp>
              <p:nvSpPr>
                <p:cNvPr id="89100" name="Line 12"/>
                <p:cNvSpPr>
                  <a:spLocks noChangeShapeType="1"/>
                </p:cNvSpPr>
                <p:nvPr/>
              </p:nvSpPr>
              <p:spPr bwMode="auto">
                <a:xfrm>
                  <a:off x="1916113" y="4094163"/>
                  <a:ext cx="1066800" cy="0"/>
                </a:xfrm>
                <a:prstGeom prst="line">
                  <a:avLst/>
                </a:prstGeom>
                <a:noFill/>
                <a:ln w="38100">
                  <a:solidFill>
                    <a:srgbClr val="0066FF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9101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3962400" y="3505200"/>
                  <a:ext cx="685800" cy="533400"/>
                </a:xfrm>
                <a:prstGeom prst="line">
                  <a:avLst/>
                </a:prstGeom>
                <a:noFill/>
                <a:ln w="38100">
                  <a:solidFill>
                    <a:srgbClr val="0066FF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9102" name="Line 14"/>
                <p:cNvSpPr>
                  <a:spLocks noChangeShapeType="1"/>
                </p:cNvSpPr>
                <p:nvPr/>
              </p:nvSpPr>
              <p:spPr bwMode="auto">
                <a:xfrm>
                  <a:off x="3962400" y="4191000"/>
                  <a:ext cx="685800" cy="533400"/>
                </a:xfrm>
                <a:prstGeom prst="line">
                  <a:avLst/>
                </a:prstGeom>
                <a:noFill/>
                <a:ln w="38100">
                  <a:solidFill>
                    <a:srgbClr val="0066FF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9103" name="Line 15"/>
                <p:cNvSpPr>
                  <a:spLocks noChangeShapeType="1"/>
                </p:cNvSpPr>
                <p:nvPr/>
              </p:nvSpPr>
              <p:spPr bwMode="auto">
                <a:xfrm>
                  <a:off x="3962400" y="4114800"/>
                  <a:ext cx="1905000" cy="0"/>
                </a:xfrm>
                <a:prstGeom prst="line">
                  <a:avLst/>
                </a:prstGeom>
                <a:noFill/>
                <a:ln w="38100">
                  <a:solidFill>
                    <a:srgbClr val="0066FF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9104" name="Line 16"/>
                <p:cNvSpPr>
                  <a:spLocks noChangeShapeType="1"/>
                </p:cNvSpPr>
                <p:nvPr/>
              </p:nvSpPr>
              <p:spPr bwMode="auto">
                <a:xfrm>
                  <a:off x="6858000" y="4114800"/>
                  <a:ext cx="838200" cy="0"/>
                </a:xfrm>
                <a:prstGeom prst="line">
                  <a:avLst/>
                </a:prstGeom>
                <a:noFill/>
                <a:ln w="38100">
                  <a:solidFill>
                    <a:srgbClr val="0066FF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9105" name="Line 17"/>
                <p:cNvSpPr>
                  <a:spLocks noChangeShapeType="1"/>
                </p:cNvSpPr>
                <p:nvPr/>
              </p:nvSpPr>
              <p:spPr bwMode="auto">
                <a:xfrm flipH="1">
                  <a:off x="2819400" y="4495800"/>
                  <a:ext cx="381000" cy="304800"/>
                </a:xfrm>
                <a:prstGeom prst="line">
                  <a:avLst/>
                </a:prstGeom>
                <a:noFill/>
                <a:ln w="38100">
                  <a:solidFill>
                    <a:srgbClr val="0066FF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9106" name="Line 18"/>
                <p:cNvSpPr>
                  <a:spLocks noChangeShapeType="1"/>
                </p:cNvSpPr>
                <p:nvPr/>
              </p:nvSpPr>
              <p:spPr bwMode="auto">
                <a:xfrm>
                  <a:off x="2971800" y="5181600"/>
                  <a:ext cx="685800" cy="533400"/>
                </a:xfrm>
                <a:prstGeom prst="line">
                  <a:avLst/>
                </a:prstGeom>
                <a:noFill/>
                <a:ln w="38100">
                  <a:solidFill>
                    <a:srgbClr val="0066FF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9107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2057400" y="3743270"/>
                  <a:ext cx="838200" cy="40011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sz="2000" dirty="0">
                      <a:solidFill>
                        <a:srgbClr val="660066"/>
                      </a:solidFill>
                    </a:rPr>
                    <a:t>is-a</a:t>
                  </a:r>
                </a:p>
              </p:txBody>
            </p:sp>
            <p:sp>
              <p:nvSpPr>
                <p:cNvPr id="89108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2876544" y="5286388"/>
                  <a:ext cx="838200" cy="40011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sz="2000" dirty="0">
                      <a:solidFill>
                        <a:srgbClr val="660066"/>
                      </a:solidFill>
                    </a:rPr>
                    <a:t>travel</a:t>
                  </a:r>
                </a:p>
              </p:txBody>
            </p:sp>
            <p:sp>
              <p:nvSpPr>
                <p:cNvPr id="89109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3805238" y="4286256"/>
                  <a:ext cx="838200" cy="40011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sz="2000" dirty="0">
                      <a:solidFill>
                        <a:srgbClr val="660066"/>
                      </a:solidFill>
                    </a:rPr>
                    <a:t>travel</a:t>
                  </a:r>
                </a:p>
              </p:txBody>
            </p:sp>
            <p:sp>
              <p:nvSpPr>
                <p:cNvPr id="89110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3581400" y="3200400"/>
                  <a:ext cx="838200" cy="40011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sz="2000" dirty="0">
                      <a:solidFill>
                        <a:srgbClr val="660066"/>
                      </a:solidFill>
                    </a:rPr>
                    <a:t>has</a:t>
                  </a:r>
                </a:p>
              </p:txBody>
            </p:sp>
            <p:sp>
              <p:nvSpPr>
                <p:cNvPr id="89111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5105400" y="3733800"/>
                  <a:ext cx="838200" cy="40011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sz="2000" dirty="0">
                      <a:solidFill>
                        <a:srgbClr val="660066"/>
                      </a:solidFill>
                    </a:rPr>
                    <a:t>is-a</a:t>
                  </a:r>
                </a:p>
              </p:txBody>
            </p:sp>
            <p:sp>
              <p:nvSpPr>
                <p:cNvPr id="89112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6715140" y="4143380"/>
                  <a:ext cx="1147786" cy="40011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sz="2000" dirty="0">
                      <a:solidFill>
                        <a:srgbClr val="660066"/>
                      </a:solidFill>
                    </a:rPr>
                    <a:t>breathe</a:t>
                  </a:r>
                </a:p>
              </p:txBody>
            </p:sp>
          </p:grpSp>
        </p:grpSp>
        <p:pic>
          <p:nvPicPr>
            <p:cNvPr id="89113" name="Picture 25" descr="flamingo"/>
            <p:cNvPicPr>
              <a:picLocks noChangeAspect="1" noChangeArrowheads="1" noCrop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781800" y="4800600"/>
              <a:ext cx="1562100" cy="1905000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914936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39" name="Oval 27"/>
          <p:cNvSpPr>
            <a:spLocks noChangeArrowheads="1"/>
          </p:cNvSpPr>
          <p:nvPr/>
        </p:nvSpPr>
        <p:spPr bwMode="auto">
          <a:xfrm>
            <a:off x="1295400" y="1401738"/>
            <a:ext cx="1447800" cy="990600"/>
          </a:xfrm>
          <a:prstGeom prst="ellipse">
            <a:avLst/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sz="2000" b="1">
                <a:solidFill>
                  <a:srgbClr val="FFFF00"/>
                </a:solidFill>
              </a:rPr>
              <a:t>Mammals</a:t>
            </a:r>
            <a:r>
              <a:rPr lang="en-US" sz="2400" b="1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90140" name="Oval 28"/>
          <p:cNvSpPr>
            <a:spLocks noChangeArrowheads="1"/>
          </p:cNvSpPr>
          <p:nvPr/>
        </p:nvSpPr>
        <p:spPr bwMode="auto">
          <a:xfrm>
            <a:off x="3733800" y="2087538"/>
            <a:ext cx="1447800" cy="990600"/>
          </a:xfrm>
          <a:prstGeom prst="ellipse">
            <a:avLst/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sz="2000" b="1">
                <a:solidFill>
                  <a:srgbClr val="FFFF00"/>
                </a:solidFill>
              </a:rPr>
              <a:t>Human</a:t>
            </a:r>
            <a:r>
              <a:rPr lang="en-US" sz="2400" b="1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90141" name="Oval 29"/>
          <p:cNvSpPr>
            <a:spLocks noChangeArrowheads="1"/>
          </p:cNvSpPr>
          <p:nvPr/>
        </p:nvSpPr>
        <p:spPr bwMode="auto">
          <a:xfrm>
            <a:off x="1981200" y="2697138"/>
            <a:ext cx="1447800" cy="990600"/>
          </a:xfrm>
          <a:prstGeom prst="ellipse">
            <a:avLst/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sz="2000" b="1">
                <a:solidFill>
                  <a:srgbClr val="FFFF00"/>
                </a:solidFill>
              </a:rPr>
              <a:t>Female </a:t>
            </a:r>
            <a:endParaRPr lang="en-US" sz="2400" b="1">
              <a:solidFill>
                <a:srgbClr val="FFFF00"/>
              </a:solidFill>
            </a:endParaRPr>
          </a:p>
        </p:txBody>
      </p:sp>
      <p:sp>
        <p:nvSpPr>
          <p:cNvPr id="90142" name="Oval 30"/>
          <p:cNvSpPr>
            <a:spLocks noChangeArrowheads="1"/>
          </p:cNvSpPr>
          <p:nvPr/>
        </p:nvSpPr>
        <p:spPr bwMode="auto">
          <a:xfrm>
            <a:off x="5257800" y="3230538"/>
            <a:ext cx="1447800" cy="990600"/>
          </a:xfrm>
          <a:prstGeom prst="ellipse">
            <a:avLst/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sz="2000" b="1">
                <a:solidFill>
                  <a:srgbClr val="FFFF00"/>
                </a:solidFill>
              </a:rPr>
              <a:t>Male </a:t>
            </a:r>
            <a:r>
              <a:rPr lang="en-US" sz="2400" b="1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90143" name="Oval 31"/>
          <p:cNvSpPr>
            <a:spLocks noChangeArrowheads="1"/>
          </p:cNvSpPr>
          <p:nvPr/>
        </p:nvSpPr>
        <p:spPr bwMode="auto">
          <a:xfrm>
            <a:off x="7086600" y="2316138"/>
            <a:ext cx="1447800" cy="990600"/>
          </a:xfrm>
          <a:prstGeom prst="ellipse">
            <a:avLst/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sz="2000" b="1">
                <a:solidFill>
                  <a:srgbClr val="FFFF00"/>
                </a:solidFill>
              </a:rPr>
              <a:t>Two legs</a:t>
            </a:r>
            <a:r>
              <a:rPr lang="en-US" sz="2400" b="1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90144" name="Oval 32"/>
          <p:cNvSpPr>
            <a:spLocks noChangeArrowheads="1"/>
          </p:cNvSpPr>
          <p:nvPr/>
        </p:nvSpPr>
        <p:spPr bwMode="auto">
          <a:xfrm>
            <a:off x="685800" y="3687738"/>
            <a:ext cx="1447800" cy="990600"/>
          </a:xfrm>
          <a:prstGeom prst="ellipse">
            <a:avLst/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sz="2000" b="1">
                <a:solidFill>
                  <a:srgbClr val="FFFF00"/>
                </a:solidFill>
              </a:rPr>
              <a:t>Mariam </a:t>
            </a:r>
            <a:r>
              <a:rPr lang="en-US" sz="2400" b="1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90145" name="Oval 33"/>
          <p:cNvSpPr>
            <a:spLocks noChangeArrowheads="1"/>
          </p:cNvSpPr>
          <p:nvPr/>
        </p:nvSpPr>
        <p:spPr bwMode="auto">
          <a:xfrm>
            <a:off x="3810000" y="4373538"/>
            <a:ext cx="1447800" cy="990600"/>
          </a:xfrm>
          <a:prstGeom prst="ellipse">
            <a:avLst/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sz="2000" b="1">
                <a:solidFill>
                  <a:srgbClr val="FFFF00"/>
                </a:solidFill>
              </a:rPr>
              <a:t>Ahmad </a:t>
            </a:r>
            <a:r>
              <a:rPr lang="en-US" sz="2400" b="1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90146" name="Oval 34"/>
          <p:cNvSpPr>
            <a:spLocks noChangeArrowheads="1"/>
          </p:cNvSpPr>
          <p:nvPr/>
        </p:nvSpPr>
        <p:spPr bwMode="auto">
          <a:xfrm>
            <a:off x="7162800" y="4221138"/>
            <a:ext cx="1447800" cy="990600"/>
          </a:xfrm>
          <a:prstGeom prst="ellipse">
            <a:avLst/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sz="2000" b="1">
                <a:solidFill>
                  <a:srgbClr val="FFFF00"/>
                </a:solidFill>
              </a:rPr>
              <a:t>System</a:t>
            </a:r>
          </a:p>
          <a:p>
            <a:pPr algn="ctr"/>
            <a:r>
              <a:rPr lang="en-US" sz="2000" b="1">
                <a:solidFill>
                  <a:srgbClr val="FFFF00"/>
                </a:solidFill>
              </a:rPr>
              <a:t>Analyst </a:t>
            </a:r>
            <a:r>
              <a:rPr lang="en-US" sz="2400" b="1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90147" name="Oval 35"/>
          <p:cNvSpPr>
            <a:spLocks noChangeArrowheads="1"/>
          </p:cNvSpPr>
          <p:nvPr/>
        </p:nvSpPr>
        <p:spPr bwMode="auto">
          <a:xfrm>
            <a:off x="609600" y="5440338"/>
            <a:ext cx="1447800" cy="990600"/>
          </a:xfrm>
          <a:prstGeom prst="ellipse">
            <a:avLst/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sz="2000" b="1">
                <a:solidFill>
                  <a:srgbClr val="FFFF00"/>
                </a:solidFill>
              </a:rPr>
              <a:t>Wheel</a:t>
            </a:r>
          </a:p>
          <a:p>
            <a:pPr algn="ctr"/>
            <a:r>
              <a:rPr lang="en-US" sz="2000" b="1">
                <a:solidFill>
                  <a:srgbClr val="FFFF00"/>
                </a:solidFill>
              </a:rPr>
              <a:t>chair </a:t>
            </a:r>
            <a:endParaRPr lang="en-US" sz="2400" b="1">
              <a:solidFill>
                <a:srgbClr val="FFFF00"/>
              </a:solidFill>
            </a:endParaRPr>
          </a:p>
        </p:txBody>
      </p:sp>
      <p:sp>
        <p:nvSpPr>
          <p:cNvPr id="90148" name="Oval 36"/>
          <p:cNvSpPr>
            <a:spLocks noChangeArrowheads="1"/>
          </p:cNvSpPr>
          <p:nvPr/>
        </p:nvSpPr>
        <p:spPr bwMode="auto">
          <a:xfrm>
            <a:off x="6248400" y="5364138"/>
            <a:ext cx="1447800" cy="990600"/>
          </a:xfrm>
          <a:prstGeom prst="ellipse">
            <a:avLst/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sz="2000" b="1">
                <a:solidFill>
                  <a:srgbClr val="FFFF00"/>
                </a:solidFill>
              </a:rPr>
              <a:t>Degree </a:t>
            </a:r>
          </a:p>
          <a:p>
            <a:pPr algn="ctr"/>
            <a:r>
              <a:rPr lang="en-US" sz="2000" b="1">
                <a:solidFill>
                  <a:srgbClr val="FFFF00"/>
                </a:solidFill>
              </a:rPr>
              <a:t>BIT(Hons) </a:t>
            </a:r>
            <a:endParaRPr lang="en-US" sz="2400" b="1">
              <a:solidFill>
                <a:srgbClr val="FFFF00"/>
              </a:solidFill>
            </a:endParaRPr>
          </a:p>
        </p:txBody>
      </p:sp>
      <p:sp>
        <p:nvSpPr>
          <p:cNvPr id="90149" name="Oval 37"/>
          <p:cNvSpPr>
            <a:spLocks noChangeArrowheads="1"/>
          </p:cNvSpPr>
          <p:nvPr/>
        </p:nvSpPr>
        <p:spPr bwMode="auto">
          <a:xfrm>
            <a:off x="5867400" y="1325538"/>
            <a:ext cx="1447800" cy="990600"/>
          </a:xfrm>
          <a:prstGeom prst="ellipse">
            <a:avLst/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sz="2000" b="1">
                <a:solidFill>
                  <a:srgbClr val="FFFF00"/>
                </a:solidFill>
              </a:rPr>
              <a:t>Walk</a:t>
            </a:r>
            <a:endParaRPr lang="en-US" sz="2400" b="1">
              <a:solidFill>
                <a:srgbClr val="FFFF00"/>
              </a:solidFill>
            </a:endParaRPr>
          </a:p>
        </p:txBody>
      </p:sp>
      <p:sp>
        <p:nvSpPr>
          <p:cNvPr id="90150" name="Line 38"/>
          <p:cNvSpPr>
            <a:spLocks noChangeShapeType="1"/>
          </p:cNvSpPr>
          <p:nvPr/>
        </p:nvSpPr>
        <p:spPr bwMode="auto">
          <a:xfrm>
            <a:off x="2743200" y="2011338"/>
            <a:ext cx="10668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0151" name="Line 39"/>
          <p:cNvSpPr>
            <a:spLocks noChangeShapeType="1"/>
          </p:cNvSpPr>
          <p:nvPr/>
        </p:nvSpPr>
        <p:spPr bwMode="auto">
          <a:xfrm flipH="1">
            <a:off x="3276600" y="2773338"/>
            <a:ext cx="533400" cy="152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0152" name="Line 40"/>
          <p:cNvSpPr>
            <a:spLocks noChangeShapeType="1"/>
          </p:cNvSpPr>
          <p:nvPr/>
        </p:nvSpPr>
        <p:spPr bwMode="auto">
          <a:xfrm>
            <a:off x="4876800" y="3001938"/>
            <a:ext cx="6096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0153" name="Line 41"/>
          <p:cNvSpPr>
            <a:spLocks noChangeShapeType="1"/>
          </p:cNvSpPr>
          <p:nvPr/>
        </p:nvSpPr>
        <p:spPr bwMode="auto">
          <a:xfrm flipH="1">
            <a:off x="1828800" y="3459138"/>
            <a:ext cx="30480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0154" name="Line 42"/>
          <p:cNvSpPr>
            <a:spLocks noChangeShapeType="1"/>
          </p:cNvSpPr>
          <p:nvPr/>
        </p:nvSpPr>
        <p:spPr bwMode="auto">
          <a:xfrm flipH="1">
            <a:off x="4876800" y="4144938"/>
            <a:ext cx="68580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0155" name="Line 43"/>
          <p:cNvSpPr>
            <a:spLocks noChangeShapeType="1"/>
          </p:cNvSpPr>
          <p:nvPr/>
        </p:nvSpPr>
        <p:spPr bwMode="auto">
          <a:xfrm>
            <a:off x="1371600" y="4678338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0156" name="Line 44"/>
          <p:cNvSpPr>
            <a:spLocks noChangeShapeType="1"/>
          </p:cNvSpPr>
          <p:nvPr/>
        </p:nvSpPr>
        <p:spPr bwMode="auto">
          <a:xfrm>
            <a:off x="5181600" y="5135538"/>
            <a:ext cx="11430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0157" name="Line 45"/>
          <p:cNvSpPr>
            <a:spLocks noChangeShapeType="1"/>
          </p:cNvSpPr>
          <p:nvPr/>
        </p:nvSpPr>
        <p:spPr bwMode="auto">
          <a:xfrm>
            <a:off x="5257800" y="4830738"/>
            <a:ext cx="1905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0158" name="Line 46"/>
          <p:cNvSpPr>
            <a:spLocks noChangeShapeType="1"/>
          </p:cNvSpPr>
          <p:nvPr/>
        </p:nvSpPr>
        <p:spPr bwMode="auto">
          <a:xfrm flipV="1">
            <a:off x="5105400" y="2011338"/>
            <a:ext cx="83820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0159" name="Line 47"/>
          <p:cNvSpPr>
            <a:spLocks noChangeShapeType="1"/>
          </p:cNvSpPr>
          <p:nvPr/>
        </p:nvSpPr>
        <p:spPr bwMode="auto">
          <a:xfrm>
            <a:off x="5181600" y="2697138"/>
            <a:ext cx="1905000" cy="152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0160" name="Line 48"/>
          <p:cNvSpPr>
            <a:spLocks noChangeShapeType="1"/>
          </p:cNvSpPr>
          <p:nvPr/>
        </p:nvSpPr>
        <p:spPr bwMode="auto">
          <a:xfrm>
            <a:off x="2057400" y="4373538"/>
            <a:ext cx="1828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0161" name="Text Box 49"/>
          <p:cNvSpPr txBox="1">
            <a:spLocks noChangeArrowheads="1"/>
          </p:cNvSpPr>
          <p:nvPr/>
        </p:nvSpPr>
        <p:spPr bwMode="auto">
          <a:xfrm>
            <a:off x="2971800" y="1630338"/>
            <a:ext cx="1066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b="1"/>
          </a:p>
        </p:txBody>
      </p:sp>
      <p:sp>
        <p:nvSpPr>
          <p:cNvPr id="90162" name="Text Box 50"/>
          <p:cNvSpPr txBox="1">
            <a:spLocks noChangeArrowheads="1"/>
          </p:cNvSpPr>
          <p:nvPr/>
        </p:nvSpPr>
        <p:spPr bwMode="auto">
          <a:xfrm>
            <a:off x="3124200" y="1782738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/>
              <a:t>is-a</a:t>
            </a:r>
          </a:p>
        </p:txBody>
      </p:sp>
      <p:sp>
        <p:nvSpPr>
          <p:cNvPr id="90163" name="Text Box 51"/>
          <p:cNvSpPr txBox="1">
            <a:spLocks noChangeArrowheads="1"/>
          </p:cNvSpPr>
          <p:nvPr/>
        </p:nvSpPr>
        <p:spPr bwMode="auto">
          <a:xfrm>
            <a:off x="5562600" y="2544738"/>
            <a:ext cx="685800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/>
              <a:t>has</a:t>
            </a:r>
          </a:p>
        </p:txBody>
      </p:sp>
      <p:sp>
        <p:nvSpPr>
          <p:cNvPr id="90164" name="Text Box 52"/>
          <p:cNvSpPr txBox="1">
            <a:spLocks noChangeArrowheads="1"/>
          </p:cNvSpPr>
          <p:nvPr/>
        </p:nvSpPr>
        <p:spPr bwMode="auto">
          <a:xfrm>
            <a:off x="2209800" y="4449738"/>
            <a:ext cx="1371600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/>
              <a:t>mother-of</a:t>
            </a:r>
          </a:p>
        </p:txBody>
      </p:sp>
      <p:sp>
        <p:nvSpPr>
          <p:cNvPr id="90165" name="Text Box 53"/>
          <p:cNvSpPr txBox="1">
            <a:spLocks noChangeArrowheads="1"/>
          </p:cNvSpPr>
          <p:nvPr/>
        </p:nvSpPr>
        <p:spPr bwMode="auto">
          <a:xfrm>
            <a:off x="5181600" y="5287938"/>
            <a:ext cx="685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/>
              <a:t>has</a:t>
            </a:r>
          </a:p>
        </p:txBody>
      </p:sp>
      <p:sp>
        <p:nvSpPr>
          <p:cNvPr id="90166" name="Text Box 54"/>
          <p:cNvSpPr txBox="1">
            <a:spLocks noChangeArrowheads="1"/>
          </p:cNvSpPr>
          <p:nvPr/>
        </p:nvSpPr>
        <p:spPr bwMode="auto">
          <a:xfrm>
            <a:off x="5638800" y="4449738"/>
            <a:ext cx="685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/>
              <a:t>is-a</a:t>
            </a:r>
          </a:p>
        </p:txBody>
      </p:sp>
      <p:sp>
        <p:nvSpPr>
          <p:cNvPr id="90167" name="Text Box 55"/>
          <p:cNvSpPr txBox="1">
            <a:spLocks noChangeArrowheads="1"/>
          </p:cNvSpPr>
          <p:nvPr/>
        </p:nvSpPr>
        <p:spPr bwMode="auto">
          <a:xfrm>
            <a:off x="4648200" y="3078138"/>
            <a:ext cx="685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/>
              <a:t>is-a</a:t>
            </a:r>
          </a:p>
        </p:txBody>
      </p:sp>
      <p:sp>
        <p:nvSpPr>
          <p:cNvPr id="90168" name="Text Box 56"/>
          <p:cNvSpPr txBox="1">
            <a:spLocks noChangeArrowheads="1"/>
          </p:cNvSpPr>
          <p:nvPr/>
        </p:nvSpPr>
        <p:spPr bwMode="auto">
          <a:xfrm>
            <a:off x="1219200" y="3154338"/>
            <a:ext cx="685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/>
              <a:t>is-a</a:t>
            </a:r>
          </a:p>
        </p:txBody>
      </p:sp>
      <p:sp>
        <p:nvSpPr>
          <p:cNvPr id="90169" name="Text Box 57"/>
          <p:cNvSpPr txBox="1">
            <a:spLocks noChangeArrowheads="1"/>
          </p:cNvSpPr>
          <p:nvPr/>
        </p:nvSpPr>
        <p:spPr bwMode="auto">
          <a:xfrm>
            <a:off x="4648200" y="3992538"/>
            <a:ext cx="685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/>
              <a:t>is-a</a:t>
            </a:r>
          </a:p>
        </p:txBody>
      </p:sp>
      <p:sp>
        <p:nvSpPr>
          <p:cNvPr id="90170" name="Text Box 58"/>
          <p:cNvSpPr txBox="1">
            <a:spLocks noChangeArrowheads="1"/>
          </p:cNvSpPr>
          <p:nvPr/>
        </p:nvSpPr>
        <p:spPr bwMode="auto">
          <a:xfrm>
            <a:off x="4648200" y="1706538"/>
            <a:ext cx="1371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/>
              <a:t>travel-by</a:t>
            </a:r>
          </a:p>
        </p:txBody>
      </p:sp>
      <p:sp>
        <p:nvSpPr>
          <p:cNvPr id="90171" name="Text Box 59"/>
          <p:cNvSpPr txBox="1">
            <a:spLocks noChangeArrowheads="1"/>
          </p:cNvSpPr>
          <p:nvPr/>
        </p:nvSpPr>
        <p:spPr bwMode="auto">
          <a:xfrm>
            <a:off x="685800" y="4843438"/>
            <a:ext cx="1371600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/>
              <a:t>travel-by</a:t>
            </a:r>
          </a:p>
        </p:txBody>
      </p:sp>
      <p:sp>
        <p:nvSpPr>
          <p:cNvPr id="36" name="Title 35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en-US" dirty="0" smtClean="0"/>
              <a:t>Semantic Network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33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1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600200"/>
            <a:ext cx="4876800" cy="4525963"/>
          </a:xfrm>
        </p:spPr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Frame </a:t>
            </a:r>
          </a:p>
          <a:p>
            <a:pPr lvl="1"/>
            <a:r>
              <a:rPr lang="en-US" b="1"/>
              <a:t>Definition :: </a:t>
            </a:r>
            <a:r>
              <a:rPr lang="en-US">
                <a:sym typeface="Wingdings" pitchFamily="2" charset="2"/>
              </a:rPr>
              <a:t>”</a:t>
            </a:r>
            <a:r>
              <a:rPr lang="en-US" i="1">
                <a:sym typeface="Wingdings" pitchFamily="2" charset="2"/>
              </a:rPr>
              <a:t>a data structure for representing stereotypical knowledge of some concept or object”</a:t>
            </a:r>
            <a:endParaRPr lang="en-US">
              <a:sym typeface="Wingdings" pitchFamily="2" charset="2"/>
            </a:endParaRPr>
          </a:p>
          <a:p>
            <a:pPr lvl="1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Frame</a:t>
            </a:r>
            <a:endParaRPr lang="en-US" dirty="0"/>
          </a:p>
        </p:txBody>
      </p:sp>
      <p:pic>
        <p:nvPicPr>
          <p:cNvPr id="94225" name="Picture 17" descr="jsnrevcwarp_e0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3124200"/>
            <a:ext cx="2636838" cy="2857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4582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r>
              <a:rPr lang="en-US" sz="2800">
                <a:sym typeface="Wingdings" pitchFamily="2" charset="2"/>
              </a:rPr>
              <a:t>An extension version of semantic network – called “schema” (proposed by Barlett, 1932).</a:t>
            </a:r>
          </a:p>
          <a:p>
            <a:pPr algn="just">
              <a:lnSpc>
                <a:spcPct val="90000"/>
              </a:lnSpc>
            </a:pPr>
            <a:r>
              <a:rPr lang="en-US" sz="2800">
                <a:sym typeface="Wingdings" pitchFamily="2" charset="2"/>
              </a:rPr>
              <a:t>Basic concept of object oriented programming (proposed by Minsky, 1975).</a:t>
            </a:r>
          </a:p>
          <a:p>
            <a:pPr algn="just">
              <a:lnSpc>
                <a:spcPct val="90000"/>
              </a:lnSpc>
            </a:pPr>
            <a:r>
              <a:rPr lang="en-US" sz="2800" b="1">
                <a:sym typeface="Wingdings" pitchFamily="2" charset="2"/>
              </a:rPr>
              <a:t>Class frame</a:t>
            </a:r>
            <a:r>
              <a:rPr lang="en-US" sz="2800">
                <a:sym typeface="Wingdings" pitchFamily="2" charset="2"/>
              </a:rPr>
              <a:t>  general characteristics of some common objects (Eg: class frame bird refer to common properties of bird).</a:t>
            </a:r>
          </a:p>
          <a:p>
            <a:pPr algn="just">
              <a:lnSpc>
                <a:spcPct val="90000"/>
              </a:lnSpc>
            </a:pPr>
            <a:r>
              <a:rPr lang="en-US" sz="2800" b="1">
                <a:sym typeface="Wingdings" pitchFamily="2" charset="2"/>
              </a:rPr>
              <a:t>Instance frame</a:t>
            </a:r>
            <a:r>
              <a:rPr lang="en-US" sz="2800">
                <a:sym typeface="Wingdings" pitchFamily="2" charset="2"/>
              </a:rPr>
              <a:t>  to describe unique characteristic from class frame (Eg: class “ostrich” from class frame “bird”)</a:t>
            </a:r>
            <a:endParaRPr lang="en-US" sz="2800">
              <a:solidFill>
                <a:schemeClr val="accent2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562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/>
              <a:t>Example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Frame</a:t>
            </a:r>
            <a:endParaRPr lang="en-US" dirty="0"/>
          </a:p>
        </p:txBody>
      </p:sp>
      <p:sp>
        <p:nvSpPr>
          <p:cNvPr id="97284" name="Rectangle 4"/>
          <p:cNvSpPr>
            <a:spLocks noChangeArrowheads="1"/>
          </p:cNvSpPr>
          <p:nvPr/>
        </p:nvSpPr>
        <p:spPr bwMode="auto">
          <a:xfrm>
            <a:off x="1066800" y="2462226"/>
            <a:ext cx="2743200" cy="2895600"/>
          </a:xfrm>
          <a:prstGeom prst="rect">
            <a:avLst/>
          </a:prstGeom>
          <a:gradFill rotWithShape="1">
            <a:gsLst>
              <a:gs pos="0">
                <a:srgbClr val="FF9900"/>
              </a:gs>
              <a:gs pos="50000">
                <a:srgbClr val="FFFFFF"/>
              </a:gs>
              <a:gs pos="100000">
                <a:srgbClr val="FF9900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85" name="Text Box 5"/>
          <p:cNvSpPr txBox="1">
            <a:spLocks noChangeArrowheads="1"/>
          </p:cNvSpPr>
          <p:nvPr/>
        </p:nvSpPr>
        <p:spPr bwMode="auto">
          <a:xfrm>
            <a:off x="1219200" y="2514600"/>
            <a:ext cx="2438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Frame Name: </a:t>
            </a:r>
            <a:r>
              <a:rPr lang="en-US" sz="2000" b="1"/>
              <a:t>BIRD</a:t>
            </a:r>
            <a:r>
              <a:rPr lang="en-US" sz="2000"/>
              <a:t> </a:t>
            </a:r>
          </a:p>
        </p:txBody>
      </p:sp>
      <p:sp>
        <p:nvSpPr>
          <p:cNvPr id="97286" name="Text Box 6"/>
          <p:cNvSpPr txBox="1">
            <a:spLocks noChangeArrowheads="1"/>
          </p:cNvSpPr>
          <p:nvPr/>
        </p:nvSpPr>
        <p:spPr bwMode="auto">
          <a:xfrm>
            <a:off x="1195388" y="2971800"/>
            <a:ext cx="2438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/>
              <a:t>Properties: </a:t>
            </a:r>
          </a:p>
        </p:txBody>
      </p:sp>
      <p:sp>
        <p:nvSpPr>
          <p:cNvPr id="97287" name="Text Box 7"/>
          <p:cNvSpPr txBox="1">
            <a:spLocks noChangeArrowheads="1"/>
          </p:cNvSpPr>
          <p:nvPr/>
        </p:nvSpPr>
        <p:spPr bwMode="auto">
          <a:xfrm>
            <a:off x="1219200" y="3429000"/>
            <a:ext cx="24384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Color = &lt;unknown&gt;</a:t>
            </a:r>
          </a:p>
          <a:p>
            <a:pPr>
              <a:spcBef>
                <a:spcPct val="50000"/>
              </a:spcBef>
            </a:pPr>
            <a:r>
              <a:rPr lang="en-US" sz="2000"/>
              <a:t>Wings = 2</a:t>
            </a:r>
          </a:p>
          <a:p>
            <a:pPr>
              <a:spcBef>
                <a:spcPct val="50000"/>
              </a:spcBef>
            </a:pPr>
            <a:r>
              <a:rPr lang="en-US" sz="2000"/>
              <a:t>Flies = True</a:t>
            </a:r>
          </a:p>
        </p:txBody>
      </p:sp>
      <p:sp>
        <p:nvSpPr>
          <p:cNvPr id="97288" name="Rectangle 8"/>
          <p:cNvSpPr>
            <a:spLocks noChangeArrowheads="1"/>
          </p:cNvSpPr>
          <p:nvPr/>
        </p:nvSpPr>
        <p:spPr bwMode="auto">
          <a:xfrm>
            <a:off x="4953000" y="3000372"/>
            <a:ext cx="3124200" cy="3352800"/>
          </a:xfrm>
          <a:prstGeom prst="rect">
            <a:avLst/>
          </a:prstGeom>
          <a:gradFill rotWithShape="1">
            <a:gsLst>
              <a:gs pos="0">
                <a:srgbClr val="99FFCC"/>
              </a:gs>
              <a:gs pos="50000">
                <a:srgbClr val="FFFFFF"/>
              </a:gs>
              <a:gs pos="100000">
                <a:srgbClr val="99FFCC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89" name="Text Box 9"/>
          <p:cNvSpPr txBox="1">
            <a:spLocks noChangeArrowheads="1"/>
          </p:cNvSpPr>
          <p:nvPr/>
        </p:nvSpPr>
        <p:spPr bwMode="auto">
          <a:xfrm>
            <a:off x="4953000" y="3581400"/>
            <a:ext cx="3048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Frame Name: </a:t>
            </a:r>
            <a:r>
              <a:rPr lang="en-US" sz="2000" b="1"/>
              <a:t>OSTRICH</a:t>
            </a:r>
            <a:endParaRPr lang="en-US" sz="2000"/>
          </a:p>
        </p:txBody>
      </p:sp>
      <p:sp>
        <p:nvSpPr>
          <p:cNvPr id="97290" name="Text Box 10"/>
          <p:cNvSpPr txBox="1">
            <a:spLocks noChangeArrowheads="1"/>
          </p:cNvSpPr>
          <p:nvPr/>
        </p:nvSpPr>
        <p:spPr bwMode="auto">
          <a:xfrm>
            <a:off x="5105400" y="4572000"/>
            <a:ext cx="2438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/>
              <a:t>Properties: </a:t>
            </a:r>
          </a:p>
        </p:txBody>
      </p:sp>
      <p:sp>
        <p:nvSpPr>
          <p:cNvPr id="97291" name="Text Box 11"/>
          <p:cNvSpPr txBox="1">
            <a:spLocks noChangeArrowheads="1"/>
          </p:cNvSpPr>
          <p:nvPr/>
        </p:nvSpPr>
        <p:spPr bwMode="auto">
          <a:xfrm>
            <a:off x="5327650" y="5118100"/>
            <a:ext cx="24384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Color = brown/dark</a:t>
            </a:r>
          </a:p>
          <a:p>
            <a:pPr>
              <a:spcBef>
                <a:spcPct val="50000"/>
              </a:spcBef>
            </a:pPr>
            <a:r>
              <a:rPr lang="en-US" sz="2000"/>
              <a:t>Wings = 2</a:t>
            </a:r>
          </a:p>
          <a:p>
            <a:pPr>
              <a:spcBef>
                <a:spcPct val="50000"/>
              </a:spcBef>
            </a:pPr>
            <a:r>
              <a:rPr lang="en-US" sz="2000" b="1">
                <a:solidFill>
                  <a:srgbClr val="800000"/>
                </a:solidFill>
              </a:rPr>
              <a:t>Flies = False</a:t>
            </a:r>
          </a:p>
        </p:txBody>
      </p:sp>
      <p:sp>
        <p:nvSpPr>
          <p:cNvPr id="97292" name="Text Box 12"/>
          <p:cNvSpPr txBox="1">
            <a:spLocks noChangeArrowheads="1"/>
          </p:cNvSpPr>
          <p:nvPr/>
        </p:nvSpPr>
        <p:spPr bwMode="auto">
          <a:xfrm>
            <a:off x="5065713" y="4135438"/>
            <a:ext cx="2438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Class Name: </a:t>
            </a:r>
            <a:r>
              <a:rPr lang="en-US" sz="2000" b="1"/>
              <a:t>BIRD</a:t>
            </a:r>
            <a:r>
              <a:rPr lang="en-US" sz="2000"/>
              <a:t> </a:t>
            </a:r>
          </a:p>
        </p:txBody>
      </p:sp>
      <p:sp>
        <p:nvSpPr>
          <p:cNvPr id="97293" name="Line 13"/>
          <p:cNvSpPr>
            <a:spLocks noChangeShapeType="1"/>
          </p:cNvSpPr>
          <p:nvPr/>
        </p:nvSpPr>
        <p:spPr bwMode="auto">
          <a:xfrm flipH="1" flipV="1">
            <a:off x="3886200" y="3581400"/>
            <a:ext cx="10668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7294" name="Line 14"/>
          <p:cNvSpPr>
            <a:spLocks noChangeShapeType="1"/>
          </p:cNvSpPr>
          <p:nvPr/>
        </p:nvSpPr>
        <p:spPr bwMode="auto">
          <a:xfrm>
            <a:off x="1066800" y="2971800"/>
            <a:ext cx="2743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7295" name="Line 15"/>
          <p:cNvSpPr>
            <a:spLocks noChangeShapeType="1"/>
          </p:cNvSpPr>
          <p:nvPr/>
        </p:nvSpPr>
        <p:spPr bwMode="auto">
          <a:xfrm>
            <a:off x="4953000" y="4038600"/>
            <a:ext cx="3124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433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20" name="Text Box 16"/>
          <p:cNvSpPr txBox="1">
            <a:spLocks noChangeArrowheads="1"/>
          </p:cNvSpPr>
          <p:nvPr/>
        </p:nvSpPr>
        <p:spPr bwMode="auto">
          <a:xfrm>
            <a:off x="2971800" y="1500174"/>
            <a:ext cx="30480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2400" b="1" dirty="0">
                <a:solidFill>
                  <a:srgbClr val="003399"/>
                </a:solidFill>
              </a:rPr>
              <a:t>Two elements </a:t>
            </a:r>
          </a:p>
          <a:p>
            <a:pPr algn="ctr"/>
            <a:r>
              <a:rPr lang="en-US" sz="2400" b="1" dirty="0">
                <a:solidFill>
                  <a:srgbClr val="003399"/>
                </a:solidFill>
              </a:rPr>
              <a:t>of frame</a:t>
            </a:r>
          </a:p>
        </p:txBody>
      </p:sp>
      <p:sp>
        <p:nvSpPr>
          <p:cNvPr id="98321" name="Rectangle 17"/>
          <p:cNvSpPr>
            <a:spLocks noChangeArrowheads="1"/>
          </p:cNvSpPr>
          <p:nvPr/>
        </p:nvSpPr>
        <p:spPr bwMode="auto">
          <a:xfrm>
            <a:off x="857224" y="2571744"/>
            <a:ext cx="3429000" cy="2800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1313" indent="-341313" algn="ctr"/>
            <a:r>
              <a:rPr lang="en-US" b="1" dirty="0">
                <a:solidFill>
                  <a:srgbClr val="FF0000"/>
                </a:solidFill>
              </a:rPr>
              <a:t>Slot</a:t>
            </a:r>
          </a:p>
          <a:p>
            <a:pPr marL="341313" indent="-341313"/>
            <a:endParaRPr lang="en-US" sz="2400" b="1" dirty="0">
              <a:solidFill>
                <a:srgbClr val="003399"/>
              </a:solidFill>
            </a:endParaRPr>
          </a:p>
          <a:p>
            <a:pPr marL="341313" indent="-341313">
              <a:buFont typeface="Wingdings" pitchFamily="2" charset="2"/>
              <a:buChar char="q"/>
            </a:pPr>
            <a:r>
              <a:rPr lang="en-US" sz="2400" b="0" dirty="0"/>
              <a:t>Is the characteristic that describe an object</a:t>
            </a:r>
          </a:p>
          <a:p>
            <a:pPr marL="341313" indent="-341313">
              <a:buFont typeface="Wingdings" pitchFamily="2" charset="2"/>
              <a:buChar char="q"/>
            </a:pPr>
            <a:r>
              <a:rPr lang="en-US" sz="2400" b="0" dirty="0"/>
              <a:t>Exp: color, food, no. of wings, …</a:t>
            </a:r>
          </a:p>
        </p:txBody>
      </p:sp>
      <p:sp>
        <p:nvSpPr>
          <p:cNvPr id="98322" name="Rectangle 18"/>
          <p:cNvSpPr>
            <a:spLocks noChangeArrowheads="1"/>
          </p:cNvSpPr>
          <p:nvPr/>
        </p:nvSpPr>
        <p:spPr bwMode="auto">
          <a:xfrm>
            <a:off x="5143504" y="2581343"/>
            <a:ext cx="3086096" cy="2062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1313" indent="-341313" algn="ctr"/>
            <a:r>
              <a:rPr lang="en-US" b="1" dirty="0">
                <a:solidFill>
                  <a:srgbClr val="FF0000"/>
                </a:solidFill>
              </a:rPr>
              <a:t>Facet</a:t>
            </a:r>
          </a:p>
          <a:p>
            <a:pPr marL="341313" indent="-341313"/>
            <a:endParaRPr lang="en-US" sz="2400" b="1" dirty="0">
              <a:solidFill>
                <a:srgbClr val="003399"/>
              </a:solidFill>
            </a:endParaRPr>
          </a:p>
          <a:p>
            <a:pPr marL="341313" indent="-341313">
              <a:buFont typeface="Wingdings" pitchFamily="2" charset="2"/>
              <a:buChar char="q"/>
            </a:pPr>
            <a:r>
              <a:rPr lang="en-US" sz="2400" b="0" dirty="0"/>
              <a:t>Value for slot</a:t>
            </a:r>
          </a:p>
          <a:p>
            <a:pPr marL="341313" indent="-341313">
              <a:buFont typeface="Wingdings" pitchFamily="2" charset="2"/>
              <a:buChar char="q"/>
            </a:pPr>
            <a:r>
              <a:rPr lang="en-US" sz="2400" b="0" dirty="0"/>
              <a:t>Exp: yellow, 1, worm,…</a:t>
            </a:r>
          </a:p>
        </p:txBody>
      </p:sp>
      <p:sp>
        <p:nvSpPr>
          <p:cNvPr id="98323" name="AutoShape 19"/>
          <p:cNvSpPr>
            <a:spLocks noChangeArrowheads="1"/>
          </p:cNvSpPr>
          <p:nvPr/>
        </p:nvSpPr>
        <p:spPr bwMode="auto">
          <a:xfrm rot="5400000">
            <a:off x="4038600" y="1471610"/>
            <a:ext cx="762000" cy="2438400"/>
          </a:xfrm>
          <a:prstGeom prst="rightArrow">
            <a:avLst>
              <a:gd name="adj1" fmla="val 50000"/>
              <a:gd name="adj2" fmla="val 25000"/>
            </a:avLst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464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/>
              <a:t>Example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Frame</a:t>
            </a:r>
            <a:endParaRPr lang="en-US" dirty="0"/>
          </a:p>
        </p:txBody>
      </p:sp>
      <p:sp>
        <p:nvSpPr>
          <p:cNvPr id="99344" name="Rectangle 16"/>
          <p:cNvSpPr>
            <a:spLocks noChangeArrowheads="1"/>
          </p:cNvSpPr>
          <p:nvPr/>
        </p:nvSpPr>
        <p:spPr bwMode="auto">
          <a:xfrm>
            <a:off x="2819400" y="2514600"/>
            <a:ext cx="2743200" cy="2590800"/>
          </a:xfrm>
          <a:prstGeom prst="rect">
            <a:avLst/>
          </a:prstGeom>
          <a:gradFill rotWithShape="1">
            <a:gsLst>
              <a:gs pos="0">
                <a:srgbClr val="FF9900"/>
              </a:gs>
              <a:gs pos="50000">
                <a:srgbClr val="FFFFFF"/>
              </a:gs>
              <a:gs pos="100000">
                <a:srgbClr val="FF9900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45" name="Text Box 17"/>
          <p:cNvSpPr txBox="1">
            <a:spLocks noChangeArrowheads="1"/>
          </p:cNvSpPr>
          <p:nvPr/>
        </p:nvSpPr>
        <p:spPr bwMode="auto">
          <a:xfrm>
            <a:off x="2971800" y="2743200"/>
            <a:ext cx="2438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Frame Name: </a:t>
            </a:r>
            <a:r>
              <a:rPr lang="en-US" sz="2000" b="1"/>
              <a:t>BIRD</a:t>
            </a:r>
            <a:r>
              <a:rPr lang="en-US" sz="2000"/>
              <a:t> </a:t>
            </a:r>
          </a:p>
        </p:txBody>
      </p:sp>
      <p:sp>
        <p:nvSpPr>
          <p:cNvPr id="99346" name="Text Box 18"/>
          <p:cNvSpPr txBox="1">
            <a:spLocks noChangeArrowheads="1"/>
          </p:cNvSpPr>
          <p:nvPr/>
        </p:nvSpPr>
        <p:spPr bwMode="auto">
          <a:xfrm>
            <a:off x="2947988" y="3200400"/>
            <a:ext cx="2438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/>
              <a:t>Properties: </a:t>
            </a:r>
          </a:p>
        </p:txBody>
      </p:sp>
      <p:sp>
        <p:nvSpPr>
          <p:cNvPr id="99347" name="Text Box 19"/>
          <p:cNvSpPr txBox="1">
            <a:spLocks noChangeArrowheads="1"/>
          </p:cNvSpPr>
          <p:nvPr/>
        </p:nvSpPr>
        <p:spPr bwMode="auto">
          <a:xfrm>
            <a:off x="2971800" y="3657600"/>
            <a:ext cx="27432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Color   = &lt;unknown&gt;</a:t>
            </a:r>
          </a:p>
          <a:p>
            <a:pPr>
              <a:spcBef>
                <a:spcPct val="50000"/>
              </a:spcBef>
            </a:pPr>
            <a:r>
              <a:rPr lang="en-US" sz="2000"/>
              <a:t>Wings = 2</a:t>
            </a:r>
          </a:p>
          <a:p>
            <a:pPr>
              <a:spcBef>
                <a:spcPct val="50000"/>
              </a:spcBef>
            </a:pPr>
            <a:r>
              <a:rPr lang="en-US" sz="2000"/>
              <a:t>Flies   = True</a:t>
            </a:r>
          </a:p>
        </p:txBody>
      </p:sp>
      <p:sp>
        <p:nvSpPr>
          <p:cNvPr id="99348" name="Line 20"/>
          <p:cNvSpPr>
            <a:spLocks noChangeShapeType="1"/>
          </p:cNvSpPr>
          <p:nvPr/>
        </p:nvSpPr>
        <p:spPr bwMode="auto">
          <a:xfrm>
            <a:off x="2819400" y="3200400"/>
            <a:ext cx="2743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9349" name="Rectangle 21"/>
          <p:cNvSpPr>
            <a:spLocks noChangeArrowheads="1"/>
          </p:cNvSpPr>
          <p:nvPr/>
        </p:nvSpPr>
        <p:spPr bwMode="auto">
          <a:xfrm>
            <a:off x="2965450" y="5562600"/>
            <a:ext cx="615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3399"/>
                </a:solidFill>
              </a:rPr>
              <a:t>Slot</a:t>
            </a:r>
          </a:p>
        </p:txBody>
      </p:sp>
      <p:sp>
        <p:nvSpPr>
          <p:cNvPr id="99350" name="Rectangle 22"/>
          <p:cNvSpPr>
            <a:spLocks noChangeArrowheads="1"/>
          </p:cNvSpPr>
          <p:nvPr/>
        </p:nvSpPr>
        <p:spPr bwMode="auto">
          <a:xfrm>
            <a:off x="3886200" y="5562600"/>
            <a:ext cx="781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3399"/>
                </a:solidFill>
              </a:rPr>
              <a:t>Facet</a:t>
            </a:r>
          </a:p>
        </p:txBody>
      </p:sp>
      <p:sp>
        <p:nvSpPr>
          <p:cNvPr id="99351" name="Line 23"/>
          <p:cNvSpPr>
            <a:spLocks noChangeShapeType="1"/>
          </p:cNvSpPr>
          <p:nvPr/>
        </p:nvSpPr>
        <p:spPr bwMode="auto">
          <a:xfrm flipV="1">
            <a:off x="3276600" y="4953000"/>
            <a:ext cx="0" cy="609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9352" name="Line 24"/>
          <p:cNvSpPr>
            <a:spLocks noChangeShapeType="1"/>
          </p:cNvSpPr>
          <p:nvPr/>
        </p:nvSpPr>
        <p:spPr bwMode="auto">
          <a:xfrm flipV="1">
            <a:off x="4267200" y="4953000"/>
            <a:ext cx="0" cy="609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610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>
          <a:xfrm>
            <a:off x="357158" y="1500174"/>
            <a:ext cx="8229600" cy="4625975"/>
          </a:xfrm>
        </p:spPr>
        <p:txBody>
          <a:bodyPr/>
          <a:lstStyle/>
          <a:p>
            <a:pPr algn="just"/>
            <a:r>
              <a:rPr lang="en-US" dirty="0">
                <a:solidFill>
                  <a:schemeClr val="accent2"/>
                </a:solidFill>
              </a:rPr>
              <a:t>Rule</a:t>
            </a:r>
          </a:p>
          <a:p>
            <a:pPr lvl="1" algn="just"/>
            <a:r>
              <a:rPr lang="en-US" b="1" dirty="0">
                <a:solidFill>
                  <a:schemeClr val="tx2"/>
                </a:solidFill>
              </a:rPr>
              <a:t>Definition :: </a:t>
            </a:r>
            <a:r>
              <a:rPr lang="en-US" dirty="0">
                <a:solidFill>
                  <a:schemeClr val="tx2"/>
                </a:solidFill>
              </a:rPr>
              <a:t>Rules </a:t>
            </a:r>
            <a:r>
              <a:rPr lang="en-US" dirty="0">
                <a:solidFill>
                  <a:schemeClr val="tx2"/>
                </a:solidFill>
                <a:sym typeface="Wingdings" pitchFamily="2" charset="2"/>
              </a:rPr>
              <a:t>”</a:t>
            </a:r>
            <a:r>
              <a:rPr lang="en-US" i="1" dirty="0">
                <a:solidFill>
                  <a:schemeClr val="tx2"/>
                </a:solidFill>
                <a:sym typeface="Wingdings" pitchFamily="2" charset="2"/>
              </a:rPr>
              <a:t>a knowledge structure that relates some known information to other information and that can be concluded or inferred to be known”</a:t>
            </a:r>
            <a:endParaRPr lang="en-US" dirty="0">
              <a:solidFill>
                <a:schemeClr val="tx2"/>
              </a:solidFill>
              <a:sym typeface="Wingdings" pitchFamily="2" charset="2"/>
            </a:endParaRPr>
          </a:p>
          <a:p>
            <a:pPr algn="just">
              <a:buFontTx/>
              <a:buNone/>
            </a:pP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Rules</a:t>
            </a:r>
            <a:endParaRPr lang="en-US" dirty="0"/>
          </a:p>
        </p:txBody>
      </p:sp>
      <p:pic>
        <p:nvPicPr>
          <p:cNvPr id="100357" name="Picture 5" descr="slinky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3657600"/>
            <a:ext cx="2743200" cy="2743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34998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>
                <a:solidFill>
                  <a:schemeClr val="tx2"/>
                </a:solidFill>
                <a:sym typeface="Wingdings" pitchFamily="2" charset="2"/>
              </a:rPr>
              <a:t>Is a form of procedural knowledge  associates given information to some action.</a:t>
            </a:r>
          </a:p>
          <a:p>
            <a:pPr algn="just"/>
            <a:r>
              <a:rPr lang="en-US" b="1">
                <a:solidFill>
                  <a:schemeClr val="tx2"/>
                </a:solidFill>
                <a:sym typeface="Wingdings" pitchFamily="2" charset="2"/>
              </a:rPr>
              <a:t>Structure</a:t>
            </a:r>
            <a:r>
              <a:rPr lang="en-US">
                <a:solidFill>
                  <a:schemeClr val="tx2"/>
                </a:solidFill>
                <a:sym typeface="Wingdings" pitchFamily="2" charset="2"/>
              </a:rPr>
              <a:t>  connects antecedents (premises) and consequents (conclusions).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solidFill>
                  <a:schemeClr val="tx2"/>
                </a:solidFill>
                <a:sym typeface="Wingdings" pitchFamily="2" charset="2"/>
              </a:rPr>
              <a:t>Statement “IF”  antecedent and “THEN”  consequent</a:t>
            </a:r>
          </a:p>
          <a:p>
            <a:pPr algn="just">
              <a:buFontTx/>
              <a:buNone/>
            </a:pPr>
            <a:endParaRPr lang="en-US" dirty="0">
              <a:solidFill>
                <a:schemeClr val="tx2"/>
              </a:solidFill>
              <a:sym typeface="Wingdings" pitchFamily="2" charset="2"/>
            </a:endParaRPr>
          </a:p>
          <a:p>
            <a:pPr algn="ctr">
              <a:buFontTx/>
              <a:buNone/>
            </a:pPr>
            <a:r>
              <a:rPr lang="en-US" dirty="0">
                <a:solidFill>
                  <a:schemeClr val="tx2"/>
                </a:solidFill>
                <a:sym typeface="Wingdings" pitchFamily="2" charset="2"/>
              </a:rPr>
              <a:t>IF &lt;antecedent&gt; THEN &lt;consequent&gt;</a:t>
            </a:r>
          </a:p>
          <a:p>
            <a:pPr algn="ctr">
              <a:buFontTx/>
              <a:buNone/>
            </a:pPr>
            <a:endParaRPr lang="en-US" dirty="0">
              <a:solidFill>
                <a:schemeClr val="tx2"/>
              </a:solidFill>
              <a:sym typeface="Wingdings" pitchFamily="2" charset="2"/>
            </a:endParaRPr>
          </a:p>
          <a:p>
            <a:pPr algn="ctr">
              <a:buFontTx/>
              <a:buNone/>
            </a:pPr>
            <a:endParaRPr lang="en-US" dirty="0" smtClean="0">
              <a:solidFill>
                <a:schemeClr val="tx2"/>
              </a:solidFill>
              <a:sym typeface="Wingdings" pitchFamily="2" charset="2"/>
            </a:endParaRPr>
          </a:p>
          <a:p>
            <a:pPr algn="ctr">
              <a:buFontTx/>
              <a:buNone/>
            </a:pPr>
            <a:r>
              <a:rPr lang="en-US" dirty="0" smtClean="0">
                <a:solidFill>
                  <a:schemeClr val="tx2"/>
                </a:solidFill>
                <a:sym typeface="Wingdings" pitchFamily="2" charset="2"/>
              </a:rPr>
              <a:t>IF 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thirsty </a:t>
            </a:r>
            <a:r>
              <a:rPr lang="en-US" dirty="0">
                <a:solidFill>
                  <a:schemeClr val="tx2"/>
                </a:solidFill>
                <a:sym typeface="Wingdings" pitchFamily="2" charset="2"/>
              </a:rPr>
              <a:t>THEN </a:t>
            </a:r>
            <a:r>
              <a:rPr lang="en-US" dirty="0" err="1">
                <a:solidFill>
                  <a:srgbClr val="FF0000"/>
                </a:solidFill>
                <a:sym typeface="Wingdings" pitchFamily="2" charset="2"/>
              </a:rPr>
              <a:t>drink_a_water</a:t>
            </a:r>
            <a:endParaRPr lang="en-US" dirty="0">
              <a:solidFill>
                <a:srgbClr val="FF0000"/>
              </a:solidFill>
              <a:sym typeface="Wingdings" pitchFamily="2" charset="2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Rules</a:t>
            </a:r>
            <a:endParaRPr lang="en-US" dirty="0"/>
          </a:p>
        </p:txBody>
      </p:sp>
      <p:sp>
        <p:nvSpPr>
          <p:cNvPr id="103428" name="AutoShape 4"/>
          <p:cNvSpPr>
            <a:spLocks noChangeArrowheads="1"/>
          </p:cNvSpPr>
          <p:nvPr/>
        </p:nvSpPr>
        <p:spPr bwMode="auto">
          <a:xfrm>
            <a:off x="2590800" y="3286124"/>
            <a:ext cx="609600" cy="762000"/>
          </a:xfrm>
          <a:prstGeom prst="downArrow">
            <a:avLst>
              <a:gd name="adj1" fmla="val 50000"/>
              <a:gd name="adj2" fmla="val 31250"/>
            </a:avLst>
          </a:prstGeom>
          <a:gradFill rotWithShape="1">
            <a:gsLst>
              <a:gs pos="0">
                <a:schemeClr val="bg1"/>
              </a:gs>
              <a:gs pos="100000">
                <a:srgbClr val="800080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429" name="AutoShape 5"/>
          <p:cNvSpPr>
            <a:spLocks noChangeArrowheads="1"/>
          </p:cNvSpPr>
          <p:nvPr/>
        </p:nvSpPr>
        <p:spPr bwMode="auto">
          <a:xfrm>
            <a:off x="5867400" y="3357562"/>
            <a:ext cx="609600" cy="762000"/>
          </a:xfrm>
          <a:prstGeom prst="downArrow">
            <a:avLst>
              <a:gd name="adj1" fmla="val 50000"/>
              <a:gd name="adj2" fmla="val 31250"/>
            </a:avLst>
          </a:prstGeom>
          <a:gradFill rotWithShape="1">
            <a:gsLst>
              <a:gs pos="0">
                <a:schemeClr val="bg1"/>
              </a:gs>
              <a:gs pos="100000">
                <a:srgbClr val="800080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401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3" name="Rectangle 3"/>
          <p:cNvSpPr>
            <a:spLocks noGrp="1" noChangeArrowheads="1"/>
          </p:cNvSpPr>
          <p:nvPr>
            <p:ph idx="1"/>
          </p:nvPr>
        </p:nvSpPr>
        <p:spPr>
          <a:xfrm>
            <a:off x="428596" y="1571612"/>
            <a:ext cx="8229600" cy="4625975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sz="2400" dirty="0">
                <a:solidFill>
                  <a:schemeClr val="tx2"/>
                </a:solidFill>
                <a:sym typeface="Wingdings" pitchFamily="2" charset="2"/>
              </a:rPr>
              <a:t>Example:</a:t>
            </a:r>
          </a:p>
          <a:p>
            <a:pPr lvl="1">
              <a:lnSpc>
                <a:spcPct val="90000"/>
              </a:lnSpc>
            </a:pPr>
            <a:r>
              <a:rPr lang="en-US" sz="2000" b="1" dirty="0">
                <a:solidFill>
                  <a:schemeClr val="tx2"/>
                </a:solidFill>
              </a:rPr>
              <a:t>Diagnosing strep throat (knowledge base)</a:t>
            </a:r>
          </a:p>
          <a:p>
            <a:pPr lvl="1">
              <a:lnSpc>
                <a:spcPct val="90000"/>
              </a:lnSpc>
            </a:pPr>
            <a:endParaRPr lang="en-US" sz="2000" b="1" dirty="0">
              <a:solidFill>
                <a:schemeClr val="tx2"/>
              </a:solidFill>
            </a:endParaRP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sz="2000" b="1" dirty="0">
                <a:solidFill>
                  <a:srgbClr val="800000"/>
                </a:solidFill>
              </a:rPr>
              <a:t>Rule 1:</a:t>
            </a:r>
            <a:r>
              <a:rPr lang="en-US" sz="2000" dirty="0">
                <a:solidFill>
                  <a:schemeClr val="tx2"/>
                </a:solidFill>
              </a:rPr>
              <a:t/>
            </a:r>
            <a:br>
              <a:rPr lang="en-US" sz="2000" dirty="0">
                <a:solidFill>
                  <a:schemeClr val="tx2"/>
                </a:solidFill>
              </a:rPr>
            </a:br>
            <a:r>
              <a:rPr lang="en-US" sz="2000" dirty="0">
                <a:solidFill>
                  <a:schemeClr val="tx2"/>
                </a:solidFill>
              </a:rPr>
              <a:t>	 IF       x has a sore throat </a:t>
            </a:r>
            <a:br>
              <a:rPr lang="en-US" sz="2000" dirty="0">
                <a:solidFill>
                  <a:schemeClr val="tx2"/>
                </a:solidFill>
              </a:rPr>
            </a:br>
            <a:r>
              <a:rPr lang="en-US" sz="2000" dirty="0">
                <a:solidFill>
                  <a:schemeClr val="tx2"/>
                </a:solidFill>
              </a:rPr>
              <a:t>	AND   suspect bacterial infection</a:t>
            </a:r>
            <a:br>
              <a:rPr lang="en-US" sz="2000" dirty="0">
                <a:solidFill>
                  <a:schemeClr val="tx2"/>
                </a:solidFill>
              </a:rPr>
            </a:br>
            <a:r>
              <a:rPr lang="en-US" sz="2000" dirty="0">
                <a:solidFill>
                  <a:schemeClr val="tx2"/>
                </a:solidFill>
              </a:rPr>
              <a:t>	THEN patient has strep throat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sz="2000" b="1" dirty="0">
                <a:solidFill>
                  <a:srgbClr val="800000"/>
                </a:solidFill>
              </a:rPr>
              <a:t>Rule 2:</a:t>
            </a:r>
            <a:br>
              <a:rPr lang="en-US" sz="2000" b="1" dirty="0">
                <a:solidFill>
                  <a:srgbClr val="800000"/>
                </a:solidFill>
              </a:rPr>
            </a:br>
            <a:r>
              <a:rPr lang="en-US" sz="2000" dirty="0">
                <a:solidFill>
                  <a:schemeClr val="tx2"/>
                </a:solidFill>
              </a:rPr>
              <a:t>	IF        x temperature is &gt; 37 c</a:t>
            </a:r>
            <a:br>
              <a:rPr lang="en-US" sz="2000" dirty="0">
                <a:solidFill>
                  <a:schemeClr val="tx2"/>
                </a:solidFill>
              </a:rPr>
            </a:br>
            <a:r>
              <a:rPr lang="en-US" sz="2000" dirty="0">
                <a:solidFill>
                  <a:schemeClr val="tx2"/>
                </a:solidFill>
              </a:rPr>
              <a:t>	THEN  x has a fever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sz="2000" b="1" dirty="0">
                <a:solidFill>
                  <a:srgbClr val="800000"/>
                </a:solidFill>
              </a:rPr>
              <a:t>Rule 3:</a:t>
            </a:r>
            <a:br>
              <a:rPr lang="en-US" sz="2000" b="1" dirty="0">
                <a:solidFill>
                  <a:srgbClr val="800000"/>
                </a:solidFill>
              </a:rPr>
            </a:br>
            <a:r>
              <a:rPr lang="en-US" sz="2000" dirty="0">
                <a:solidFill>
                  <a:schemeClr val="tx2"/>
                </a:solidFill>
              </a:rPr>
              <a:t>	IF       x has been sick &gt; a month</a:t>
            </a:r>
            <a:br>
              <a:rPr lang="en-US" sz="2000" dirty="0">
                <a:solidFill>
                  <a:schemeClr val="tx2"/>
                </a:solidFill>
              </a:rPr>
            </a:br>
            <a:r>
              <a:rPr lang="en-US" sz="2000" dirty="0">
                <a:solidFill>
                  <a:schemeClr val="tx2"/>
                </a:solidFill>
              </a:rPr>
              <a:t>	AND   x has a fever</a:t>
            </a:r>
            <a:br>
              <a:rPr lang="en-US" sz="2000" dirty="0">
                <a:solidFill>
                  <a:schemeClr val="tx2"/>
                </a:solidFill>
              </a:rPr>
            </a:br>
            <a:r>
              <a:rPr lang="en-US" sz="2000" dirty="0">
                <a:solidFill>
                  <a:schemeClr val="tx2"/>
                </a:solidFill>
              </a:rPr>
              <a:t>	THEN suspect bacterial infection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242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3467</TotalTime>
  <Words>3731</Words>
  <Application>Microsoft Office PowerPoint</Application>
  <PresentationFormat>On-screen Show (4:3)</PresentationFormat>
  <Paragraphs>824</Paragraphs>
  <Slides>96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96</vt:i4>
      </vt:variant>
    </vt:vector>
  </HeadingPairs>
  <TitlesOfParts>
    <vt:vector size="97" baseType="lpstr">
      <vt:lpstr>Office Theme</vt:lpstr>
      <vt:lpstr>Knowledge Representation</vt:lpstr>
      <vt:lpstr>What is Knowledge?</vt:lpstr>
      <vt:lpstr>Types of knowledge</vt:lpstr>
      <vt:lpstr> Declarative Knowledge:</vt:lpstr>
      <vt:lpstr> Procedural Knowledge</vt:lpstr>
      <vt:lpstr>Heuristic knowledge</vt:lpstr>
      <vt:lpstr>Structural knowledge</vt:lpstr>
      <vt:lpstr>Meta-knowledge:</vt:lpstr>
      <vt:lpstr>Knowledge Representation</vt:lpstr>
      <vt:lpstr>Techniques of knowledge representation</vt:lpstr>
      <vt:lpstr>Logical Representation</vt:lpstr>
      <vt:lpstr>Logical Representation</vt:lpstr>
      <vt:lpstr>Logical Representation</vt:lpstr>
      <vt:lpstr>Propositional logic</vt:lpstr>
      <vt:lpstr>Propositional logic</vt:lpstr>
      <vt:lpstr>Propositional logic</vt:lpstr>
      <vt:lpstr>Propositional logic</vt:lpstr>
      <vt:lpstr>Propositional logic</vt:lpstr>
      <vt:lpstr>Propositional logic</vt:lpstr>
      <vt:lpstr>Propositional logic</vt:lpstr>
      <vt:lpstr>Propositional logic</vt:lpstr>
      <vt:lpstr>Predicate Calculus</vt:lpstr>
      <vt:lpstr>Predicate Calculus</vt:lpstr>
      <vt:lpstr>Predicate Calculus</vt:lpstr>
      <vt:lpstr>Predicate Calculus</vt:lpstr>
      <vt:lpstr>Predicate Calculus</vt:lpstr>
      <vt:lpstr>Quantifier ‘’ and ‘’</vt:lpstr>
      <vt:lpstr>Quantifier ‘’ and ‘’</vt:lpstr>
      <vt:lpstr>Some examples</vt:lpstr>
      <vt:lpstr>Some examples</vt:lpstr>
      <vt:lpstr>Nesting Quantifiers</vt:lpstr>
      <vt:lpstr>Nesting Quantifiers</vt:lpstr>
      <vt:lpstr>PowerPoint Presentation</vt:lpstr>
      <vt:lpstr>PowerPoint Presentation</vt:lpstr>
      <vt:lpstr>Definition</vt:lpstr>
      <vt:lpstr>Definition</vt:lpstr>
      <vt:lpstr>Definition</vt:lpstr>
      <vt:lpstr>Reasoning Types</vt:lpstr>
      <vt:lpstr>Reasoning Types</vt:lpstr>
      <vt:lpstr>Reasoning Types</vt:lpstr>
      <vt:lpstr>Reasoning Types</vt:lpstr>
      <vt:lpstr>Reasoning Types</vt:lpstr>
      <vt:lpstr>Reasoning Types</vt:lpstr>
      <vt:lpstr>Important Concepts in Reasoning &amp; Inference</vt:lpstr>
      <vt:lpstr>Important Concepts in Reasoning &amp; Inference</vt:lpstr>
      <vt:lpstr>Concept 1: Pattern Matching</vt:lpstr>
      <vt:lpstr>Concept 1: Pattern Matching</vt:lpstr>
      <vt:lpstr>Concept 2: Instantiation</vt:lpstr>
      <vt:lpstr>Concept 2: Instantiation</vt:lpstr>
      <vt:lpstr>Concept 3: Unification</vt:lpstr>
      <vt:lpstr>Concept 3: Unification</vt:lpstr>
      <vt:lpstr>Entailment</vt:lpstr>
      <vt:lpstr>Logical inference problem</vt:lpstr>
      <vt:lpstr>Solving logical inference problem</vt:lpstr>
      <vt:lpstr>Truth-table approach</vt:lpstr>
      <vt:lpstr>PowerPoint Presentation</vt:lpstr>
      <vt:lpstr>PowerPoint Presentation</vt:lpstr>
      <vt:lpstr>Example</vt:lpstr>
      <vt:lpstr>Inference Technique</vt:lpstr>
      <vt:lpstr>Technique 1: Modus Ponens</vt:lpstr>
      <vt:lpstr>Modus Ponens</vt:lpstr>
      <vt:lpstr>Modus Ponens</vt:lpstr>
      <vt:lpstr>Technique 2: Modus Tollens</vt:lpstr>
      <vt:lpstr>Technique 3: Hypothetical Syllogism</vt:lpstr>
      <vt:lpstr>Hypothetical Syllogism</vt:lpstr>
      <vt:lpstr>Technique 4: Resolution</vt:lpstr>
      <vt:lpstr>Resolution</vt:lpstr>
      <vt:lpstr>Resolution</vt:lpstr>
      <vt:lpstr>Normal forms</vt:lpstr>
      <vt:lpstr>Conversion to a CNF</vt:lpstr>
      <vt:lpstr>Resolution</vt:lpstr>
      <vt:lpstr>Resolution</vt:lpstr>
      <vt:lpstr>Resolution</vt:lpstr>
      <vt:lpstr>Resolution with PL example</vt:lpstr>
      <vt:lpstr>Resolution Process</vt:lpstr>
      <vt:lpstr>Resolution Process </vt:lpstr>
      <vt:lpstr>Resolution Process</vt:lpstr>
      <vt:lpstr>Resolution Process</vt:lpstr>
      <vt:lpstr>Resolution Process</vt:lpstr>
      <vt:lpstr>Resolution with FOPL example</vt:lpstr>
      <vt:lpstr>Resolution with FOPL example</vt:lpstr>
      <vt:lpstr>Resolution with FOPL example</vt:lpstr>
      <vt:lpstr>Resolution with FOPL example</vt:lpstr>
      <vt:lpstr>Semantic Network</vt:lpstr>
      <vt:lpstr>Semantic Network</vt:lpstr>
      <vt:lpstr>Semantic Network</vt:lpstr>
      <vt:lpstr>Semantic Network</vt:lpstr>
      <vt:lpstr>Frame</vt:lpstr>
      <vt:lpstr>Frame</vt:lpstr>
      <vt:lpstr>Frame</vt:lpstr>
      <vt:lpstr>Frame</vt:lpstr>
      <vt:lpstr>Frame</vt:lpstr>
      <vt:lpstr>Rules</vt:lpstr>
      <vt:lpstr>Rules</vt:lpstr>
      <vt:lpstr>Rules</vt:lpstr>
      <vt:lpstr>Rules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24</cp:revision>
  <dcterms:created xsi:type="dcterms:W3CDTF">2021-02-15T10:50:07Z</dcterms:created>
  <dcterms:modified xsi:type="dcterms:W3CDTF">2021-02-20T07:59:29Z</dcterms:modified>
</cp:coreProperties>
</file>